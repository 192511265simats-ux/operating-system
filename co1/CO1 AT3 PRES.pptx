
<file path=[Content_Types].xml><?xml version="1.0" encoding="utf-8"?>
<Types xmlns="http://schemas.openxmlformats.org/package/2006/content-types">
  <Default Extension="png" ContentType="image/png"/>
  <Default Extension="rels" ContentType="application/vnd.openxmlformats-package.relationships+xml"/>
  <Default Extension="xlsx" ContentType="application/vnd.openxmlformats-officedocument.spreadsheetml.sheet"/>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charts/chart1.xml" ContentType="application/vnd.openxmlformats-officedocument.drawingml.chart+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17"/>
  </p:notesMasterIdLst>
  <p:sldIdLst>
    <p:sldId id="256" r:id="rId2"/>
    <p:sldId id="258" r:id="rId3"/>
    <p:sldId id="257" r:id="rId4"/>
    <p:sldId id="259" r:id="rId5"/>
    <p:sldId id="260" r:id="rId6"/>
    <p:sldId id="261" r:id="rId7"/>
    <p:sldId id="262" r:id="rId8"/>
    <p:sldId id="263" r:id="rId9"/>
    <p:sldId id="264" r:id="rId10"/>
    <p:sldId id="265" r:id="rId11"/>
    <p:sldId id="266" r:id="rId12"/>
    <p:sldId id="267" r:id="rId13"/>
    <p:sldId id="268" r:id="rId14"/>
    <p:sldId id="269" r:id="rId15"/>
    <p:sldId id="270" r:id="rId16"/>
  </p:sldIdLst>
  <p:sldSz cx="9144000" cy="5143500" type="screen16x9"/>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Introduction" id="{E0526FA2-8F5B-BC27-C745-5543F2DB5EE4}">
          <p14:sldIdLst>
            <p14:sldId id="256"/>
            <p14:sldId id="258"/>
            <p14:sldId id="257"/>
            <p14:sldId id="259"/>
            <p14:sldId id="260"/>
          </p14:sldIdLst>
        </p14:section>
        <p14:section name="OS Type and Structure" id="{A00A6594-E547-C8B4-AC98-B541D3C62AB0}">
          <p14:sldIdLst>
            <p14:sldId id="261"/>
            <p14:sldId id="262"/>
            <p14:sldId id="263"/>
            <p14:sldId id="264"/>
            <p14:sldId id="265"/>
          </p14:sldIdLst>
        </p14:section>
        <p14:section name="System Calls" id="{7E1B9DF4-0268-7394-AAD4-394C9714D02B}">
          <p14:sldIdLst>
            <p14:sldId id="266"/>
            <p14:sldId id="267"/>
            <p14:sldId id="268"/>
          </p14:sldIdLst>
        </p14:section>
        <p14:section name="Wrap-up" id="{C72FA564-F344-DFBB-9F42-FD42EC54CA9D}">
          <p14:sldIdLst>
            <p14:sldId id="269"/>
            <p14:sldId id="270"/>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72D5E891-6D33-448D-867B-AE454CFAA48F}" v="1" dt="2026-10-24T04:50:21.213"/>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5611"/>
    <p:restoredTop sz="94610"/>
  </p:normalViewPr>
  <p:slideViewPr>
    <p:cSldViewPr snapToGrid="0" snapToObjects="1">
      <p:cViewPr varScale="1">
        <p:scale>
          <a:sx n="146" d="100"/>
          <a:sy n="146" d="100"/>
        </p:scale>
        <p:origin x="594" y="114"/>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presProps" Target="presProps.xml"/><Relationship Id="rId3" Type="http://schemas.openxmlformats.org/officeDocument/2006/relationships/slide" Target="slides/slide2.xml"/><Relationship Id="rId21" Type="http://schemas.openxmlformats.org/officeDocument/2006/relationships/tableStyles" Target="tableStyle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notesMaster" Target="notesMasters/notesMaster1.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23" Type="http://schemas.microsoft.com/office/2015/10/relationships/revisionInfo" Target="revisionInfo.xml"/><Relationship Id="rId10" Type="http://schemas.openxmlformats.org/officeDocument/2006/relationships/slide" Target="slides/slide9.xml"/><Relationship Id="rId19" Type="http://schemas.openxmlformats.org/officeDocument/2006/relationships/viewProps" Target="view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microsoft.com/office/2016/11/relationships/changesInfo" Target="changesInfos/changesInfo1.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Yuvan Shankar" userId="2f5483daef6f8c14" providerId="LiveId" clId="{E24D428A-B031-4DE0-8302-322B03850FD5}"/>
    <pc:docChg chg="undo custSel modSld">
      <pc:chgData name="Yuvan Shankar" userId="2f5483daef6f8c14" providerId="LiveId" clId="{E24D428A-B031-4DE0-8302-322B03850FD5}" dt="2026-10-24T04:50:22.566" v="12"/>
      <pc:docMkLst>
        <pc:docMk/>
      </pc:docMkLst>
      <pc:sldChg chg="modSp mod">
        <pc:chgData name="Yuvan Shankar" userId="2f5483daef6f8c14" providerId="LiveId" clId="{E24D428A-B031-4DE0-8302-322B03850FD5}" dt="2026-10-24T03:58:39.007" v="9" actId="1076"/>
        <pc:sldMkLst>
          <pc:docMk/>
          <pc:sldMk cId="0" sldId="256"/>
        </pc:sldMkLst>
        <pc:spChg chg="mod">
          <ac:chgData name="Yuvan Shankar" userId="2f5483daef6f8c14" providerId="LiveId" clId="{E24D428A-B031-4DE0-8302-322B03850FD5}" dt="2026-10-24T03:58:39.007" v="9" actId="1076"/>
          <ac:spMkLst>
            <pc:docMk/>
            <pc:sldMk cId="0" sldId="256"/>
            <ac:spMk id="6" creationId="{00000000-0000-0000-0000-000000000000}"/>
          </ac:spMkLst>
        </pc:spChg>
      </pc:sldChg>
      <pc:sldChg chg="addSp delSp modSp mod">
        <pc:chgData name="Yuvan Shankar" userId="2f5483daef6f8c14" providerId="LiveId" clId="{E24D428A-B031-4DE0-8302-322B03850FD5}" dt="2026-10-24T04:50:22.566" v="12"/>
        <pc:sldMkLst>
          <pc:docMk/>
          <pc:sldMk cId="0" sldId="259"/>
        </pc:sldMkLst>
        <pc:spChg chg="add del mod">
          <ac:chgData name="Yuvan Shankar" userId="2f5483daef6f8c14" providerId="LiveId" clId="{E24D428A-B031-4DE0-8302-322B03850FD5}" dt="2026-10-24T04:50:22.566" v="12"/>
          <ac:spMkLst>
            <pc:docMk/>
            <pc:sldMk cId="0" sldId="259"/>
            <ac:spMk id="17" creationId="{EADED8B9-7A63-EC9A-BE17-E2C2E1D56E49}"/>
          </ac:spMkLst>
        </pc:spChg>
      </pc:sldChg>
    </pc:docChg>
  </pc:docChgLst>
</pc:chgInfo>
</file>

<file path=ppt/charts/_rels/chart1.xml.rels><?xml version="1.0" encoding="UTF-8" standalone="yes"?>
<Relationships xmlns="http://schemas.openxmlformats.org/package/2006/relationships"><Relationship Id="rId1" Type="http://schemas.openxmlformats.org/officeDocument/2006/relationships/package" Target="../embeddings/Microsoft_Excel_Worksheet.xlsx"/></Relationships>
</file>

<file path=ppt/charts/chart1.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1"/>
  <c:style val="2"/>
  <c:chart>
    <c:autoTitleDeleted val="1"/>
    <c:plotArea>
      <c:layout/>
      <c:barChart>
        <c:barDir val="col"/>
        <c:grouping val="clustered"/>
        <c:varyColors val="0"/>
        <c:ser>
          <c:idx val="0"/>
          <c:order val="0"/>
          <c:tx>
            <c:strRef>
              <c:f>Sheet1!$B$1</c:f>
              <c:strCache>
                <c:ptCount val="1"/>
                <c:pt idx="0">
                  <c:v>Performance</c:v>
                </c:pt>
              </c:strCache>
            </c:strRef>
          </c:tx>
          <c:spPr>
            <a:solidFill>
              <a:srgbClr val="F2B134"/>
            </a:solidFill>
            <a:effectLst/>
          </c:spPr>
          <c:invertIfNegative val="0"/>
          <c:dLbls>
            <c:numFmt formatCode="#,##0" sourceLinked="0"/>
            <c:spPr>
              <a:noFill/>
              <a:ln>
                <a:noFill/>
              </a:ln>
              <a:effectLst/>
            </c:spPr>
            <c:txPr>
              <a:bodyPr/>
              <a:lstStyle/>
              <a:p>
                <a:pPr>
                  <a:defRPr sz="1000" b="0" i="0" u="none" strike="noStrike">
                    <a:solidFill>
                      <a:srgbClr val="10282C"/>
                    </a:solidFill>
                    <a:latin typeface="+mn-lt"/>
                  </a:defRPr>
                </a:pPr>
                <a:endParaRPr lang="en-US"/>
              </a:p>
            </c:txPr>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Sheet1!$A$2:$A$5</c:f>
              <c:strCache>
                <c:ptCount val="4"/>
                <c:pt idx="0">
                  <c:v>Monolithic</c:v>
                </c:pt>
                <c:pt idx="1">
                  <c:v>Layered</c:v>
                </c:pt>
                <c:pt idx="2">
                  <c:v>Microkernel</c:v>
                </c:pt>
                <c:pt idx="3">
                  <c:v>Hybrid</c:v>
                </c:pt>
              </c:strCache>
            </c:strRef>
          </c:cat>
          <c:val>
            <c:numRef>
              <c:f>Sheet1!$B$2:$B$5</c:f>
              <c:numCache>
                <c:formatCode>General</c:formatCode>
                <c:ptCount val="4"/>
                <c:pt idx="0">
                  <c:v>5</c:v>
                </c:pt>
                <c:pt idx="1">
                  <c:v>3</c:v>
                </c:pt>
                <c:pt idx="2">
                  <c:v>3</c:v>
                </c:pt>
                <c:pt idx="3">
                  <c:v>4</c:v>
                </c:pt>
              </c:numCache>
            </c:numRef>
          </c:val>
          <c:extLst>
            <c:ext xmlns:c16="http://schemas.microsoft.com/office/drawing/2014/chart" uri="{C3380CC4-5D6E-409C-BE32-E72D297353CC}">
              <c16:uniqueId val="{00000000-B3A0-40B5-BC19-A7D47288FA13}"/>
            </c:ext>
          </c:extLst>
        </c:ser>
        <c:ser>
          <c:idx val="1"/>
          <c:order val="1"/>
          <c:tx>
            <c:strRef>
              <c:f>Sheet1!$C$1</c:f>
              <c:strCache>
                <c:ptCount val="1"/>
                <c:pt idx="0">
                  <c:v>Security</c:v>
                </c:pt>
              </c:strCache>
            </c:strRef>
          </c:tx>
          <c:spPr>
            <a:solidFill>
              <a:srgbClr val="0F3D3E"/>
            </a:solidFill>
            <a:effectLst/>
          </c:spPr>
          <c:invertIfNegative val="0"/>
          <c:dLbls>
            <c:numFmt formatCode="#,##0" sourceLinked="0"/>
            <c:spPr>
              <a:noFill/>
              <a:ln>
                <a:noFill/>
              </a:ln>
              <a:effectLst/>
            </c:spPr>
            <c:txPr>
              <a:bodyPr/>
              <a:lstStyle/>
              <a:p>
                <a:pPr>
                  <a:defRPr sz="1000" b="0" i="0" u="none" strike="noStrike">
                    <a:solidFill>
                      <a:srgbClr val="10282C"/>
                    </a:solidFill>
                    <a:latin typeface="+mn-lt"/>
                  </a:defRPr>
                </a:pPr>
                <a:endParaRPr lang="en-US"/>
              </a:p>
            </c:txPr>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Sheet1!$A$2:$A$5</c:f>
              <c:strCache>
                <c:ptCount val="4"/>
                <c:pt idx="0">
                  <c:v>Monolithic</c:v>
                </c:pt>
                <c:pt idx="1">
                  <c:v>Layered</c:v>
                </c:pt>
                <c:pt idx="2">
                  <c:v>Microkernel</c:v>
                </c:pt>
                <c:pt idx="3">
                  <c:v>Hybrid</c:v>
                </c:pt>
              </c:strCache>
            </c:strRef>
          </c:cat>
          <c:val>
            <c:numRef>
              <c:f>Sheet1!$C$2:$C$5</c:f>
              <c:numCache>
                <c:formatCode>General</c:formatCode>
                <c:ptCount val="4"/>
                <c:pt idx="0">
                  <c:v>2</c:v>
                </c:pt>
                <c:pt idx="1">
                  <c:v>4</c:v>
                </c:pt>
                <c:pt idx="2">
                  <c:v>5</c:v>
                </c:pt>
                <c:pt idx="3">
                  <c:v>4</c:v>
                </c:pt>
              </c:numCache>
            </c:numRef>
          </c:val>
          <c:extLst>
            <c:ext xmlns:c16="http://schemas.microsoft.com/office/drawing/2014/chart" uri="{C3380CC4-5D6E-409C-BE32-E72D297353CC}">
              <c16:uniqueId val="{00000001-B3A0-40B5-BC19-A7D47288FA13}"/>
            </c:ext>
          </c:extLst>
        </c:ser>
        <c:ser>
          <c:idx val="2"/>
          <c:order val="2"/>
          <c:tx>
            <c:strRef>
              <c:f>Sheet1!$D$1</c:f>
              <c:strCache>
                <c:ptCount val="1"/>
                <c:pt idx="0">
                  <c:v>Reliability</c:v>
                </c:pt>
              </c:strCache>
            </c:strRef>
          </c:tx>
          <c:spPr>
            <a:solidFill>
              <a:srgbClr val="1B7F79"/>
            </a:solidFill>
            <a:effectLst/>
          </c:spPr>
          <c:invertIfNegative val="0"/>
          <c:dLbls>
            <c:numFmt formatCode="#,##0" sourceLinked="0"/>
            <c:spPr>
              <a:noFill/>
              <a:ln>
                <a:noFill/>
              </a:ln>
              <a:effectLst/>
            </c:spPr>
            <c:txPr>
              <a:bodyPr/>
              <a:lstStyle/>
              <a:p>
                <a:pPr>
                  <a:defRPr sz="1000" b="0" i="0" u="none" strike="noStrike">
                    <a:solidFill>
                      <a:srgbClr val="10282C"/>
                    </a:solidFill>
                    <a:latin typeface="+mn-lt"/>
                  </a:defRPr>
                </a:pPr>
                <a:endParaRPr lang="en-US"/>
              </a:p>
            </c:txPr>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Sheet1!$A$2:$A$5</c:f>
              <c:strCache>
                <c:ptCount val="4"/>
                <c:pt idx="0">
                  <c:v>Monolithic</c:v>
                </c:pt>
                <c:pt idx="1">
                  <c:v>Layered</c:v>
                </c:pt>
                <c:pt idx="2">
                  <c:v>Microkernel</c:v>
                </c:pt>
                <c:pt idx="3">
                  <c:v>Hybrid</c:v>
                </c:pt>
              </c:strCache>
            </c:strRef>
          </c:cat>
          <c:val>
            <c:numRef>
              <c:f>Sheet1!$D$2:$D$5</c:f>
              <c:numCache>
                <c:formatCode>General</c:formatCode>
                <c:ptCount val="4"/>
                <c:pt idx="0">
                  <c:v>2</c:v>
                </c:pt>
                <c:pt idx="1">
                  <c:v>4</c:v>
                </c:pt>
                <c:pt idx="2">
                  <c:v>5</c:v>
                </c:pt>
                <c:pt idx="3">
                  <c:v>4</c:v>
                </c:pt>
              </c:numCache>
            </c:numRef>
          </c:val>
          <c:extLst>
            <c:ext xmlns:c16="http://schemas.microsoft.com/office/drawing/2014/chart" uri="{C3380CC4-5D6E-409C-BE32-E72D297353CC}">
              <c16:uniqueId val="{00000002-B3A0-40B5-BC19-A7D47288FA13}"/>
            </c:ext>
          </c:extLst>
        </c:ser>
        <c:ser>
          <c:idx val="3"/>
          <c:order val="3"/>
          <c:tx>
            <c:strRef>
              <c:f>Sheet1!$E$1</c:f>
              <c:strCache>
                <c:ptCount val="1"/>
                <c:pt idx="0">
                  <c:v>Maintainability</c:v>
                </c:pt>
              </c:strCache>
            </c:strRef>
          </c:tx>
          <c:spPr>
            <a:solidFill>
              <a:srgbClr val="7FB8B0"/>
            </a:solidFill>
            <a:effectLst/>
          </c:spPr>
          <c:invertIfNegative val="0"/>
          <c:dLbls>
            <c:numFmt formatCode="#,##0" sourceLinked="0"/>
            <c:spPr>
              <a:noFill/>
              <a:ln>
                <a:noFill/>
              </a:ln>
              <a:effectLst/>
            </c:spPr>
            <c:txPr>
              <a:bodyPr/>
              <a:lstStyle/>
              <a:p>
                <a:pPr>
                  <a:defRPr sz="1000" b="0" i="0" u="none" strike="noStrike">
                    <a:solidFill>
                      <a:srgbClr val="10282C"/>
                    </a:solidFill>
                    <a:latin typeface="+mn-lt"/>
                  </a:defRPr>
                </a:pPr>
                <a:endParaRPr lang="en-US"/>
              </a:p>
            </c:txPr>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Sheet1!$A$2:$A$5</c:f>
              <c:strCache>
                <c:ptCount val="4"/>
                <c:pt idx="0">
                  <c:v>Monolithic</c:v>
                </c:pt>
                <c:pt idx="1">
                  <c:v>Layered</c:v>
                </c:pt>
                <c:pt idx="2">
                  <c:v>Microkernel</c:v>
                </c:pt>
                <c:pt idx="3">
                  <c:v>Hybrid</c:v>
                </c:pt>
              </c:strCache>
            </c:strRef>
          </c:cat>
          <c:val>
            <c:numRef>
              <c:f>Sheet1!$E$2:$E$5</c:f>
              <c:numCache>
                <c:formatCode>General</c:formatCode>
                <c:ptCount val="4"/>
                <c:pt idx="0">
                  <c:v>2</c:v>
                </c:pt>
                <c:pt idx="1">
                  <c:v>4</c:v>
                </c:pt>
                <c:pt idx="2">
                  <c:v>4</c:v>
                </c:pt>
                <c:pt idx="3">
                  <c:v>4</c:v>
                </c:pt>
              </c:numCache>
            </c:numRef>
          </c:val>
          <c:extLst>
            <c:ext xmlns:c16="http://schemas.microsoft.com/office/drawing/2014/chart" uri="{C3380CC4-5D6E-409C-BE32-E72D297353CC}">
              <c16:uniqueId val="{00000003-B3A0-40B5-BC19-A7D47288FA13}"/>
            </c:ext>
          </c:extLst>
        </c:ser>
        <c:dLbls>
          <c:showLegendKey val="0"/>
          <c:showVal val="1"/>
          <c:showCatName val="0"/>
          <c:showSerName val="0"/>
          <c:showPercent val="0"/>
          <c:showBubbleSize val="0"/>
        </c:dLbls>
        <c:gapWidth val="60"/>
        <c:axId val="2094734554"/>
        <c:axId val="2094734552"/>
      </c:bar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1200" b="0" i="0" u="none" strike="noStrike">
                <a:solidFill>
                  <a:srgbClr val="10282C"/>
                </a:solidFill>
                <a:latin typeface="+mn-lt"/>
              </a:defRPr>
            </a:pPr>
            <a:endParaRPr lang="en-US"/>
          </a:p>
        </c:txPr>
        <c:crossAx val="2094734552"/>
        <c:crosses val="autoZero"/>
        <c:auto val="1"/>
        <c:lblAlgn val="ctr"/>
        <c:lblOffset val="100"/>
        <c:noMultiLvlLbl val="1"/>
      </c:catAx>
      <c:valAx>
        <c:axId val="2094734552"/>
        <c:scaling>
          <c:orientation val="minMax"/>
          <c:max val="5"/>
          <c:min val="0"/>
        </c:scaling>
        <c:delete val="0"/>
        <c:axPos val="l"/>
        <c:majorGridlines>
          <c:spPr>
            <a:ln w="6350" cap="flat">
              <a:solidFill>
                <a:srgbClr val="D5E3E0"/>
              </a:solidFill>
              <a:prstDash val="solid"/>
              <a:round/>
            </a:ln>
          </c:spPr>
        </c:majorGridlines>
        <c:numFmt formatCode="General" sourceLinked="0"/>
        <c:majorTickMark val="out"/>
        <c:minorTickMark val="none"/>
        <c:tickLblPos val="nextTo"/>
        <c:spPr>
          <a:ln w="12700" cap="flat">
            <a:solidFill>
              <a:srgbClr val="888888"/>
            </a:solidFill>
            <a:prstDash val="solid"/>
            <a:round/>
          </a:ln>
        </c:spPr>
        <c:txPr>
          <a:bodyPr/>
          <a:lstStyle/>
          <a:p>
            <a:pPr>
              <a:defRPr sz="1100" b="0" i="0" u="none" strike="noStrike">
                <a:solidFill>
                  <a:srgbClr val="5C7C80"/>
                </a:solidFill>
                <a:latin typeface="+mn-lt"/>
              </a:defRPr>
            </a:pPr>
            <a:endParaRPr lang="en-US"/>
          </a:p>
        </c:txPr>
        <c:crossAx val="2094734554"/>
        <c:crosses val="autoZero"/>
        <c:crossBetween val="between"/>
        <c:majorUnit val="1"/>
      </c:valAx>
      <c:spPr>
        <a:noFill/>
        <a:ln>
          <a:noFill/>
        </a:ln>
        <a:effectLst/>
      </c:spPr>
    </c:plotArea>
    <c:legend>
      <c:legendPos val="b"/>
      <c:overlay val="0"/>
      <c:txPr>
        <a:bodyPr/>
        <a:lstStyle/>
        <a:p>
          <a:pPr>
            <a:defRPr sz="1100">
              <a:solidFill>
                <a:srgbClr val="10282C"/>
              </a:solidFill>
              <a:latin typeface="+mn-lt"/>
              <a:cs typeface="+mn-lt"/>
            </a:defRPr>
          </a:pPr>
          <a:endParaRPr lang="en-US"/>
        </a:p>
      </c:txPr>
    </c:legend>
    <c:plotVisOnly val="1"/>
    <c:dispBlanksAs val="span"/>
    <c:showDLblsOverMax val="1"/>
  </c:chart>
  <c:spPr>
    <a:noFill/>
    <a:ln>
      <a:noFill/>
    </a:ln>
    <a:effectLst/>
  </c:spPr>
  <c:externalData r:id="rId1">
    <c:autoUpdate val="0"/>
  </c:externalData>
</c:chartSpace>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1208975883"/>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Good morning. My topic is how an operating system supports a banking system that handles thousands of transactions at the same time. I will cover the types of OS suitable for this, the OS structure that fits best, and the role of system calls in processing a transaction.</a:t>
            </a:r>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Banks today run ATMs, mobile apps, cards and branches around the clock on shared servers. The operating system sits underneath all of them. It manages the CPU, memory, files and devices and protects applications from the hardware. In this talk I cover suitable OS types, the OS structure, and how system calls process transactions.</a:t>
            </a:r>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abstract summarizes the whole talk. A bank must handle thousands of transactions at once without losing or exposing any record. I look at which OS types suit this, compare kernel structures and recommend a hybrid design, and show how system calls carry a transaction safely into the kernel.</a:t>
            </a:r>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 bank cannot afford mistakes. Thousands of customers use ATMs, mobile apps and branches at the same time, and every transfer must follow ACID rules: atomic, consistent, isolated and durable. The system must be available all day, every day, and must never lose or duplicate a transaction. So our problem is choosing the right OS type, structure and system-call design to meet these demands.</a:t>
            </a:r>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To meet those demands the OS must deliver six things: concurrency through scheduling, data integrity through the file system and synchronization, security through authentication and access control, performance through memory management, reliability through recovery, and safe sharing of CPU, memory, disks and the network. Each requirement guides our choice of OS type and structure.</a:t>
            </a:r>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Before the banking case, some theory. An operating system is system software between applications and hardware. The kernel is its core with full control of hardware. Applications run in user mode with restricted rights, while the kernel runs in privileged mode. A process is a running program, and the OS acts as a resource manager sharing CPU, memory, disks and I/O among all processes.</a:t>
            </a:r>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Batch systems are too slow for live banking. Multi-user time-sharing and multiprogramming let many users and processes run together, which is the heart of this scenario. A distributed deployment spreads the load across branches and servers and gives failover. Real-time features are useful for timeouts and fraud alerts, but a bank is not a hard real-time system. So our choice combines multi-user, multiprogramming and distributed OS ideas.</a:t>
            </a:r>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are the four OS structures in theory. Monolithic puts every service in one kernel: fast but fragile, like classic UNIX. Layered builds the OS in layers that each use only the one below. Microkernel keeps only minimal services in the kernel and runs the rest as user processes, as in MINIX and QNX. Hybrid combines both ideas and is used in Windows NT and macOS. Hybrid is highlighted because it is our recommendation.</a:t>
            </a:r>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There are four common structures. A monolithic kernel is fastest but one bug can crash everything. A layered design is secure and maintainable but adds overhead. A microkernel is the most reliable and secure but pays a performance cost for message passing. A hybrid kernel keeps the speed of core services while separating modules, so it gives the best balance for banking. These scores are my qualitative assessment of standard trade-offs.</a:t>
            </a:r>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the recommended structure. Banking applications and services run in user mode. They cannot touch hardware directly. Every request crosses the system call interface into the kernel, where five modules do the work: process management, memory management, the file system, I/O and drivers, and security and networking. The kernel then drives the hardware. This separation protects the system from faulty or malicious programs.</a:t>
            </a:r>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 theory a system call works in five steps. The program calls a library function such as write. The library puts the call number and arguments into registers. A TRAP instruction switches the CPU into kernel mode. The kernel looks up the service in its system call table and runs it. Then the result is returned and the CPU goes back to user mode. This gateway matters because only the kernel can touch hardware, so a faulty program cannot corrupt the bank's data. There are six families of system calls, which we see next.</a:t>
            </a:r>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System calls are how a banking program asks the kernel for services. Process-control calls create a worker for each request. File calls read and update account records, and fsync forces data to disk. Locking calls stop two users from changing one balance at once. Device and communication calls reach disks, ATMs and the network. Protection calls control who may access what. Without system calls, user programs could not safely use any resource.</a:t>
            </a:r>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follow one transfer of five thousand rupees. The request arrives through accept and recv. The OS authenticates the user by reading credentials. A worker is created with fork or clone. Both accounts are locked with flock so nobody else can change them. The balances are read and written, and finally fsync makes the change durable on disk, a reply is sent, and the locks are released. Six steps, and system calls drive every one.</a:t>
            </a:r>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High volume brings risks. Race conditions are prevented with mutexes, semaphores and file locks. Deadlocks between transfers are avoided with lock ordering and detection. Unauthorized access is blocked with authentication, access control lists and the user and kernel mode split. A crash in the middle of a transaction is handled with journaling, write-ahead logging and fsync so the system recovers to a consistent state.</a:t>
            </a:r>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To conclude: a multi-user, multiprogramming OS deployed as a distributed system suits a bank; a hybrid kernel gives the best balance of speed, security and fault isolation; and system calls are the controlled gateway that keeps every transaction safe and durable. Together, the right type, structure and system-call design let a bank process thousands of transactions safely at the same time. Thank you. I am happy to take questions.</a:t>
            </a:r>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TITLE_DARK">
    <p:bg>
      <p:bgPr>
        <a:solidFill>
          <a:schemeClr val="tx2"/>
        </a:solidFill>
        <a:effectLst/>
      </p:bgPr>
    </p:bg>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548640" y="1005840"/>
            <a:ext cx="5120640" cy="1920240"/>
          </a:xfrm>
          <a:prstGeom prst="rect">
            <a:avLst/>
          </a:prstGeom>
          <a:noFill/>
          <a:ln/>
        </p:spPr>
        <p:txBody>
          <a:bodyPr wrap="square" rtlCol="0"/>
          <a:lstStyle>
            <a:lvl1pPr marL="0" indent="0" algn="l">
              <a:buNone/>
              <a:defRPr lang="en-US" sz="3800" b="1" dirty="0">
                <a:solidFill>
                  <a:schemeClr val="bg1"/>
                </a:solidFill>
              </a:defRPr>
            </a:lvl1pPr>
          </a:lstStyle>
          <a:p>
            <a:pPr marL="0" indent="0" algn="l">
              <a:buNone/>
            </a:pPr>
            <a:endParaRPr lang="en-US" sz="3800" dirty="0"/>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CONTENT">
    <p:bg>
      <p:bgPr>
        <a:solidFill>
          <a:schemeClr val="bg1"/>
        </a:solidFill>
        <a:effectLst/>
      </p:bgPr>
    </p:bg>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457200" y="274320"/>
            <a:ext cx="8229600" cy="731520"/>
          </a:xfrm>
          <a:prstGeom prst="rect">
            <a:avLst/>
          </a:prstGeom>
          <a:noFill/>
          <a:ln/>
        </p:spPr>
        <p:txBody>
          <a:bodyPr wrap="square" rtlCol="0"/>
          <a:lstStyle>
            <a:lvl1pPr marL="0" indent="0" algn="l">
              <a:buNone/>
              <a:defRPr lang="en-US" sz="3400" b="1" dirty="0">
                <a:solidFill>
                  <a:schemeClr val="tx2"/>
                </a:solidFill>
              </a:defRPr>
            </a:lvl1pPr>
          </a:lstStyle>
          <a:p>
            <a:pPr marL="0" indent="0" algn="l">
              <a:buNone/>
            </a:pPr>
            <a:endParaRPr lang="en-US" sz="3400" dirty="0"/>
          </a:p>
        </p:txBody>
      </p:sp>
      <p:sp>
        <p:nvSpPr>
          <p:cNvPr id="3" name="Text 0"/>
          <p:cNvSpPr/>
          <p:nvPr/>
        </p:nvSpPr>
        <p:spPr>
          <a:xfrm>
            <a:off x="457200" y="4773168"/>
            <a:ext cx="5943600" cy="228600"/>
          </a:xfrm>
          <a:prstGeom prst="rect">
            <a:avLst/>
          </a:prstGeom>
          <a:noFill/>
          <a:ln/>
        </p:spPr>
        <p:txBody>
          <a:bodyPr wrap="square" lIns="0" tIns="0" rIns="0" bIns="0" rtlCol="0" anchor="ctr"/>
          <a:lstStyle/>
          <a:p>
            <a:pPr marL="0" indent="0">
              <a:buNone/>
            </a:pPr>
            <a:r>
              <a:rPr lang="en-US" sz="1000" dirty="0">
                <a:solidFill>
                  <a:schemeClr val="accent5"/>
                </a:solidFill>
              </a:rPr>
              <a:t>CSA04 Operating Systems  |  Technical Presentation  |  CO1</a:t>
            </a:r>
            <a:endParaRPr lang="en-US" sz="1000" dirty="0"/>
          </a:p>
        </p:txBody>
      </p:sp>
      <p:sp>
        <p:nvSpPr>
          <p:cNvPr id="25" name="Slide Number Placeholder 0"/>
          <p:cNvSpPr>
            <a:spLocks noGrp="1"/>
          </p:cNvSpPr>
          <p:nvPr>
            <p:ph type="sldNum" sz="quarter" idx="4294967295"/>
          </p:nvPr>
        </p:nvSpPr>
        <p:spPr>
          <a:xfrm>
            <a:off x="8229600" y="4754880"/>
            <a:ext cx="457200" cy="274320"/>
          </a:xfrm>
          <a:prstGeom prst="rect">
            <a:avLst/>
          </a:prstGeom>
          <a:extLst>
            <a:ext uri="{C572A759-6A51-4108-AA02-DFA0A04FC94B}">
              <ma14:wrappingTextBoxFlag xmlns="" xmlns:ma14="http://schemas.microsoft.com/office/mac/drawingml/2011/main" val="0"/>
            </a:ext>
          </a:extLst>
        </p:spPr>
        <p:txBody>
          <a:bodyPr/>
          <a:lstStyle>
            <a:lvl1pPr>
              <a:defRPr sz="1000">
                <a:solidFill>
                  <a:schemeClr val="accent5"/>
                </a:solidFill>
              </a:defRPr>
            </a:lvl1pPr>
          </a:lstStyle>
          <a:p>
            <a:pPr algn="r"/>
            <a:fld id="{F7021451-1387-4CA6-816F-3879F97B5CBC}" type="slidenum">
              <a:rPr lang="en-US" b="0"/>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p:cSld name="CLOSING">
    <p:bg>
      <p:bgPr>
        <a:solidFill>
          <a:schemeClr val="tx2"/>
        </a:solidFill>
        <a:effectLst/>
      </p:bgPr>
    </p:bg>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457200" y="274320"/>
            <a:ext cx="8229600" cy="731520"/>
          </a:xfrm>
          <a:prstGeom prst="rect">
            <a:avLst/>
          </a:prstGeom>
          <a:noFill/>
          <a:ln/>
        </p:spPr>
        <p:txBody>
          <a:bodyPr wrap="square" rtlCol="0"/>
          <a:lstStyle>
            <a:lvl1pPr marL="0" indent="0" algn="l">
              <a:buNone/>
              <a:defRPr lang="en-US" sz="3400" b="1" dirty="0">
                <a:solidFill>
                  <a:schemeClr val="bg1"/>
                </a:solidFill>
              </a:defRPr>
            </a:lvl1pPr>
          </a:lstStyle>
          <a:p>
            <a:pPr marL="0" indent="0" algn="l">
              <a:buNone/>
            </a:pPr>
            <a:endParaRPr lang="en-US" sz="3400" dirty="0"/>
          </a:p>
        </p:txBody>
      </p:sp>
      <p:sp>
        <p:nvSpPr>
          <p:cNvPr id="3" name="Text 0"/>
          <p:cNvSpPr/>
          <p:nvPr/>
        </p:nvSpPr>
        <p:spPr>
          <a:xfrm>
            <a:off x="457200" y="4773168"/>
            <a:ext cx="5943600" cy="228600"/>
          </a:xfrm>
          <a:prstGeom prst="rect">
            <a:avLst/>
          </a:prstGeom>
          <a:noFill/>
          <a:ln/>
        </p:spPr>
        <p:txBody>
          <a:bodyPr wrap="square" lIns="0" tIns="0" rIns="0" bIns="0" rtlCol="0" anchor="ctr"/>
          <a:lstStyle/>
          <a:p>
            <a:pPr marL="0" indent="0">
              <a:buNone/>
            </a:pPr>
            <a:r>
              <a:rPr lang="en-US" sz="1000" dirty="0">
                <a:solidFill>
                  <a:schemeClr val="accent3"/>
                </a:solidFill>
              </a:rPr>
              <a:t>CSA04 Operating Systems  |  Technical Presentation  |  CO1</a:t>
            </a:r>
            <a:endParaRPr lang="en-US" sz="1000" dirty="0"/>
          </a:p>
        </p:txBody>
      </p:sp>
      <p:sp>
        <p:nvSpPr>
          <p:cNvPr id="25" name="Slide Number Placeholder 0"/>
          <p:cNvSpPr>
            <a:spLocks noGrp="1"/>
          </p:cNvSpPr>
          <p:nvPr>
            <p:ph type="sldNum" sz="quarter" idx="4294967295"/>
          </p:nvPr>
        </p:nvSpPr>
        <p:spPr>
          <a:xfrm>
            <a:off x="8229600" y="4754880"/>
            <a:ext cx="457200" cy="274320"/>
          </a:xfrm>
          <a:prstGeom prst="rect">
            <a:avLst/>
          </a:prstGeom>
          <a:extLst>
            <a:ext uri="{C572A759-6A51-4108-AA02-DFA0A04FC94B}">
              <ma14:wrappingTextBoxFlag xmlns="" xmlns:ma14="http://schemas.microsoft.com/office/mac/drawingml/2011/main" val="0"/>
            </a:ext>
          </a:extLst>
        </p:spPr>
        <p:txBody>
          <a:bodyPr/>
          <a:lstStyle>
            <a:lvl1pPr>
              <a:defRPr sz="1000">
                <a:solidFill>
                  <a:schemeClr val="accent3"/>
                </a:solidFill>
              </a:defRPr>
            </a:lvl1pPr>
          </a:lstStyle>
          <a:p>
            <a:pPr algn="r"/>
            <a:fld id="{F7021451-1387-4CA6-816F-3879F97B5CBC}" type="slidenum">
              <a:rPr lang="en-US" b="0"/>
              <a:t>‹#›</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slideLayout" Target="../slideLayouts/slideLayout3.xml"/><Relationship Id="rId2" Type="http://schemas.openxmlformats.org/officeDocument/2006/relationships/slideLayout" Target="../slideLayouts/slideLayout2.xml"/><Relationship Id="rId1" Type="http://schemas.openxmlformats.org/officeDocument/2006/relationships/slideLayout" Target="../slideLayouts/slideLayout1.xml"/><Relationship Id="rId5" Type="http://schemas.openxmlformats.org/officeDocument/2006/relationships/theme" Target="../theme/theme1.xml"/><Relationship Id="rId4" Type="http://schemas.openxmlformats.org/officeDocument/2006/relationships/slideLayout" Target="../slideLayouts/slideLayout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8229600" y="4754880"/>
            <a:ext cx="457200" cy="274320"/>
          </a:xfrm>
          <a:prstGeom prst="rect">
            <a:avLst/>
          </a:prstGeom>
          <a:extLst>
            <a:ext uri="{C572A759-6A51-4108-AA02-DFA0A04FC94B}">
              <ma14:wrappingTextBoxFlag xmlns="" xmlns:ma14="http://schemas.microsoft.com/office/mac/drawingml/2011/main" val="0"/>
            </a:ext>
          </a:extLst>
        </p:spPr>
        <p:txBody>
          <a:bodyPr/>
          <a:lstStyle>
            <a:lvl1pPr>
              <a:defRPr sz="1000">
                <a:solidFill>
                  <a:schemeClr val="accent5"/>
                </a:solidFill>
              </a:defRPr>
            </a:lvl1pPr>
          </a:lstStyle>
          <a:p>
            <a:pPr algn="r"/>
            <a:fld id="{F7021451-1387-4CA6-816F-3879F97B5CBC}" type="slidenum">
              <a:rPr lang="en-US" b="0"/>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2.xml"/><Relationship Id="rId1" Type="http://schemas.openxmlformats.org/officeDocument/2006/relationships/slideLayout" Target="../slideLayouts/slideLayout3.xml"/><Relationship Id="rId5" Type="http://schemas.openxmlformats.org/officeDocument/2006/relationships/image" Target="../media/image4.png"/><Relationship Id="rId4" Type="http://schemas.openxmlformats.org/officeDocument/2006/relationships/image" Target="../media/image3.png"/></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3.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3.xml"/></Relationships>
</file>

<file path=ppt/slides/_rels/slide5.xml.rels><?xml version="1.0" encoding="UTF-8" standalone="yes"?>
<Relationships xmlns="http://schemas.openxmlformats.org/package/2006/relationships"><Relationship Id="rId8" Type="http://schemas.openxmlformats.org/officeDocument/2006/relationships/image" Target="../media/image10.png"/><Relationship Id="rId3" Type="http://schemas.openxmlformats.org/officeDocument/2006/relationships/image" Target="../media/image5.png"/><Relationship Id="rId7" Type="http://schemas.openxmlformats.org/officeDocument/2006/relationships/image" Target="../media/image9.png"/><Relationship Id="rId2" Type="http://schemas.openxmlformats.org/officeDocument/2006/relationships/notesSlide" Target="../notesSlides/notesSlide5.xml"/><Relationship Id="rId1" Type="http://schemas.openxmlformats.org/officeDocument/2006/relationships/slideLayout" Target="../slideLayouts/slideLayout3.xml"/><Relationship Id="rId6" Type="http://schemas.openxmlformats.org/officeDocument/2006/relationships/image" Target="../media/image8.png"/><Relationship Id="rId5" Type="http://schemas.openxmlformats.org/officeDocument/2006/relationships/image" Target="../media/image7.png"/><Relationship Id="rId4" Type="http://schemas.openxmlformats.org/officeDocument/2006/relationships/image" Target="../media/image6.png"/></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3.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3.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3.xml"/></Relationships>
</file>

<file path=ppt/slides/_rels/slide9.xml.rels><?xml version="1.0" encoding="UTF-8" standalone="yes"?>
<Relationships xmlns="http://schemas.openxmlformats.org/package/2006/relationships"><Relationship Id="rId3" Type="http://schemas.openxmlformats.org/officeDocument/2006/relationships/chart" Target="../charts/chart1.xml"/><Relationship Id="rId2" Type="http://schemas.openxmlformats.org/officeDocument/2006/relationships/notesSlide" Target="../notesSlides/notesSlide9.xml"/><Relationship Id="rId1" Type="http://schemas.openxmlformats.org/officeDocument/2006/relationships/slideLayout" Target="../slideLayouts/slideLayout3.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3.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3.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3.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3.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3.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4.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548640" y="1005840"/>
            <a:ext cx="5120640" cy="1920240"/>
          </a:xfrm>
          <a:prstGeom prst="rect">
            <a:avLst/>
          </a:prstGeom>
          <a:noFill/>
          <a:ln/>
        </p:spPr>
        <p:txBody>
          <a:bodyPr wrap="square" lIns="0" tIns="0" rIns="0" bIns="0" rtlCol="0" anchor="ctr"/>
          <a:lstStyle/>
          <a:p>
            <a:pPr marL="0" indent="0" algn="l">
              <a:buNone/>
            </a:pPr>
            <a:r>
              <a:rPr lang="en-US" sz="3800" b="1" dirty="0">
                <a:solidFill>
                  <a:schemeClr val="bg1"/>
                </a:solidFill>
              </a:rPr>
              <a:t>Operating Systems in a Banking System</a:t>
            </a:r>
            <a:endParaRPr lang="en-US" sz="3800" dirty="0"/>
          </a:p>
        </p:txBody>
      </p:sp>
      <p:sp>
        <p:nvSpPr>
          <p:cNvPr id="3" name="text-1"/>
          <p:cNvSpPr txBox="1"/>
          <p:nvPr/>
        </p:nvSpPr>
        <p:spPr>
          <a:xfrm>
            <a:off x="548640" y="3017520"/>
            <a:ext cx="5120640" cy="640080"/>
          </a:xfrm>
          <a:prstGeom prst="rect">
            <a:avLst/>
          </a:prstGeom>
          <a:noFill/>
          <a:ln/>
        </p:spPr>
        <p:txBody>
          <a:bodyPr wrap="square" lIns="0" tIns="0" rIns="0" bIns="0" rtlCol="0" anchor="t"/>
          <a:lstStyle/>
          <a:p>
            <a:pPr marL="0" indent="0">
              <a:buNone/>
            </a:pPr>
            <a:r>
              <a:rPr lang="en-US" sz="2000" dirty="0">
                <a:solidFill>
                  <a:schemeClr val="accent2"/>
                </a:solidFill>
              </a:rPr>
              <a:t>Handling thousands of transactions simultaneously</a:t>
            </a:r>
            <a:endParaRPr lang="en-US" sz="2000" dirty="0"/>
          </a:p>
        </p:txBody>
      </p:sp>
      <p:sp>
        <p:nvSpPr>
          <p:cNvPr id="4" name="text-2"/>
          <p:cNvSpPr txBox="1"/>
          <p:nvPr/>
        </p:nvSpPr>
        <p:spPr>
          <a:xfrm>
            <a:off x="548640" y="3749040"/>
            <a:ext cx="5303520" cy="502920"/>
          </a:xfrm>
          <a:prstGeom prst="rect">
            <a:avLst/>
          </a:prstGeom>
          <a:noFill/>
          <a:ln/>
        </p:spPr>
        <p:txBody>
          <a:bodyPr wrap="square" lIns="0" tIns="0" rIns="0" bIns="0" rtlCol="0" anchor="t"/>
          <a:lstStyle/>
          <a:p>
            <a:pPr marL="0" indent="0">
              <a:buNone/>
            </a:pPr>
            <a:r>
              <a:rPr lang="en-US" sz="1400" dirty="0">
                <a:solidFill>
                  <a:schemeClr val="bg2"/>
                </a:solidFill>
              </a:rPr>
              <a:t>CSA04 Operating Systems  |  Assessment Tool 3  |  CO1</a:t>
            </a:r>
            <a:endParaRPr lang="en-US" sz="1400" dirty="0"/>
          </a:p>
          <a:p>
            <a:pPr marL="0" indent="0">
              <a:buNone/>
            </a:pPr>
            <a:r>
              <a:rPr lang="en-US" sz="1400" dirty="0">
                <a:solidFill>
                  <a:schemeClr val="bg2"/>
                </a:solidFill>
              </a:rPr>
              <a:t>Technical Presentation</a:t>
            </a:r>
            <a:endParaRPr lang="en-US" sz="1400" dirty="0"/>
          </a:p>
        </p:txBody>
      </p:sp>
      <p:sp>
        <p:nvSpPr>
          <p:cNvPr id="5" name="text-3"/>
          <p:cNvSpPr txBox="1"/>
          <p:nvPr/>
        </p:nvSpPr>
        <p:spPr>
          <a:xfrm>
            <a:off x="548640" y="4389120"/>
            <a:ext cx="5303520" cy="274320"/>
          </a:xfrm>
          <a:prstGeom prst="rect">
            <a:avLst/>
          </a:prstGeom>
          <a:noFill/>
          <a:ln/>
        </p:spPr>
        <p:txBody>
          <a:bodyPr wrap="square" lIns="0" tIns="0" rIns="0" bIns="0" rtlCol="0" anchor="ctr"/>
          <a:lstStyle/>
          <a:p>
            <a:pPr marL="0" indent="0">
              <a:buNone/>
            </a:pPr>
            <a:r>
              <a:rPr lang="en-US" sz="1400" b="1" dirty="0">
                <a:solidFill>
                  <a:schemeClr val="accent3"/>
                </a:solidFill>
              </a:rPr>
              <a:t>Presented by: YUVANSHANKAR U(192511265)</a:t>
            </a:r>
            <a:endParaRPr lang="en-US" sz="1400" dirty="0"/>
          </a:p>
        </p:txBody>
      </p:sp>
      <p:sp>
        <p:nvSpPr>
          <p:cNvPr id="6" name="shape-4"/>
          <p:cNvSpPr/>
          <p:nvPr/>
        </p:nvSpPr>
        <p:spPr>
          <a:xfrm>
            <a:off x="6172200" y="868680"/>
            <a:ext cx="2651760" cy="2651760"/>
          </a:xfrm>
          <a:prstGeom prst="ellipse">
            <a:avLst/>
          </a:prstGeom>
          <a:ln w="25400">
            <a:solidFill>
              <a:schemeClr val="accent1"/>
            </a:solidFill>
            <a:prstDash val="solid"/>
          </a:ln>
        </p:spPr>
      </p:sp>
      <p:sp>
        <p:nvSpPr>
          <p:cNvPr id="7" name="shape-5"/>
          <p:cNvSpPr/>
          <p:nvPr/>
        </p:nvSpPr>
        <p:spPr>
          <a:xfrm>
            <a:off x="6446520" y="1143000"/>
            <a:ext cx="2103120" cy="2103120"/>
          </a:xfrm>
          <a:prstGeom prst="ellipse">
            <a:avLst/>
          </a:prstGeom>
          <a:solidFill>
            <a:schemeClr val="accent2"/>
          </a:solidFill>
          <a:ln/>
        </p:spPr>
      </p:sp>
      <p:pic>
        <p:nvPicPr>
          <p:cNvPr id="8" name="bank-icon" descr="Bank icon"/>
          <p:cNvPicPr>
            <a:picLocks noChangeAspect="1"/>
          </p:cNvPicPr>
          <p:nvPr/>
        </p:nvPicPr>
        <p:blipFill>
          <a:blip r:embed="rId3"/>
          <a:stretch>
            <a:fillRect/>
          </a:stretch>
        </p:blipFill>
        <p:spPr>
          <a:xfrm>
            <a:off x="6995160" y="1691640"/>
            <a:ext cx="1005840" cy="1005840"/>
          </a:xfrm>
          <a:prstGeom prst="rect">
            <a:avLst/>
          </a:prstGeom>
        </p:spPr>
      </p:pic>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457200" y="274320"/>
            <a:ext cx="8229600" cy="731520"/>
          </a:xfrm>
          <a:prstGeom prst="rect">
            <a:avLst/>
          </a:prstGeom>
          <a:noFill/>
          <a:ln/>
        </p:spPr>
        <p:txBody>
          <a:bodyPr wrap="square" lIns="0" tIns="0" rIns="0" bIns="0" rtlCol="0" anchor="ctr"/>
          <a:lstStyle/>
          <a:p>
            <a:pPr marL="0" indent="0" algn="l">
              <a:buNone/>
            </a:pPr>
            <a:r>
              <a:rPr lang="en-US" sz="3400" b="1" dirty="0">
                <a:solidFill>
                  <a:schemeClr val="tx2"/>
                </a:solidFill>
              </a:rPr>
              <a:t>Introduction</a:t>
            </a:r>
            <a:endParaRPr lang="en-US" sz="3400" dirty="0"/>
          </a:p>
        </p:txBody>
      </p:sp>
      <p:sp>
        <p:nvSpPr>
          <p:cNvPr id="3" name="shape-21"/>
          <p:cNvSpPr/>
          <p:nvPr/>
        </p:nvSpPr>
        <p:spPr>
          <a:xfrm>
            <a:off x="457200" y="1234440"/>
            <a:ext cx="8229600" cy="914400"/>
          </a:xfrm>
          <a:prstGeom prst="roundRect">
            <a:avLst>
              <a:gd name="adj" fmla="val 8000"/>
            </a:avLst>
          </a:prstGeom>
          <a:solidFill>
            <a:schemeClr val="bg2"/>
          </a:solidFill>
          <a:ln/>
        </p:spPr>
      </p:sp>
      <p:sp>
        <p:nvSpPr>
          <p:cNvPr id="4" name="shape-22"/>
          <p:cNvSpPr/>
          <p:nvPr/>
        </p:nvSpPr>
        <p:spPr>
          <a:xfrm>
            <a:off x="685800" y="1417320"/>
            <a:ext cx="548640" cy="548640"/>
          </a:xfrm>
          <a:prstGeom prst="ellipse">
            <a:avLst/>
          </a:prstGeom>
          <a:solidFill>
            <a:schemeClr val="accent1"/>
          </a:solidFill>
          <a:ln/>
        </p:spPr>
      </p:sp>
      <p:pic>
        <p:nvPicPr>
          <p:cNvPr id="5" name="icon-23" descr="Background icon"/>
          <p:cNvPicPr>
            <a:picLocks noChangeAspect="1"/>
          </p:cNvPicPr>
          <p:nvPr/>
        </p:nvPicPr>
        <p:blipFill>
          <a:blip r:embed="rId3"/>
          <a:stretch>
            <a:fillRect/>
          </a:stretch>
        </p:blipFill>
        <p:spPr>
          <a:xfrm>
            <a:off x="822960" y="1554480"/>
            <a:ext cx="274320" cy="274320"/>
          </a:xfrm>
          <a:prstGeom prst="rect">
            <a:avLst/>
          </a:prstGeom>
        </p:spPr>
      </p:pic>
      <p:sp>
        <p:nvSpPr>
          <p:cNvPr id="6" name="text-24"/>
          <p:cNvSpPr txBox="1"/>
          <p:nvPr/>
        </p:nvSpPr>
        <p:spPr>
          <a:xfrm>
            <a:off x="1508760" y="1234440"/>
            <a:ext cx="6949440" cy="914400"/>
          </a:xfrm>
          <a:prstGeom prst="rect">
            <a:avLst/>
          </a:prstGeom>
          <a:noFill/>
          <a:ln/>
        </p:spPr>
        <p:txBody>
          <a:bodyPr wrap="square" lIns="0" tIns="0" rIns="0" bIns="0" rtlCol="0" anchor="ctr"/>
          <a:lstStyle/>
          <a:p>
            <a:pPr marL="0" indent="0">
              <a:buNone/>
            </a:pPr>
            <a:r>
              <a:rPr lang="en-US" sz="1600" b="1" dirty="0">
                <a:solidFill>
                  <a:schemeClr val="tx2"/>
                </a:solidFill>
              </a:rPr>
              <a:t>Background</a:t>
            </a:r>
            <a:endParaRPr lang="en-US" sz="1600" dirty="0"/>
          </a:p>
          <a:p>
            <a:pPr marL="0" indent="0">
              <a:buNone/>
            </a:pPr>
            <a:r>
              <a:rPr lang="en-US" sz="1400" dirty="0">
                <a:solidFill>
                  <a:schemeClr val="tx1"/>
                </a:solidFill>
              </a:rPr>
              <a:t>Modern banks run ATMs, mobile apps, cards and branches around the clock on shared servers.</a:t>
            </a:r>
            <a:endParaRPr lang="en-US" sz="1600" dirty="0"/>
          </a:p>
        </p:txBody>
      </p:sp>
      <p:sp>
        <p:nvSpPr>
          <p:cNvPr id="7" name="shape-25"/>
          <p:cNvSpPr/>
          <p:nvPr/>
        </p:nvSpPr>
        <p:spPr>
          <a:xfrm>
            <a:off x="457200" y="2331720"/>
            <a:ext cx="8229600" cy="914400"/>
          </a:xfrm>
          <a:prstGeom prst="roundRect">
            <a:avLst>
              <a:gd name="adj" fmla="val 8000"/>
            </a:avLst>
          </a:prstGeom>
          <a:solidFill>
            <a:schemeClr val="bg2"/>
          </a:solidFill>
          <a:ln/>
        </p:spPr>
      </p:sp>
      <p:sp>
        <p:nvSpPr>
          <p:cNvPr id="8" name="shape-26"/>
          <p:cNvSpPr/>
          <p:nvPr/>
        </p:nvSpPr>
        <p:spPr>
          <a:xfrm>
            <a:off x="685800" y="2514600"/>
            <a:ext cx="548640" cy="548640"/>
          </a:xfrm>
          <a:prstGeom prst="ellipse">
            <a:avLst/>
          </a:prstGeom>
          <a:solidFill>
            <a:schemeClr val="accent1"/>
          </a:solidFill>
          <a:ln/>
        </p:spPr>
      </p:sp>
      <p:pic>
        <p:nvPicPr>
          <p:cNvPr id="9" name="icon-27" descr="Role of the OS icon"/>
          <p:cNvPicPr>
            <a:picLocks noChangeAspect="1"/>
          </p:cNvPicPr>
          <p:nvPr/>
        </p:nvPicPr>
        <p:blipFill>
          <a:blip r:embed="rId4"/>
          <a:stretch>
            <a:fillRect/>
          </a:stretch>
        </p:blipFill>
        <p:spPr>
          <a:xfrm>
            <a:off x="822960" y="2651760"/>
            <a:ext cx="274320" cy="274320"/>
          </a:xfrm>
          <a:prstGeom prst="rect">
            <a:avLst/>
          </a:prstGeom>
        </p:spPr>
      </p:pic>
      <p:sp>
        <p:nvSpPr>
          <p:cNvPr id="10" name="text-28"/>
          <p:cNvSpPr txBox="1"/>
          <p:nvPr/>
        </p:nvSpPr>
        <p:spPr>
          <a:xfrm>
            <a:off x="1508760" y="2331720"/>
            <a:ext cx="6949440" cy="914400"/>
          </a:xfrm>
          <a:prstGeom prst="rect">
            <a:avLst/>
          </a:prstGeom>
          <a:noFill/>
          <a:ln/>
        </p:spPr>
        <p:txBody>
          <a:bodyPr wrap="square" lIns="0" tIns="0" rIns="0" bIns="0" rtlCol="0" anchor="ctr"/>
          <a:lstStyle/>
          <a:p>
            <a:pPr marL="0" indent="0">
              <a:buNone/>
            </a:pPr>
            <a:r>
              <a:rPr lang="en-US" sz="1600" b="1" dirty="0">
                <a:solidFill>
                  <a:schemeClr val="tx2"/>
                </a:solidFill>
              </a:rPr>
              <a:t>Role of the OS</a:t>
            </a:r>
            <a:endParaRPr lang="en-US" sz="1600" dirty="0"/>
          </a:p>
          <a:p>
            <a:pPr marL="0" indent="0">
              <a:buNone/>
            </a:pPr>
            <a:r>
              <a:rPr lang="en-US" sz="1400" dirty="0">
                <a:solidFill>
                  <a:schemeClr val="tx1"/>
                </a:solidFill>
              </a:rPr>
              <a:t>The OS manages CPU, memory, files and devices, and shields applications from the hardware.</a:t>
            </a:r>
            <a:endParaRPr lang="en-US" sz="1600" dirty="0"/>
          </a:p>
        </p:txBody>
      </p:sp>
      <p:sp>
        <p:nvSpPr>
          <p:cNvPr id="11" name="shape-29"/>
          <p:cNvSpPr/>
          <p:nvPr/>
        </p:nvSpPr>
        <p:spPr>
          <a:xfrm>
            <a:off x="457200" y="3429000"/>
            <a:ext cx="8229600" cy="914400"/>
          </a:xfrm>
          <a:prstGeom prst="roundRect">
            <a:avLst>
              <a:gd name="adj" fmla="val 8000"/>
            </a:avLst>
          </a:prstGeom>
          <a:solidFill>
            <a:schemeClr val="bg2"/>
          </a:solidFill>
          <a:ln/>
        </p:spPr>
      </p:sp>
      <p:sp>
        <p:nvSpPr>
          <p:cNvPr id="12" name="shape-30"/>
          <p:cNvSpPr/>
          <p:nvPr/>
        </p:nvSpPr>
        <p:spPr>
          <a:xfrm>
            <a:off x="685800" y="3611880"/>
            <a:ext cx="548640" cy="548640"/>
          </a:xfrm>
          <a:prstGeom prst="ellipse">
            <a:avLst/>
          </a:prstGeom>
          <a:solidFill>
            <a:schemeClr val="accent1"/>
          </a:solidFill>
          <a:ln/>
        </p:spPr>
      </p:sp>
      <p:pic>
        <p:nvPicPr>
          <p:cNvPr id="13" name="icon-31" descr="Scope of this talk icon"/>
          <p:cNvPicPr>
            <a:picLocks noChangeAspect="1"/>
          </p:cNvPicPr>
          <p:nvPr/>
        </p:nvPicPr>
        <p:blipFill>
          <a:blip r:embed="rId5"/>
          <a:stretch>
            <a:fillRect/>
          </a:stretch>
        </p:blipFill>
        <p:spPr>
          <a:xfrm>
            <a:off x="822960" y="3749040"/>
            <a:ext cx="274320" cy="274320"/>
          </a:xfrm>
          <a:prstGeom prst="rect">
            <a:avLst/>
          </a:prstGeom>
        </p:spPr>
      </p:pic>
      <p:sp>
        <p:nvSpPr>
          <p:cNvPr id="14" name="text-32"/>
          <p:cNvSpPr txBox="1"/>
          <p:nvPr/>
        </p:nvSpPr>
        <p:spPr>
          <a:xfrm>
            <a:off x="1508760" y="3429000"/>
            <a:ext cx="6949440" cy="914400"/>
          </a:xfrm>
          <a:prstGeom prst="rect">
            <a:avLst/>
          </a:prstGeom>
          <a:noFill/>
          <a:ln/>
        </p:spPr>
        <p:txBody>
          <a:bodyPr wrap="square" lIns="0" tIns="0" rIns="0" bIns="0" rtlCol="0" anchor="ctr"/>
          <a:lstStyle/>
          <a:p>
            <a:pPr marL="0" indent="0">
              <a:buNone/>
            </a:pPr>
            <a:r>
              <a:rPr lang="en-US" sz="1600" b="1" dirty="0">
                <a:solidFill>
                  <a:schemeClr val="tx2"/>
                </a:solidFill>
              </a:rPr>
              <a:t>Scope of this talk</a:t>
            </a:r>
            <a:endParaRPr lang="en-US" sz="1600" dirty="0"/>
          </a:p>
          <a:p>
            <a:pPr marL="0" indent="0">
              <a:buNone/>
            </a:pPr>
            <a:r>
              <a:rPr lang="en-US" sz="1400" dirty="0">
                <a:solidFill>
                  <a:schemeClr val="tx1"/>
                </a:solidFill>
              </a:rPr>
              <a:t>Suitable OS types, the OS structure, and how system calls process transactions.</a:t>
            </a:r>
            <a:endParaRPr lang="en-US" sz="1600" dirty="0"/>
          </a:p>
        </p:txBody>
      </p:sp>
      <p:sp>
        <p:nvSpPr>
          <p:cNvPr id="25" name="Slide Number Placeholder 0"/>
          <p:cNvSpPr>
            <a:spLocks noGrp="1"/>
          </p:cNvSpPr>
          <p:nvPr>
            <p:ph type="sldNum" sz="quarter" idx="4294967295"/>
          </p:nvPr>
        </p:nvSpPr>
        <p:spPr>
          <a:xfrm>
            <a:off x="8229600" y="4754880"/>
            <a:ext cx="457200" cy="274320"/>
          </a:xfrm>
          <a:prstGeom prst="rect">
            <a:avLst/>
          </a:prstGeom>
          <a:extLst>
            <a:ext uri="{C572A759-6A51-4108-AA02-DFA0A04FC94B}">
              <ma14:wrappingTextBoxFlag xmlns="" xmlns:ma14="http://schemas.microsoft.com/office/mac/drawingml/2011/main" val="0"/>
            </a:ext>
          </a:extLst>
        </p:spPr>
        <p:txBody>
          <a:bodyPr/>
          <a:lstStyle>
            <a:lvl1pPr>
              <a:defRPr sz="1000">
                <a:solidFill>
                  <a:schemeClr val="accent5"/>
                </a:solidFill>
              </a:defRPr>
            </a:lvl1pPr>
          </a:lstStyle>
          <a:p>
            <a:pPr algn="r"/>
            <a:fld id="{F7021451-1387-4CA6-816F-3879F97B5CBC}" type="slidenum">
              <a:rPr lang="en-US" b="0"/>
              <a:t>2</a:t>
            </a:fld>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457200" y="274320"/>
            <a:ext cx="8229600" cy="731520"/>
          </a:xfrm>
          <a:prstGeom prst="rect">
            <a:avLst/>
          </a:prstGeom>
          <a:noFill/>
          <a:ln/>
        </p:spPr>
        <p:txBody>
          <a:bodyPr wrap="square" lIns="0" tIns="0" rIns="0" bIns="0" rtlCol="0" anchor="ctr"/>
          <a:lstStyle/>
          <a:p>
            <a:pPr marL="0" indent="0" algn="l">
              <a:buNone/>
            </a:pPr>
            <a:r>
              <a:rPr lang="en-US" sz="3400" b="1" dirty="0">
                <a:solidFill>
                  <a:schemeClr val="tx2"/>
                </a:solidFill>
              </a:rPr>
              <a:t>Abstract</a:t>
            </a:r>
            <a:endParaRPr lang="en-US" sz="3400" dirty="0"/>
          </a:p>
        </p:txBody>
      </p:sp>
      <p:sp>
        <p:nvSpPr>
          <p:cNvPr id="3" name="shape-6"/>
          <p:cNvSpPr/>
          <p:nvPr/>
        </p:nvSpPr>
        <p:spPr>
          <a:xfrm>
            <a:off x="457200" y="1234440"/>
            <a:ext cx="8229600" cy="2057400"/>
          </a:xfrm>
          <a:prstGeom prst="roundRect">
            <a:avLst>
              <a:gd name="adj" fmla="val 3556"/>
            </a:avLst>
          </a:prstGeom>
          <a:solidFill>
            <a:schemeClr val="bg2"/>
          </a:solidFill>
          <a:ln/>
        </p:spPr>
      </p:sp>
      <p:sp>
        <p:nvSpPr>
          <p:cNvPr id="4" name="text-7"/>
          <p:cNvSpPr txBox="1"/>
          <p:nvPr/>
        </p:nvSpPr>
        <p:spPr>
          <a:xfrm>
            <a:off x="731520" y="1325880"/>
            <a:ext cx="7680960" cy="1874520"/>
          </a:xfrm>
          <a:prstGeom prst="rect">
            <a:avLst/>
          </a:prstGeom>
          <a:noFill/>
          <a:ln/>
        </p:spPr>
        <p:txBody>
          <a:bodyPr wrap="square" lIns="0" tIns="0" rIns="0" bIns="0" rtlCol="0" anchor="ctr"/>
          <a:lstStyle/>
          <a:p>
            <a:pPr marL="285750" indent="-285750">
              <a:buFont typeface="Wingdings" panose="05000000000000000000" pitchFamily="2" charset="2"/>
              <a:buChar char="q"/>
            </a:pPr>
            <a:r>
              <a:rPr lang="en-US" sz="1600" dirty="0">
                <a:solidFill>
                  <a:schemeClr val="tx1"/>
                </a:solidFill>
              </a:rPr>
              <a:t>Banking systems must process thousands of transactions at the same time without losing, duplicating or exposing a single record. </a:t>
            </a:r>
          </a:p>
          <a:p>
            <a:pPr marL="285750" indent="-285750">
              <a:buFont typeface="Wingdings" panose="05000000000000000000" pitchFamily="2" charset="2"/>
              <a:buChar char="q"/>
            </a:pPr>
            <a:r>
              <a:rPr lang="en-US" sz="1600" dirty="0">
                <a:solidFill>
                  <a:schemeClr val="tx1"/>
                </a:solidFill>
              </a:rPr>
              <a:t> It identifies suitable OS types (multi-user, multiprogramming and distributed), compares kernel structures and recommends a hybrid design, and shows how system calls carry each transaction from the application into the kernel safely and durably.</a:t>
            </a:r>
            <a:endParaRPr lang="en-US" sz="1600" dirty="0"/>
          </a:p>
        </p:txBody>
      </p:sp>
      <p:sp>
        <p:nvSpPr>
          <p:cNvPr id="5" name="text-8"/>
          <p:cNvSpPr txBox="1"/>
          <p:nvPr/>
        </p:nvSpPr>
        <p:spPr>
          <a:xfrm>
            <a:off x="457200" y="3520440"/>
            <a:ext cx="2743200" cy="228600"/>
          </a:xfrm>
          <a:prstGeom prst="rect">
            <a:avLst/>
          </a:prstGeom>
          <a:noFill/>
          <a:ln/>
        </p:spPr>
        <p:txBody>
          <a:bodyPr wrap="square" lIns="0" tIns="0" rIns="0" bIns="0" rtlCol="0" anchor="ctr"/>
          <a:lstStyle/>
          <a:p>
            <a:pPr marL="0" indent="0">
              <a:buNone/>
            </a:pPr>
            <a:r>
              <a:rPr lang="en-US" sz="1200" b="1" dirty="0">
                <a:solidFill>
                  <a:schemeClr val="accent1"/>
                </a:solidFill>
              </a:rPr>
              <a:t>KEYWORDS</a:t>
            </a:r>
            <a:endParaRPr lang="en-US" sz="1200" dirty="0"/>
          </a:p>
        </p:txBody>
      </p:sp>
      <p:sp>
        <p:nvSpPr>
          <p:cNvPr id="6" name="shape-9"/>
          <p:cNvSpPr/>
          <p:nvPr/>
        </p:nvSpPr>
        <p:spPr>
          <a:xfrm>
            <a:off x="457200" y="3840480"/>
            <a:ext cx="1280160" cy="411480"/>
          </a:xfrm>
          <a:prstGeom prst="roundRect">
            <a:avLst>
              <a:gd name="adj" fmla="val 44444"/>
            </a:avLst>
          </a:prstGeom>
          <a:solidFill>
            <a:schemeClr val="tx2"/>
          </a:solidFill>
          <a:ln/>
        </p:spPr>
      </p:sp>
      <p:sp>
        <p:nvSpPr>
          <p:cNvPr id="7" name="text-10"/>
          <p:cNvSpPr txBox="1"/>
          <p:nvPr/>
        </p:nvSpPr>
        <p:spPr>
          <a:xfrm>
            <a:off x="457200" y="3840480"/>
            <a:ext cx="1280160" cy="411480"/>
          </a:xfrm>
          <a:prstGeom prst="rect">
            <a:avLst/>
          </a:prstGeom>
          <a:noFill/>
          <a:ln/>
        </p:spPr>
        <p:txBody>
          <a:bodyPr wrap="square" lIns="0" tIns="0" rIns="0" bIns="0" rtlCol="0" anchor="ctr"/>
          <a:lstStyle/>
          <a:p>
            <a:pPr marL="0" indent="0" algn="ctr">
              <a:buNone/>
            </a:pPr>
            <a:r>
              <a:rPr lang="en-US" sz="1200" b="1" dirty="0">
                <a:solidFill>
                  <a:schemeClr val="bg1"/>
                </a:solidFill>
              </a:rPr>
              <a:t>Operating System</a:t>
            </a:r>
            <a:endParaRPr lang="en-US" sz="1200" dirty="0"/>
          </a:p>
        </p:txBody>
      </p:sp>
      <p:sp>
        <p:nvSpPr>
          <p:cNvPr id="8" name="shape-11"/>
          <p:cNvSpPr/>
          <p:nvPr/>
        </p:nvSpPr>
        <p:spPr>
          <a:xfrm>
            <a:off x="1847088" y="3840480"/>
            <a:ext cx="1280160" cy="411480"/>
          </a:xfrm>
          <a:prstGeom prst="roundRect">
            <a:avLst>
              <a:gd name="adj" fmla="val 44444"/>
            </a:avLst>
          </a:prstGeom>
          <a:solidFill>
            <a:schemeClr val="tx2"/>
          </a:solidFill>
          <a:ln/>
        </p:spPr>
      </p:sp>
      <p:sp>
        <p:nvSpPr>
          <p:cNvPr id="9" name="text-12"/>
          <p:cNvSpPr txBox="1"/>
          <p:nvPr/>
        </p:nvSpPr>
        <p:spPr>
          <a:xfrm>
            <a:off x="1847088" y="3840480"/>
            <a:ext cx="1280160" cy="411480"/>
          </a:xfrm>
          <a:prstGeom prst="rect">
            <a:avLst/>
          </a:prstGeom>
          <a:noFill/>
          <a:ln/>
        </p:spPr>
        <p:txBody>
          <a:bodyPr wrap="square" lIns="0" tIns="0" rIns="0" bIns="0" rtlCol="0" anchor="ctr"/>
          <a:lstStyle/>
          <a:p>
            <a:pPr marL="0" indent="0" algn="ctr">
              <a:buNone/>
            </a:pPr>
            <a:r>
              <a:rPr lang="en-US" sz="1200" b="1" dirty="0">
                <a:solidFill>
                  <a:schemeClr val="bg1"/>
                </a:solidFill>
              </a:rPr>
              <a:t>Multi-user</a:t>
            </a:r>
            <a:endParaRPr lang="en-US" sz="1200" dirty="0"/>
          </a:p>
        </p:txBody>
      </p:sp>
      <p:sp>
        <p:nvSpPr>
          <p:cNvPr id="10" name="shape-13"/>
          <p:cNvSpPr/>
          <p:nvPr/>
        </p:nvSpPr>
        <p:spPr>
          <a:xfrm>
            <a:off x="3236976" y="3840480"/>
            <a:ext cx="1280160" cy="411480"/>
          </a:xfrm>
          <a:prstGeom prst="roundRect">
            <a:avLst>
              <a:gd name="adj" fmla="val 44444"/>
            </a:avLst>
          </a:prstGeom>
          <a:solidFill>
            <a:schemeClr val="tx2"/>
          </a:solidFill>
          <a:ln/>
        </p:spPr>
      </p:sp>
      <p:sp>
        <p:nvSpPr>
          <p:cNvPr id="11" name="text-14"/>
          <p:cNvSpPr txBox="1"/>
          <p:nvPr/>
        </p:nvSpPr>
        <p:spPr>
          <a:xfrm>
            <a:off x="3236976" y="3840480"/>
            <a:ext cx="1280160" cy="411480"/>
          </a:xfrm>
          <a:prstGeom prst="rect">
            <a:avLst/>
          </a:prstGeom>
          <a:noFill/>
          <a:ln/>
        </p:spPr>
        <p:txBody>
          <a:bodyPr wrap="square" lIns="0" tIns="0" rIns="0" bIns="0" rtlCol="0" anchor="ctr"/>
          <a:lstStyle/>
          <a:p>
            <a:pPr marL="0" indent="0" algn="ctr">
              <a:buNone/>
            </a:pPr>
            <a:r>
              <a:rPr lang="en-US" sz="1200" b="1" dirty="0">
                <a:solidFill>
                  <a:schemeClr val="bg1"/>
                </a:solidFill>
              </a:rPr>
              <a:t>Hybrid kernel</a:t>
            </a:r>
            <a:endParaRPr lang="en-US" sz="1200" dirty="0"/>
          </a:p>
        </p:txBody>
      </p:sp>
      <p:sp>
        <p:nvSpPr>
          <p:cNvPr id="12" name="shape-15"/>
          <p:cNvSpPr/>
          <p:nvPr/>
        </p:nvSpPr>
        <p:spPr>
          <a:xfrm>
            <a:off x="4626864" y="3840480"/>
            <a:ext cx="1280160" cy="411480"/>
          </a:xfrm>
          <a:prstGeom prst="roundRect">
            <a:avLst>
              <a:gd name="adj" fmla="val 44444"/>
            </a:avLst>
          </a:prstGeom>
          <a:solidFill>
            <a:schemeClr val="tx2"/>
          </a:solidFill>
          <a:ln/>
        </p:spPr>
      </p:sp>
      <p:sp>
        <p:nvSpPr>
          <p:cNvPr id="13" name="text-16"/>
          <p:cNvSpPr txBox="1"/>
          <p:nvPr/>
        </p:nvSpPr>
        <p:spPr>
          <a:xfrm>
            <a:off x="4626864" y="3840480"/>
            <a:ext cx="1280160" cy="411480"/>
          </a:xfrm>
          <a:prstGeom prst="rect">
            <a:avLst/>
          </a:prstGeom>
          <a:noFill/>
          <a:ln/>
        </p:spPr>
        <p:txBody>
          <a:bodyPr wrap="square" lIns="0" tIns="0" rIns="0" bIns="0" rtlCol="0" anchor="ctr"/>
          <a:lstStyle/>
          <a:p>
            <a:pPr marL="0" indent="0" algn="ctr">
              <a:buNone/>
            </a:pPr>
            <a:r>
              <a:rPr lang="en-US" sz="1200" b="1" dirty="0">
                <a:solidFill>
                  <a:schemeClr val="bg1"/>
                </a:solidFill>
              </a:rPr>
              <a:t>System calls</a:t>
            </a:r>
            <a:endParaRPr lang="en-US" sz="1200" dirty="0"/>
          </a:p>
        </p:txBody>
      </p:sp>
      <p:sp>
        <p:nvSpPr>
          <p:cNvPr id="14" name="shape-17"/>
          <p:cNvSpPr/>
          <p:nvPr/>
        </p:nvSpPr>
        <p:spPr>
          <a:xfrm>
            <a:off x="6016752" y="3840480"/>
            <a:ext cx="1280160" cy="411480"/>
          </a:xfrm>
          <a:prstGeom prst="roundRect">
            <a:avLst>
              <a:gd name="adj" fmla="val 44444"/>
            </a:avLst>
          </a:prstGeom>
          <a:solidFill>
            <a:schemeClr val="tx2"/>
          </a:solidFill>
          <a:ln/>
        </p:spPr>
      </p:sp>
      <p:sp>
        <p:nvSpPr>
          <p:cNvPr id="15" name="text-18"/>
          <p:cNvSpPr txBox="1"/>
          <p:nvPr/>
        </p:nvSpPr>
        <p:spPr>
          <a:xfrm>
            <a:off x="6016752" y="3840480"/>
            <a:ext cx="1280160" cy="411480"/>
          </a:xfrm>
          <a:prstGeom prst="rect">
            <a:avLst/>
          </a:prstGeom>
          <a:noFill/>
          <a:ln/>
        </p:spPr>
        <p:txBody>
          <a:bodyPr wrap="square" lIns="0" tIns="0" rIns="0" bIns="0" rtlCol="0" anchor="ctr"/>
          <a:lstStyle/>
          <a:p>
            <a:pPr marL="0" indent="0" algn="ctr">
              <a:buNone/>
            </a:pPr>
            <a:r>
              <a:rPr lang="en-US" sz="1200" b="1" dirty="0">
                <a:solidFill>
                  <a:schemeClr val="bg1"/>
                </a:solidFill>
              </a:rPr>
              <a:t>ACID</a:t>
            </a:r>
            <a:endParaRPr lang="en-US" sz="1200" dirty="0"/>
          </a:p>
        </p:txBody>
      </p:sp>
      <p:sp>
        <p:nvSpPr>
          <p:cNvPr id="16" name="shape-19"/>
          <p:cNvSpPr/>
          <p:nvPr/>
        </p:nvSpPr>
        <p:spPr>
          <a:xfrm>
            <a:off x="7406640" y="3840480"/>
            <a:ext cx="1280160" cy="411480"/>
          </a:xfrm>
          <a:prstGeom prst="roundRect">
            <a:avLst>
              <a:gd name="adj" fmla="val 44444"/>
            </a:avLst>
          </a:prstGeom>
          <a:solidFill>
            <a:schemeClr val="tx2"/>
          </a:solidFill>
          <a:ln/>
        </p:spPr>
      </p:sp>
      <p:sp>
        <p:nvSpPr>
          <p:cNvPr id="17" name="text-20"/>
          <p:cNvSpPr txBox="1"/>
          <p:nvPr/>
        </p:nvSpPr>
        <p:spPr>
          <a:xfrm>
            <a:off x="7406640" y="3840480"/>
            <a:ext cx="1280160" cy="411480"/>
          </a:xfrm>
          <a:prstGeom prst="rect">
            <a:avLst/>
          </a:prstGeom>
          <a:noFill/>
          <a:ln/>
        </p:spPr>
        <p:txBody>
          <a:bodyPr wrap="square" lIns="0" tIns="0" rIns="0" bIns="0" rtlCol="0" anchor="ctr"/>
          <a:lstStyle/>
          <a:p>
            <a:pPr marL="0" indent="0" algn="ctr">
              <a:buNone/>
            </a:pPr>
            <a:r>
              <a:rPr lang="en-US" sz="1200" b="1" dirty="0">
                <a:solidFill>
                  <a:schemeClr val="bg1"/>
                </a:solidFill>
              </a:rPr>
              <a:t>Concurrency</a:t>
            </a:r>
            <a:endParaRPr lang="en-US" sz="1200" dirty="0"/>
          </a:p>
        </p:txBody>
      </p:sp>
      <p:sp>
        <p:nvSpPr>
          <p:cNvPr id="25" name="Slide Number Placeholder 0"/>
          <p:cNvSpPr>
            <a:spLocks noGrp="1"/>
          </p:cNvSpPr>
          <p:nvPr>
            <p:ph type="sldNum" sz="quarter" idx="4294967295"/>
          </p:nvPr>
        </p:nvSpPr>
        <p:spPr>
          <a:xfrm>
            <a:off x="8229600" y="4754880"/>
            <a:ext cx="457200" cy="274320"/>
          </a:xfrm>
          <a:prstGeom prst="rect">
            <a:avLst/>
          </a:prstGeom>
          <a:extLst>
            <a:ext uri="{C572A759-6A51-4108-AA02-DFA0A04FC94B}">
              <ma14:wrappingTextBoxFlag xmlns="" xmlns:ma14="http://schemas.microsoft.com/office/mac/drawingml/2011/main" val="0"/>
            </a:ext>
          </a:extLst>
        </p:spPr>
        <p:txBody>
          <a:bodyPr/>
          <a:lstStyle>
            <a:lvl1pPr>
              <a:defRPr sz="1000">
                <a:solidFill>
                  <a:schemeClr val="accent5"/>
                </a:solidFill>
              </a:defRPr>
            </a:lvl1pPr>
          </a:lstStyle>
          <a:p>
            <a:pPr algn="r"/>
            <a:fld id="{F7021451-1387-4CA6-816F-3879F97B5CBC}" type="slidenum">
              <a:rPr lang="en-US" b="0"/>
              <a:t>3</a:t>
            </a:fld>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457200" y="274320"/>
            <a:ext cx="8229600" cy="731520"/>
          </a:xfrm>
          <a:prstGeom prst="rect">
            <a:avLst/>
          </a:prstGeom>
          <a:noFill/>
          <a:ln/>
        </p:spPr>
        <p:txBody>
          <a:bodyPr wrap="square" lIns="0" tIns="0" rIns="0" bIns="0" rtlCol="0" anchor="ctr"/>
          <a:lstStyle/>
          <a:p>
            <a:pPr marL="0" indent="0" algn="l">
              <a:buNone/>
            </a:pPr>
            <a:r>
              <a:rPr lang="en-US" sz="3400" b="1" dirty="0">
                <a:solidFill>
                  <a:schemeClr val="tx2"/>
                </a:solidFill>
              </a:rPr>
              <a:t>The Banking Challenge</a:t>
            </a:r>
            <a:endParaRPr lang="en-US" sz="3400" dirty="0"/>
          </a:p>
        </p:txBody>
      </p:sp>
      <p:sp>
        <p:nvSpPr>
          <p:cNvPr id="3" name="shape-33"/>
          <p:cNvSpPr/>
          <p:nvPr/>
        </p:nvSpPr>
        <p:spPr>
          <a:xfrm>
            <a:off x="457200" y="1280160"/>
            <a:ext cx="1828800" cy="1737360"/>
          </a:xfrm>
          <a:prstGeom prst="roundRect">
            <a:avLst>
              <a:gd name="adj" fmla="val 4211"/>
            </a:avLst>
          </a:prstGeom>
          <a:solidFill>
            <a:schemeClr val="bg2"/>
          </a:solidFill>
          <a:ln/>
        </p:spPr>
      </p:sp>
      <p:sp>
        <p:nvSpPr>
          <p:cNvPr id="4" name="text-34"/>
          <p:cNvSpPr txBox="1"/>
          <p:nvPr/>
        </p:nvSpPr>
        <p:spPr>
          <a:xfrm>
            <a:off x="640080" y="1417320"/>
            <a:ext cx="1554480" cy="731520"/>
          </a:xfrm>
          <a:prstGeom prst="rect">
            <a:avLst/>
          </a:prstGeom>
          <a:noFill/>
          <a:ln/>
        </p:spPr>
        <p:txBody>
          <a:bodyPr wrap="square" lIns="0" tIns="0" rIns="0" bIns="0" rtlCol="0" anchor="ctr"/>
          <a:lstStyle/>
          <a:p>
            <a:pPr marL="0" indent="0">
              <a:buNone/>
            </a:pPr>
            <a:r>
              <a:rPr lang="en-US" sz="3600" b="1" dirty="0">
                <a:solidFill>
                  <a:schemeClr val="accent1"/>
                </a:solidFill>
              </a:rPr>
              <a:t>1000s</a:t>
            </a:r>
            <a:endParaRPr lang="en-US" sz="3600" dirty="0"/>
          </a:p>
        </p:txBody>
      </p:sp>
      <p:sp>
        <p:nvSpPr>
          <p:cNvPr id="5" name="text-35"/>
          <p:cNvSpPr txBox="1"/>
          <p:nvPr/>
        </p:nvSpPr>
        <p:spPr>
          <a:xfrm>
            <a:off x="640080" y="2194560"/>
            <a:ext cx="1508760" cy="731520"/>
          </a:xfrm>
          <a:prstGeom prst="rect">
            <a:avLst/>
          </a:prstGeom>
          <a:noFill/>
          <a:ln/>
        </p:spPr>
        <p:txBody>
          <a:bodyPr wrap="square" lIns="0" tIns="0" rIns="0" bIns="0" rtlCol="0" anchor="t"/>
          <a:lstStyle/>
          <a:p>
            <a:pPr marL="0" indent="0">
              <a:buNone/>
            </a:pPr>
            <a:r>
              <a:rPr lang="en-US" sz="1400" dirty="0">
                <a:solidFill>
                  <a:schemeClr val="tx1"/>
                </a:solidFill>
              </a:rPr>
              <a:t>Concurrent transactions at any moment</a:t>
            </a:r>
            <a:endParaRPr lang="en-US" sz="1400" dirty="0"/>
          </a:p>
        </p:txBody>
      </p:sp>
      <p:sp>
        <p:nvSpPr>
          <p:cNvPr id="6" name="shape-36"/>
          <p:cNvSpPr/>
          <p:nvPr/>
        </p:nvSpPr>
        <p:spPr>
          <a:xfrm>
            <a:off x="2587752" y="1280160"/>
            <a:ext cx="1828800" cy="1737360"/>
          </a:xfrm>
          <a:prstGeom prst="roundRect">
            <a:avLst>
              <a:gd name="adj" fmla="val 4211"/>
            </a:avLst>
          </a:prstGeom>
          <a:solidFill>
            <a:schemeClr val="bg2"/>
          </a:solidFill>
          <a:ln/>
        </p:spPr>
      </p:sp>
      <p:sp>
        <p:nvSpPr>
          <p:cNvPr id="7" name="text-37"/>
          <p:cNvSpPr txBox="1"/>
          <p:nvPr/>
        </p:nvSpPr>
        <p:spPr>
          <a:xfrm>
            <a:off x="2770632" y="1417320"/>
            <a:ext cx="1554480" cy="731520"/>
          </a:xfrm>
          <a:prstGeom prst="rect">
            <a:avLst/>
          </a:prstGeom>
          <a:noFill/>
          <a:ln/>
        </p:spPr>
        <p:txBody>
          <a:bodyPr wrap="square" lIns="0" tIns="0" rIns="0" bIns="0" rtlCol="0" anchor="ctr"/>
          <a:lstStyle/>
          <a:p>
            <a:pPr marL="0" indent="0">
              <a:buNone/>
            </a:pPr>
            <a:r>
              <a:rPr lang="en-US" sz="3600" b="1" dirty="0">
                <a:solidFill>
                  <a:schemeClr val="accent1"/>
                </a:solidFill>
              </a:rPr>
              <a:t>ACID</a:t>
            </a:r>
            <a:endParaRPr lang="en-US" sz="3600" dirty="0"/>
          </a:p>
        </p:txBody>
      </p:sp>
      <p:sp>
        <p:nvSpPr>
          <p:cNvPr id="8" name="text-38"/>
          <p:cNvSpPr txBox="1"/>
          <p:nvPr/>
        </p:nvSpPr>
        <p:spPr>
          <a:xfrm>
            <a:off x="2770632" y="2194560"/>
            <a:ext cx="1508760" cy="731520"/>
          </a:xfrm>
          <a:prstGeom prst="rect">
            <a:avLst/>
          </a:prstGeom>
          <a:noFill/>
          <a:ln/>
        </p:spPr>
        <p:txBody>
          <a:bodyPr wrap="square" lIns="0" tIns="0" rIns="0" bIns="0" rtlCol="0" anchor="t"/>
          <a:lstStyle/>
          <a:p>
            <a:pPr marL="0" indent="0">
              <a:buNone/>
            </a:pPr>
            <a:r>
              <a:rPr lang="en-US" sz="1400" dirty="0">
                <a:solidFill>
                  <a:schemeClr val="tx1"/>
                </a:solidFill>
              </a:rPr>
              <a:t>Atomic, consistent, isolated, durable</a:t>
            </a:r>
            <a:endParaRPr lang="en-US" sz="1400" dirty="0"/>
          </a:p>
        </p:txBody>
      </p:sp>
      <p:sp>
        <p:nvSpPr>
          <p:cNvPr id="9" name="shape-39"/>
          <p:cNvSpPr/>
          <p:nvPr/>
        </p:nvSpPr>
        <p:spPr>
          <a:xfrm>
            <a:off x="4718304" y="1280160"/>
            <a:ext cx="1828800" cy="1737360"/>
          </a:xfrm>
          <a:prstGeom prst="roundRect">
            <a:avLst>
              <a:gd name="adj" fmla="val 4211"/>
            </a:avLst>
          </a:prstGeom>
          <a:solidFill>
            <a:schemeClr val="bg2"/>
          </a:solidFill>
          <a:ln/>
        </p:spPr>
      </p:sp>
      <p:sp>
        <p:nvSpPr>
          <p:cNvPr id="10" name="text-40"/>
          <p:cNvSpPr txBox="1"/>
          <p:nvPr/>
        </p:nvSpPr>
        <p:spPr>
          <a:xfrm>
            <a:off x="4901184" y="1417320"/>
            <a:ext cx="1554480" cy="731520"/>
          </a:xfrm>
          <a:prstGeom prst="rect">
            <a:avLst/>
          </a:prstGeom>
          <a:noFill/>
          <a:ln/>
        </p:spPr>
        <p:txBody>
          <a:bodyPr wrap="square" lIns="0" tIns="0" rIns="0" bIns="0" rtlCol="0" anchor="ctr"/>
          <a:lstStyle/>
          <a:p>
            <a:pPr marL="0" indent="0">
              <a:buNone/>
            </a:pPr>
            <a:r>
              <a:rPr lang="en-US" sz="3600" b="1" dirty="0">
                <a:solidFill>
                  <a:schemeClr val="accent1"/>
                </a:solidFill>
              </a:rPr>
              <a:t>24×7</a:t>
            </a:r>
            <a:endParaRPr lang="en-US" sz="3600" dirty="0"/>
          </a:p>
        </p:txBody>
      </p:sp>
      <p:sp>
        <p:nvSpPr>
          <p:cNvPr id="11" name="text-41"/>
          <p:cNvSpPr txBox="1"/>
          <p:nvPr/>
        </p:nvSpPr>
        <p:spPr>
          <a:xfrm>
            <a:off x="4901184" y="2194560"/>
            <a:ext cx="1508760" cy="731520"/>
          </a:xfrm>
          <a:prstGeom prst="rect">
            <a:avLst/>
          </a:prstGeom>
          <a:noFill/>
          <a:ln/>
        </p:spPr>
        <p:txBody>
          <a:bodyPr wrap="square" lIns="0" tIns="0" rIns="0" bIns="0" rtlCol="0" anchor="t"/>
          <a:lstStyle/>
          <a:p>
            <a:pPr marL="0" indent="0">
              <a:buNone/>
            </a:pPr>
            <a:r>
              <a:rPr lang="en-US" sz="1400" dirty="0">
                <a:solidFill>
                  <a:schemeClr val="tx1"/>
                </a:solidFill>
              </a:rPr>
              <a:t>Always-on availability</a:t>
            </a:r>
            <a:endParaRPr lang="en-US" sz="1400" dirty="0"/>
          </a:p>
        </p:txBody>
      </p:sp>
      <p:sp>
        <p:nvSpPr>
          <p:cNvPr id="12" name="shape-42"/>
          <p:cNvSpPr/>
          <p:nvPr/>
        </p:nvSpPr>
        <p:spPr>
          <a:xfrm>
            <a:off x="6848856" y="1280160"/>
            <a:ext cx="1828800" cy="1737360"/>
          </a:xfrm>
          <a:prstGeom prst="roundRect">
            <a:avLst>
              <a:gd name="adj" fmla="val 4211"/>
            </a:avLst>
          </a:prstGeom>
          <a:solidFill>
            <a:schemeClr val="bg2"/>
          </a:solidFill>
          <a:ln/>
        </p:spPr>
      </p:sp>
      <p:sp>
        <p:nvSpPr>
          <p:cNvPr id="13" name="text-43"/>
          <p:cNvSpPr txBox="1"/>
          <p:nvPr/>
        </p:nvSpPr>
        <p:spPr>
          <a:xfrm>
            <a:off x="7031736" y="1417320"/>
            <a:ext cx="1554480" cy="731520"/>
          </a:xfrm>
          <a:prstGeom prst="rect">
            <a:avLst/>
          </a:prstGeom>
          <a:noFill/>
          <a:ln/>
        </p:spPr>
        <p:txBody>
          <a:bodyPr wrap="square" lIns="0" tIns="0" rIns="0" bIns="0" rtlCol="0" anchor="ctr"/>
          <a:lstStyle/>
          <a:p>
            <a:pPr marL="0" indent="0">
              <a:buNone/>
            </a:pPr>
            <a:r>
              <a:rPr lang="en-US" sz="3600" b="1" dirty="0">
                <a:solidFill>
                  <a:schemeClr val="accent1"/>
                </a:solidFill>
              </a:rPr>
              <a:t>Zero</a:t>
            </a:r>
            <a:endParaRPr lang="en-US" sz="3600" dirty="0"/>
          </a:p>
        </p:txBody>
      </p:sp>
      <p:sp>
        <p:nvSpPr>
          <p:cNvPr id="14" name="text-44"/>
          <p:cNvSpPr txBox="1"/>
          <p:nvPr/>
        </p:nvSpPr>
        <p:spPr>
          <a:xfrm>
            <a:off x="7031736" y="2194560"/>
            <a:ext cx="1508760" cy="731520"/>
          </a:xfrm>
          <a:prstGeom prst="rect">
            <a:avLst/>
          </a:prstGeom>
          <a:noFill/>
          <a:ln/>
        </p:spPr>
        <p:txBody>
          <a:bodyPr wrap="square" lIns="0" tIns="0" rIns="0" bIns="0" rtlCol="0" anchor="t"/>
          <a:lstStyle/>
          <a:p>
            <a:pPr marL="0" indent="0">
              <a:buNone/>
            </a:pPr>
            <a:r>
              <a:rPr lang="en-US" sz="1400" dirty="0">
                <a:solidFill>
                  <a:schemeClr val="tx1"/>
                </a:solidFill>
              </a:rPr>
              <a:t>Lost or duplicated transactions</a:t>
            </a:r>
            <a:endParaRPr lang="en-US" sz="1400" dirty="0"/>
          </a:p>
        </p:txBody>
      </p:sp>
      <p:sp>
        <p:nvSpPr>
          <p:cNvPr id="15" name="shape-45"/>
          <p:cNvSpPr/>
          <p:nvPr/>
        </p:nvSpPr>
        <p:spPr>
          <a:xfrm>
            <a:off x="457200" y="3291840"/>
            <a:ext cx="8229600" cy="1280160"/>
          </a:xfrm>
          <a:prstGeom prst="roundRect">
            <a:avLst>
              <a:gd name="adj" fmla="val 5714"/>
            </a:avLst>
          </a:prstGeom>
          <a:solidFill>
            <a:schemeClr val="tx2"/>
          </a:solidFill>
          <a:ln/>
        </p:spPr>
      </p:sp>
      <p:sp>
        <p:nvSpPr>
          <p:cNvPr id="16" name="text-46"/>
          <p:cNvSpPr txBox="1"/>
          <p:nvPr/>
        </p:nvSpPr>
        <p:spPr>
          <a:xfrm>
            <a:off x="731520" y="3429000"/>
            <a:ext cx="7680960" cy="1005840"/>
          </a:xfrm>
          <a:prstGeom prst="rect">
            <a:avLst/>
          </a:prstGeom>
          <a:noFill/>
          <a:ln/>
        </p:spPr>
        <p:txBody>
          <a:bodyPr wrap="square" lIns="0" tIns="0" rIns="0" bIns="0" rtlCol="0" anchor="ctr"/>
          <a:lstStyle/>
          <a:p>
            <a:pPr marL="0" indent="0">
              <a:spcAft>
                <a:spcPts val="400"/>
              </a:spcAft>
              <a:buNone/>
            </a:pPr>
            <a:r>
              <a:rPr lang="en-US" sz="1200" b="1" dirty="0">
                <a:solidFill>
                  <a:schemeClr val="accent2"/>
                </a:solidFill>
              </a:rPr>
              <a:t>PROBLEM STATEMENT</a:t>
            </a:r>
            <a:endParaRPr lang="en-US" sz="1200" dirty="0"/>
          </a:p>
          <a:p>
            <a:pPr marL="0" indent="0">
              <a:spcAft>
                <a:spcPts val="400"/>
              </a:spcAft>
              <a:buNone/>
            </a:pPr>
            <a:r>
              <a:rPr lang="en-US" sz="1600" dirty="0">
                <a:solidFill>
                  <a:schemeClr val="bg1"/>
                </a:solidFill>
              </a:rPr>
              <a:t>How can an OS serve thousands of users at once while keeping every transaction correct, secure and durable? We answer with the right OS type, OS structure and system calls.</a:t>
            </a:r>
            <a:endParaRPr lang="en-US" sz="1200" dirty="0"/>
          </a:p>
        </p:txBody>
      </p:sp>
      <p:sp>
        <p:nvSpPr>
          <p:cNvPr id="25" name="Slide Number Placeholder 0"/>
          <p:cNvSpPr>
            <a:spLocks noGrp="1"/>
          </p:cNvSpPr>
          <p:nvPr>
            <p:ph type="sldNum" sz="quarter" idx="4294967295"/>
          </p:nvPr>
        </p:nvSpPr>
        <p:spPr>
          <a:xfrm>
            <a:off x="8229600" y="4754880"/>
            <a:ext cx="457200" cy="274320"/>
          </a:xfrm>
          <a:prstGeom prst="rect">
            <a:avLst/>
          </a:prstGeom>
          <a:extLst>
            <a:ext uri="{C572A759-6A51-4108-AA02-DFA0A04FC94B}">
              <ma14:wrappingTextBoxFlag xmlns="" xmlns:ma14="http://schemas.microsoft.com/office/mac/drawingml/2011/main" val="0"/>
            </a:ext>
          </a:extLst>
        </p:spPr>
        <p:txBody>
          <a:bodyPr/>
          <a:lstStyle>
            <a:lvl1pPr>
              <a:defRPr sz="1000">
                <a:solidFill>
                  <a:schemeClr val="accent5"/>
                </a:solidFill>
              </a:defRPr>
            </a:lvl1pPr>
          </a:lstStyle>
          <a:p>
            <a:pPr algn="r"/>
            <a:fld id="{F7021451-1387-4CA6-816F-3879F97B5CBC}" type="slidenum">
              <a:rPr lang="en-US" b="0"/>
              <a:t>4</a:t>
            </a:fld>
            <a:endParaRPr 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457200" y="274320"/>
            <a:ext cx="8229600" cy="731520"/>
          </a:xfrm>
          <a:prstGeom prst="rect">
            <a:avLst/>
          </a:prstGeom>
          <a:noFill/>
          <a:ln/>
        </p:spPr>
        <p:txBody>
          <a:bodyPr wrap="square" lIns="0" tIns="0" rIns="0" bIns="0" rtlCol="0" anchor="ctr"/>
          <a:lstStyle/>
          <a:p>
            <a:pPr marL="0" indent="0" algn="l">
              <a:buNone/>
            </a:pPr>
            <a:r>
              <a:rPr lang="en-US" sz="3400" b="1" dirty="0">
                <a:solidFill>
                  <a:schemeClr val="tx2"/>
                </a:solidFill>
              </a:rPr>
              <a:t>What the OS Must Deliver</a:t>
            </a:r>
            <a:endParaRPr lang="en-US" sz="3400" dirty="0"/>
          </a:p>
        </p:txBody>
      </p:sp>
      <p:sp>
        <p:nvSpPr>
          <p:cNvPr id="3" name="shape-47"/>
          <p:cNvSpPr/>
          <p:nvPr/>
        </p:nvSpPr>
        <p:spPr>
          <a:xfrm>
            <a:off x="457200" y="1280160"/>
            <a:ext cx="2560320" cy="1463040"/>
          </a:xfrm>
          <a:prstGeom prst="roundRect">
            <a:avLst>
              <a:gd name="adj" fmla="val 5000"/>
            </a:avLst>
          </a:prstGeom>
          <a:solidFill>
            <a:schemeClr val="bg2"/>
          </a:solidFill>
          <a:ln/>
        </p:spPr>
      </p:sp>
      <p:sp>
        <p:nvSpPr>
          <p:cNvPr id="4" name="shape-48"/>
          <p:cNvSpPr/>
          <p:nvPr/>
        </p:nvSpPr>
        <p:spPr>
          <a:xfrm>
            <a:off x="640080" y="1444752"/>
            <a:ext cx="457200" cy="457200"/>
          </a:xfrm>
          <a:prstGeom prst="ellipse">
            <a:avLst/>
          </a:prstGeom>
          <a:solidFill>
            <a:schemeClr val="accent1"/>
          </a:solidFill>
          <a:ln/>
        </p:spPr>
      </p:sp>
      <p:pic>
        <p:nvPicPr>
          <p:cNvPr id="5" name="icon-49" descr="Concurrency icon"/>
          <p:cNvPicPr>
            <a:picLocks noChangeAspect="1"/>
          </p:cNvPicPr>
          <p:nvPr/>
        </p:nvPicPr>
        <p:blipFill>
          <a:blip r:embed="rId3"/>
          <a:stretch>
            <a:fillRect/>
          </a:stretch>
        </p:blipFill>
        <p:spPr>
          <a:xfrm>
            <a:off x="749808" y="1554480"/>
            <a:ext cx="237744" cy="237744"/>
          </a:xfrm>
          <a:prstGeom prst="rect">
            <a:avLst/>
          </a:prstGeom>
        </p:spPr>
      </p:pic>
      <p:sp>
        <p:nvSpPr>
          <p:cNvPr id="6" name="text-50"/>
          <p:cNvSpPr txBox="1"/>
          <p:nvPr/>
        </p:nvSpPr>
        <p:spPr>
          <a:xfrm>
            <a:off x="1234440" y="1444752"/>
            <a:ext cx="1691640" cy="457200"/>
          </a:xfrm>
          <a:prstGeom prst="rect">
            <a:avLst/>
          </a:prstGeom>
          <a:noFill/>
          <a:ln/>
        </p:spPr>
        <p:txBody>
          <a:bodyPr wrap="square" lIns="0" tIns="0" rIns="0" bIns="0" rtlCol="0" anchor="ctr"/>
          <a:lstStyle/>
          <a:p>
            <a:pPr marL="0" indent="0">
              <a:buNone/>
            </a:pPr>
            <a:r>
              <a:rPr lang="en-US" sz="1600" b="1" dirty="0">
                <a:solidFill>
                  <a:schemeClr val="tx2"/>
                </a:solidFill>
              </a:rPr>
              <a:t>Concurrency</a:t>
            </a:r>
            <a:endParaRPr lang="en-US" sz="1600" dirty="0"/>
          </a:p>
        </p:txBody>
      </p:sp>
      <p:sp>
        <p:nvSpPr>
          <p:cNvPr id="7" name="text-51"/>
          <p:cNvSpPr txBox="1"/>
          <p:nvPr/>
        </p:nvSpPr>
        <p:spPr>
          <a:xfrm>
            <a:off x="640080" y="2011680"/>
            <a:ext cx="2240280" cy="640080"/>
          </a:xfrm>
          <a:prstGeom prst="rect">
            <a:avLst/>
          </a:prstGeom>
          <a:noFill/>
          <a:ln/>
        </p:spPr>
        <p:txBody>
          <a:bodyPr wrap="square" lIns="0" tIns="0" rIns="0" bIns="0" rtlCol="0" anchor="t"/>
          <a:lstStyle/>
          <a:p>
            <a:pPr marL="0" indent="0">
              <a:buNone/>
            </a:pPr>
            <a:r>
              <a:rPr lang="en-US" sz="1400" dirty="0">
                <a:solidFill>
                  <a:schemeClr val="tx1"/>
                </a:solidFill>
              </a:rPr>
              <a:t>Schedule thousands of processes fairly</a:t>
            </a:r>
            <a:endParaRPr lang="en-US" sz="1400" dirty="0"/>
          </a:p>
        </p:txBody>
      </p:sp>
      <p:sp>
        <p:nvSpPr>
          <p:cNvPr id="8" name="shape-52"/>
          <p:cNvSpPr/>
          <p:nvPr/>
        </p:nvSpPr>
        <p:spPr>
          <a:xfrm>
            <a:off x="3291840" y="1280160"/>
            <a:ext cx="2560320" cy="1463040"/>
          </a:xfrm>
          <a:prstGeom prst="roundRect">
            <a:avLst>
              <a:gd name="adj" fmla="val 5000"/>
            </a:avLst>
          </a:prstGeom>
          <a:solidFill>
            <a:schemeClr val="bg2"/>
          </a:solidFill>
          <a:ln/>
        </p:spPr>
      </p:sp>
      <p:sp>
        <p:nvSpPr>
          <p:cNvPr id="9" name="shape-53"/>
          <p:cNvSpPr/>
          <p:nvPr/>
        </p:nvSpPr>
        <p:spPr>
          <a:xfrm>
            <a:off x="3474720" y="1444752"/>
            <a:ext cx="457200" cy="457200"/>
          </a:xfrm>
          <a:prstGeom prst="ellipse">
            <a:avLst/>
          </a:prstGeom>
          <a:solidFill>
            <a:schemeClr val="accent1"/>
          </a:solidFill>
          <a:ln/>
        </p:spPr>
      </p:sp>
      <p:pic>
        <p:nvPicPr>
          <p:cNvPr id="10" name="icon-54" descr="Data integrity icon"/>
          <p:cNvPicPr>
            <a:picLocks noChangeAspect="1"/>
          </p:cNvPicPr>
          <p:nvPr/>
        </p:nvPicPr>
        <p:blipFill>
          <a:blip r:embed="rId4"/>
          <a:stretch>
            <a:fillRect/>
          </a:stretch>
        </p:blipFill>
        <p:spPr>
          <a:xfrm>
            <a:off x="3584448" y="1554480"/>
            <a:ext cx="237744" cy="237744"/>
          </a:xfrm>
          <a:prstGeom prst="rect">
            <a:avLst/>
          </a:prstGeom>
        </p:spPr>
      </p:pic>
      <p:sp>
        <p:nvSpPr>
          <p:cNvPr id="11" name="text-55"/>
          <p:cNvSpPr txBox="1"/>
          <p:nvPr/>
        </p:nvSpPr>
        <p:spPr>
          <a:xfrm>
            <a:off x="4069080" y="1444752"/>
            <a:ext cx="1691640" cy="457200"/>
          </a:xfrm>
          <a:prstGeom prst="rect">
            <a:avLst/>
          </a:prstGeom>
          <a:noFill/>
          <a:ln/>
        </p:spPr>
        <p:txBody>
          <a:bodyPr wrap="square" lIns="0" tIns="0" rIns="0" bIns="0" rtlCol="0" anchor="ctr"/>
          <a:lstStyle/>
          <a:p>
            <a:pPr marL="0" indent="0">
              <a:buNone/>
            </a:pPr>
            <a:r>
              <a:rPr lang="en-US" sz="1600" b="1" dirty="0">
                <a:solidFill>
                  <a:schemeClr val="tx2"/>
                </a:solidFill>
              </a:rPr>
              <a:t>Data integrity</a:t>
            </a:r>
            <a:endParaRPr lang="en-US" sz="1600" dirty="0"/>
          </a:p>
        </p:txBody>
      </p:sp>
      <p:sp>
        <p:nvSpPr>
          <p:cNvPr id="12" name="text-56"/>
          <p:cNvSpPr txBox="1"/>
          <p:nvPr/>
        </p:nvSpPr>
        <p:spPr>
          <a:xfrm>
            <a:off x="3474720" y="2011680"/>
            <a:ext cx="2240280" cy="640080"/>
          </a:xfrm>
          <a:prstGeom prst="rect">
            <a:avLst/>
          </a:prstGeom>
          <a:noFill/>
          <a:ln/>
        </p:spPr>
        <p:txBody>
          <a:bodyPr wrap="square" lIns="0" tIns="0" rIns="0" bIns="0" rtlCol="0" anchor="t"/>
          <a:lstStyle/>
          <a:p>
            <a:pPr marL="0" indent="0">
              <a:buNone/>
            </a:pPr>
            <a:r>
              <a:rPr lang="en-US" sz="1400" dirty="0">
                <a:solidFill>
                  <a:schemeClr val="tx1"/>
                </a:solidFill>
              </a:rPr>
              <a:t>Keep every balance correct and consistent</a:t>
            </a:r>
            <a:endParaRPr lang="en-US" sz="1400" dirty="0"/>
          </a:p>
        </p:txBody>
      </p:sp>
      <p:sp>
        <p:nvSpPr>
          <p:cNvPr id="13" name="shape-57"/>
          <p:cNvSpPr/>
          <p:nvPr/>
        </p:nvSpPr>
        <p:spPr>
          <a:xfrm>
            <a:off x="6126480" y="1280160"/>
            <a:ext cx="2560320" cy="1463040"/>
          </a:xfrm>
          <a:prstGeom prst="roundRect">
            <a:avLst>
              <a:gd name="adj" fmla="val 5000"/>
            </a:avLst>
          </a:prstGeom>
          <a:solidFill>
            <a:schemeClr val="bg2"/>
          </a:solidFill>
          <a:ln/>
        </p:spPr>
      </p:sp>
      <p:sp>
        <p:nvSpPr>
          <p:cNvPr id="14" name="shape-58"/>
          <p:cNvSpPr/>
          <p:nvPr/>
        </p:nvSpPr>
        <p:spPr>
          <a:xfrm>
            <a:off x="6309360" y="1444752"/>
            <a:ext cx="457200" cy="457200"/>
          </a:xfrm>
          <a:prstGeom prst="ellipse">
            <a:avLst/>
          </a:prstGeom>
          <a:solidFill>
            <a:schemeClr val="accent1"/>
          </a:solidFill>
          <a:ln/>
        </p:spPr>
      </p:sp>
      <p:pic>
        <p:nvPicPr>
          <p:cNvPr id="15" name="icon-59" descr="Security icon"/>
          <p:cNvPicPr>
            <a:picLocks noChangeAspect="1"/>
          </p:cNvPicPr>
          <p:nvPr/>
        </p:nvPicPr>
        <p:blipFill>
          <a:blip r:embed="rId5"/>
          <a:stretch>
            <a:fillRect/>
          </a:stretch>
        </p:blipFill>
        <p:spPr>
          <a:xfrm>
            <a:off x="6419088" y="1554480"/>
            <a:ext cx="237744" cy="237744"/>
          </a:xfrm>
          <a:prstGeom prst="rect">
            <a:avLst/>
          </a:prstGeom>
        </p:spPr>
      </p:pic>
      <p:sp>
        <p:nvSpPr>
          <p:cNvPr id="16" name="text-60"/>
          <p:cNvSpPr txBox="1"/>
          <p:nvPr/>
        </p:nvSpPr>
        <p:spPr>
          <a:xfrm>
            <a:off x="6903720" y="1444752"/>
            <a:ext cx="1691640" cy="457200"/>
          </a:xfrm>
          <a:prstGeom prst="rect">
            <a:avLst/>
          </a:prstGeom>
          <a:noFill/>
          <a:ln/>
        </p:spPr>
        <p:txBody>
          <a:bodyPr wrap="square" lIns="0" tIns="0" rIns="0" bIns="0" rtlCol="0" anchor="ctr"/>
          <a:lstStyle/>
          <a:p>
            <a:pPr marL="0" indent="0">
              <a:buNone/>
            </a:pPr>
            <a:r>
              <a:rPr lang="en-US" sz="1600" b="1" dirty="0">
                <a:solidFill>
                  <a:schemeClr val="tx2"/>
                </a:solidFill>
              </a:rPr>
              <a:t>Security</a:t>
            </a:r>
            <a:endParaRPr lang="en-US" sz="1600" dirty="0"/>
          </a:p>
        </p:txBody>
      </p:sp>
      <p:sp>
        <p:nvSpPr>
          <p:cNvPr id="17" name="text-61"/>
          <p:cNvSpPr txBox="1"/>
          <p:nvPr/>
        </p:nvSpPr>
        <p:spPr>
          <a:xfrm>
            <a:off x="6309360" y="2011680"/>
            <a:ext cx="2240280" cy="640080"/>
          </a:xfrm>
          <a:prstGeom prst="rect">
            <a:avLst/>
          </a:prstGeom>
          <a:noFill/>
          <a:ln/>
        </p:spPr>
        <p:txBody>
          <a:bodyPr wrap="square" lIns="0" tIns="0" rIns="0" bIns="0" rtlCol="0" anchor="t"/>
          <a:lstStyle/>
          <a:p>
            <a:pPr marL="0" indent="0">
              <a:buNone/>
            </a:pPr>
            <a:r>
              <a:rPr lang="en-US" sz="1400" dirty="0">
                <a:solidFill>
                  <a:schemeClr val="tx1"/>
                </a:solidFill>
              </a:rPr>
              <a:t>Authenticate users, protect account data</a:t>
            </a:r>
            <a:endParaRPr lang="en-US" sz="1400" dirty="0"/>
          </a:p>
        </p:txBody>
      </p:sp>
      <p:sp>
        <p:nvSpPr>
          <p:cNvPr id="18" name="shape-62"/>
          <p:cNvSpPr/>
          <p:nvPr/>
        </p:nvSpPr>
        <p:spPr>
          <a:xfrm>
            <a:off x="457200" y="2926080"/>
            <a:ext cx="2560320" cy="1463040"/>
          </a:xfrm>
          <a:prstGeom prst="roundRect">
            <a:avLst>
              <a:gd name="adj" fmla="val 5000"/>
            </a:avLst>
          </a:prstGeom>
          <a:solidFill>
            <a:schemeClr val="bg2"/>
          </a:solidFill>
          <a:ln/>
        </p:spPr>
      </p:sp>
      <p:sp>
        <p:nvSpPr>
          <p:cNvPr id="19" name="shape-63"/>
          <p:cNvSpPr/>
          <p:nvPr/>
        </p:nvSpPr>
        <p:spPr>
          <a:xfrm>
            <a:off x="640080" y="3090672"/>
            <a:ext cx="457200" cy="457200"/>
          </a:xfrm>
          <a:prstGeom prst="ellipse">
            <a:avLst/>
          </a:prstGeom>
          <a:solidFill>
            <a:schemeClr val="accent1"/>
          </a:solidFill>
          <a:ln/>
        </p:spPr>
      </p:sp>
      <p:pic>
        <p:nvPicPr>
          <p:cNvPr id="20" name="icon-64" descr="Performance icon"/>
          <p:cNvPicPr>
            <a:picLocks noChangeAspect="1"/>
          </p:cNvPicPr>
          <p:nvPr/>
        </p:nvPicPr>
        <p:blipFill>
          <a:blip r:embed="rId6"/>
          <a:stretch>
            <a:fillRect/>
          </a:stretch>
        </p:blipFill>
        <p:spPr>
          <a:xfrm>
            <a:off x="749808" y="3200400"/>
            <a:ext cx="237744" cy="237744"/>
          </a:xfrm>
          <a:prstGeom prst="rect">
            <a:avLst/>
          </a:prstGeom>
        </p:spPr>
      </p:pic>
      <p:sp>
        <p:nvSpPr>
          <p:cNvPr id="21" name="text-65"/>
          <p:cNvSpPr txBox="1"/>
          <p:nvPr/>
        </p:nvSpPr>
        <p:spPr>
          <a:xfrm>
            <a:off x="1234440" y="3090672"/>
            <a:ext cx="1691640" cy="457200"/>
          </a:xfrm>
          <a:prstGeom prst="rect">
            <a:avLst/>
          </a:prstGeom>
          <a:noFill/>
          <a:ln/>
        </p:spPr>
        <p:txBody>
          <a:bodyPr wrap="square" lIns="0" tIns="0" rIns="0" bIns="0" rtlCol="0" anchor="ctr"/>
          <a:lstStyle/>
          <a:p>
            <a:pPr marL="0" indent="0">
              <a:buNone/>
            </a:pPr>
            <a:r>
              <a:rPr lang="en-US" sz="1600" b="1" dirty="0">
                <a:solidFill>
                  <a:schemeClr val="tx2"/>
                </a:solidFill>
              </a:rPr>
              <a:t>Performance</a:t>
            </a:r>
            <a:endParaRPr lang="en-US" sz="1600" dirty="0"/>
          </a:p>
        </p:txBody>
      </p:sp>
      <p:sp>
        <p:nvSpPr>
          <p:cNvPr id="22" name="text-66"/>
          <p:cNvSpPr txBox="1"/>
          <p:nvPr/>
        </p:nvSpPr>
        <p:spPr>
          <a:xfrm>
            <a:off x="640080" y="3657600"/>
            <a:ext cx="2240280" cy="640080"/>
          </a:xfrm>
          <a:prstGeom prst="rect">
            <a:avLst/>
          </a:prstGeom>
          <a:noFill/>
          <a:ln/>
        </p:spPr>
        <p:txBody>
          <a:bodyPr wrap="square" lIns="0" tIns="0" rIns="0" bIns="0" rtlCol="0" anchor="t"/>
          <a:lstStyle/>
          <a:p>
            <a:pPr marL="0" indent="0">
              <a:buNone/>
            </a:pPr>
            <a:r>
              <a:rPr lang="en-US" sz="1400" dirty="0">
                <a:solidFill>
                  <a:schemeClr val="tx1"/>
                </a:solidFill>
              </a:rPr>
              <a:t>Fast response even under heavy load</a:t>
            </a:r>
            <a:endParaRPr lang="en-US" sz="1400" dirty="0"/>
          </a:p>
        </p:txBody>
      </p:sp>
      <p:sp>
        <p:nvSpPr>
          <p:cNvPr id="23" name="shape-67"/>
          <p:cNvSpPr/>
          <p:nvPr/>
        </p:nvSpPr>
        <p:spPr>
          <a:xfrm>
            <a:off x="3291840" y="2926080"/>
            <a:ext cx="2560320" cy="1463040"/>
          </a:xfrm>
          <a:prstGeom prst="roundRect">
            <a:avLst>
              <a:gd name="adj" fmla="val 5000"/>
            </a:avLst>
          </a:prstGeom>
          <a:solidFill>
            <a:schemeClr val="bg2"/>
          </a:solidFill>
          <a:ln/>
        </p:spPr>
      </p:sp>
      <p:sp>
        <p:nvSpPr>
          <p:cNvPr id="24" name="shape-68"/>
          <p:cNvSpPr/>
          <p:nvPr/>
        </p:nvSpPr>
        <p:spPr>
          <a:xfrm>
            <a:off x="3474720" y="3090672"/>
            <a:ext cx="457200" cy="457200"/>
          </a:xfrm>
          <a:prstGeom prst="ellipse">
            <a:avLst/>
          </a:prstGeom>
          <a:solidFill>
            <a:schemeClr val="accent1"/>
          </a:solidFill>
          <a:ln/>
        </p:spPr>
      </p:sp>
      <p:pic>
        <p:nvPicPr>
          <p:cNvPr id="25" name="icon-69" descr="Reliability icon"/>
          <p:cNvPicPr>
            <a:picLocks noChangeAspect="1"/>
          </p:cNvPicPr>
          <p:nvPr/>
        </p:nvPicPr>
        <p:blipFill>
          <a:blip r:embed="rId7"/>
          <a:stretch>
            <a:fillRect/>
          </a:stretch>
        </p:blipFill>
        <p:spPr>
          <a:xfrm>
            <a:off x="3584448" y="3200400"/>
            <a:ext cx="237744" cy="237744"/>
          </a:xfrm>
          <a:prstGeom prst="rect">
            <a:avLst/>
          </a:prstGeom>
        </p:spPr>
      </p:pic>
      <p:sp>
        <p:nvSpPr>
          <p:cNvPr id="26" name="text-70"/>
          <p:cNvSpPr txBox="1"/>
          <p:nvPr/>
        </p:nvSpPr>
        <p:spPr>
          <a:xfrm>
            <a:off x="4069080" y="3090672"/>
            <a:ext cx="1691640" cy="457200"/>
          </a:xfrm>
          <a:prstGeom prst="rect">
            <a:avLst/>
          </a:prstGeom>
          <a:noFill/>
          <a:ln/>
        </p:spPr>
        <p:txBody>
          <a:bodyPr wrap="square" lIns="0" tIns="0" rIns="0" bIns="0" rtlCol="0" anchor="ctr"/>
          <a:lstStyle/>
          <a:p>
            <a:pPr marL="0" indent="0">
              <a:buNone/>
            </a:pPr>
            <a:r>
              <a:rPr lang="en-US" sz="1600" b="1" dirty="0">
                <a:solidFill>
                  <a:schemeClr val="tx2"/>
                </a:solidFill>
              </a:rPr>
              <a:t>Reliability</a:t>
            </a:r>
            <a:endParaRPr lang="en-US" sz="1600" dirty="0"/>
          </a:p>
        </p:txBody>
      </p:sp>
      <p:sp>
        <p:nvSpPr>
          <p:cNvPr id="27" name="text-71"/>
          <p:cNvSpPr txBox="1"/>
          <p:nvPr/>
        </p:nvSpPr>
        <p:spPr>
          <a:xfrm>
            <a:off x="3474720" y="3657600"/>
            <a:ext cx="2240280" cy="640080"/>
          </a:xfrm>
          <a:prstGeom prst="rect">
            <a:avLst/>
          </a:prstGeom>
          <a:noFill/>
          <a:ln/>
        </p:spPr>
        <p:txBody>
          <a:bodyPr wrap="square" lIns="0" tIns="0" rIns="0" bIns="0" rtlCol="0" anchor="t"/>
          <a:lstStyle/>
          <a:p>
            <a:pPr marL="0" indent="0">
              <a:buNone/>
            </a:pPr>
            <a:r>
              <a:rPr lang="en-US" sz="1400" dirty="0">
                <a:solidFill>
                  <a:schemeClr val="tx1"/>
                </a:solidFill>
              </a:rPr>
              <a:t>Recover from crashes with no data loss</a:t>
            </a:r>
            <a:endParaRPr lang="en-US" sz="1400" dirty="0"/>
          </a:p>
        </p:txBody>
      </p:sp>
      <p:sp>
        <p:nvSpPr>
          <p:cNvPr id="28" name="shape-72"/>
          <p:cNvSpPr/>
          <p:nvPr/>
        </p:nvSpPr>
        <p:spPr>
          <a:xfrm>
            <a:off x="6126480" y="2926080"/>
            <a:ext cx="2560320" cy="1463040"/>
          </a:xfrm>
          <a:prstGeom prst="roundRect">
            <a:avLst>
              <a:gd name="adj" fmla="val 5000"/>
            </a:avLst>
          </a:prstGeom>
          <a:solidFill>
            <a:schemeClr val="bg2"/>
          </a:solidFill>
          <a:ln/>
        </p:spPr>
      </p:sp>
      <p:sp>
        <p:nvSpPr>
          <p:cNvPr id="29" name="shape-73"/>
          <p:cNvSpPr/>
          <p:nvPr/>
        </p:nvSpPr>
        <p:spPr>
          <a:xfrm>
            <a:off x="6309360" y="3090672"/>
            <a:ext cx="457200" cy="457200"/>
          </a:xfrm>
          <a:prstGeom prst="ellipse">
            <a:avLst/>
          </a:prstGeom>
          <a:solidFill>
            <a:schemeClr val="accent1"/>
          </a:solidFill>
          <a:ln/>
        </p:spPr>
      </p:sp>
      <p:pic>
        <p:nvPicPr>
          <p:cNvPr id="30" name="icon-74" descr="Resource sharing icon"/>
          <p:cNvPicPr>
            <a:picLocks noChangeAspect="1"/>
          </p:cNvPicPr>
          <p:nvPr/>
        </p:nvPicPr>
        <p:blipFill>
          <a:blip r:embed="rId8"/>
          <a:stretch>
            <a:fillRect/>
          </a:stretch>
        </p:blipFill>
        <p:spPr>
          <a:xfrm>
            <a:off x="6419088" y="3200400"/>
            <a:ext cx="237744" cy="237744"/>
          </a:xfrm>
          <a:prstGeom prst="rect">
            <a:avLst/>
          </a:prstGeom>
        </p:spPr>
      </p:pic>
      <p:sp>
        <p:nvSpPr>
          <p:cNvPr id="31" name="text-75"/>
          <p:cNvSpPr txBox="1"/>
          <p:nvPr/>
        </p:nvSpPr>
        <p:spPr>
          <a:xfrm>
            <a:off x="6903720" y="3090672"/>
            <a:ext cx="1691640" cy="457200"/>
          </a:xfrm>
          <a:prstGeom prst="rect">
            <a:avLst/>
          </a:prstGeom>
          <a:noFill/>
          <a:ln/>
        </p:spPr>
        <p:txBody>
          <a:bodyPr wrap="square" lIns="0" tIns="0" rIns="0" bIns="0" rtlCol="0" anchor="ctr"/>
          <a:lstStyle/>
          <a:p>
            <a:pPr marL="0" indent="0">
              <a:buNone/>
            </a:pPr>
            <a:r>
              <a:rPr lang="en-US" sz="1600" b="1" dirty="0">
                <a:solidFill>
                  <a:schemeClr val="tx2"/>
                </a:solidFill>
              </a:rPr>
              <a:t>Resource sharing</a:t>
            </a:r>
            <a:endParaRPr lang="en-US" sz="1600" dirty="0"/>
          </a:p>
        </p:txBody>
      </p:sp>
      <p:sp>
        <p:nvSpPr>
          <p:cNvPr id="32" name="text-76"/>
          <p:cNvSpPr txBox="1"/>
          <p:nvPr/>
        </p:nvSpPr>
        <p:spPr>
          <a:xfrm>
            <a:off x="6309360" y="3657600"/>
            <a:ext cx="2240280" cy="640080"/>
          </a:xfrm>
          <a:prstGeom prst="rect">
            <a:avLst/>
          </a:prstGeom>
          <a:noFill/>
          <a:ln/>
        </p:spPr>
        <p:txBody>
          <a:bodyPr wrap="square" lIns="0" tIns="0" rIns="0" bIns="0" rtlCol="0" anchor="t"/>
          <a:lstStyle/>
          <a:p>
            <a:pPr marL="0" indent="0">
              <a:buNone/>
            </a:pPr>
            <a:r>
              <a:rPr lang="en-US" sz="1400" dirty="0">
                <a:solidFill>
                  <a:schemeClr val="tx1"/>
                </a:solidFill>
              </a:rPr>
              <a:t>Share CPU, memory, disks and network safely</a:t>
            </a:r>
            <a:endParaRPr lang="en-US" sz="1400" dirty="0"/>
          </a:p>
        </p:txBody>
      </p:sp>
      <p:sp>
        <p:nvSpPr>
          <p:cNvPr id="33" name="Slide Number Placeholder 0"/>
          <p:cNvSpPr>
            <a:spLocks noGrp="1"/>
          </p:cNvSpPr>
          <p:nvPr>
            <p:ph type="sldNum" sz="quarter" idx="4294967295"/>
          </p:nvPr>
        </p:nvSpPr>
        <p:spPr>
          <a:xfrm>
            <a:off x="8229600" y="4754880"/>
            <a:ext cx="457200" cy="274320"/>
          </a:xfrm>
          <a:prstGeom prst="rect">
            <a:avLst/>
          </a:prstGeom>
          <a:extLst>
            <a:ext uri="{C572A759-6A51-4108-AA02-DFA0A04FC94B}">
              <ma14:wrappingTextBoxFlag xmlns="" xmlns:ma14="http://schemas.microsoft.com/office/mac/drawingml/2011/main" val="0"/>
            </a:ext>
          </a:extLst>
        </p:spPr>
        <p:txBody>
          <a:bodyPr/>
          <a:lstStyle>
            <a:lvl1pPr>
              <a:defRPr sz="1000">
                <a:solidFill>
                  <a:schemeClr val="accent5"/>
                </a:solidFill>
              </a:defRPr>
            </a:lvl1pPr>
          </a:lstStyle>
          <a:p>
            <a:pPr algn="r"/>
            <a:fld id="{F7021451-1387-4CA6-816F-3879F97B5CBC}" type="slidenum">
              <a:rPr lang="en-US" b="0"/>
              <a:t>5</a:t>
            </a:fld>
            <a:endParaRPr 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457200" y="274320"/>
            <a:ext cx="8229600" cy="731520"/>
          </a:xfrm>
          <a:prstGeom prst="rect">
            <a:avLst/>
          </a:prstGeom>
          <a:noFill/>
          <a:ln/>
        </p:spPr>
        <p:txBody>
          <a:bodyPr wrap="square" lIns="0" tIns="0" rIns="0" bIns="0" rtlCol="0" anchor="ctr"/>
          <a:lstStyle/>
          <a:p>
            <a:pPr marL="0" indent="0" algn="l">
              <a:buNone/>
            </a:pPr>
            <a:r>
              <a:rPr lang="en-US" sz="3400" b="1" dirty="0">
                <a:solidFill>
                  <a:schemeClr val="tx2"/>
                </a:solidFill>
              </a:rPr>
              <a:t>OS Fundamentals</a:t>
            </a:r>
            <a:endParaRPr lang="en-US" sz="3400" dirty="0"/>
          </a:p>
        </p:txBody>
      </p:sp>
      <p:sp>
        <p:nvSpPr>
          <p:cNvPr id="3" name="shape-77"/>
          <p:cNvSpPr/>
          <p:nvPr/>
        </p:nvSpPr>
        <p:spPr>
          <a:xfrm>
            <a:off x="457200" y="1234440"/>
            <a:ext cx="3017520" cy="3291840"/>
          </a:xfrm>
          <a:prstGeom prst="roundRect">
            <a:avLst>
              <a:gd name="adj" fmla="val 2424"/>
            </a:avLst>
          </a:prstGeom>
          <a:solidFill>
            <a:schemeClr val="tx2"/>
          </a:solidFill>
          <a:ln/>
        </p:spPr>
      </p:sp>
      <p:sp>
        <p:nvSpPr>
          <p:cNvPr id="4" name="text-78"/>
          <p:cNvSpPr txBox="1"/>
          <p:nvPr/>
        </p:nvSpPr>
        <p:spPr>
          <a:xfrm>
            <a:off x="685800" y="1417320"/>
            <a:ext cx="2560320" cy="2926080"/>
          </a:xfrm>
          <a:prstGeom prst="rect">
            <a:avLst/>
          </a:prstGeom>
          <a:noFill/>
          <a:ln/>
        </p:spPr>
        <p:txBody>
          <a:bodyPr wrap="square" lIns="0" tIns="0" rIns="0" bIns="0" rtlCol="0" anchor="t"/>
          <a:lstStyle/>
          <a:p>
            <a:pPr marL="0" indent="0">
              <a:spcAft>
                <a:spcPts val="800"/>
              </a:spcAft>
              <a:buNone/>
            </a:pPr>
            <a:r>
              <a:rPr lang="en-US" sz="1200" b="1" dirty="0">
                <a:solidFill>
                  <a:schemeClr val="accent2"/>
                </a:solidFill>
              </a:rPr>
              <a:t>WHAT IS AN OS?</a:t>
            </a:r>
            <a:endParaRPr lang="en-US" sz="1200" dirty="0"/>
          </a:p>
          <a:p>
            <a:pPr marL="0" indent="0">
              <a:buNone/>
            </a:pPr>
            <a:r>
              <a:rPr lang="en-US" sz="1600" dirty="0">
                <a:solidFill>
                  <a:schemeClr val="bg1"/>
                </a:solidFill>
              </a:rPr>
              <a:t>System software that sits between applications and hardware. It shares resources among many programs and stops them from interfering with each other.</a:t>
            </a:r>
            <a:endParaRPr lang="en-US" sz="1200" dirty="0"/>
          </a:p>
        </p:txBody>
      </p:sp>
      <p:sp>
        <p:nvSpPr>
          <p:cNvPr id="5" name="shape-79"/>
          <p:cNvSpPr/>
          <p:nvPr/>
        </p:nvSpPr>
        <p:spPr>
          <a:xfrm>
            <a:off x="3703320" y="1234440"/>
            <a:ext cx="2377440" cy="1554480"/>
          </a:xfrm>
          <a:prstGeom prst="roundRect">
            <a:avLst>
              <a:gd name="adj" fmla="val 4706"/>
            </a:avLst>
          </a:prstGeom>
          <a:solidFill>
            <a:schemeClr val="bg2"/>
          </a:solidFill>
          <a:ln/>
        </p:spPr>
      </p:sp>
      <p:sp>
        <p:nvSpPr>
          <p:cNvPr id="6" name="text-80"/>
          <p:cNvSpPr txBox="1"/>
          <p:nvPr/>
        </p:nvSpPr>
        <p:spPr>
          <a:xfrm>
            <a:off x="3886200" y="1371600"/>
            <a:ext cx="2011680" cy="1280160"/>
          </a:xfrm>
          <a:prstGeom prst="rect">
            <a:avLst/>
          </a:prstGeom>
          <a:noFill/>
          <a:ln/>
        </p:spPr>
        <p:txBody>
          <a:bodyPr wrap="square" lIns="0" tIns="0" rIns="0" bIns="0" rtlCol="0" anchor="t"/>
          <a:lstStyle/>
          <a:p>
            <a:pPr marL="0" indent="0">
              <a:spcAft>
                <a:spcPts val="400"/>
              </a:spcAft>
              <a:buNone/>
            </a:pPr>
            <a:r>
              <a:rPr lang="en-US" sz="1600" b="1" dirty="0">
                <a:solidFill>
                  <a:schemeClr val="accent1"/>
                </a:solidFill>
              </a:rPr>
              <a:t>Kernel</a:t>
            </a:r>
            <a:endParaRPr lang="en-US" sz="1600" dirty="0"/>
          </a:p>
          <a:p>
            <a:pPr marL="0" indent="0">
              <a:buNone/>
            </a:pPr>
            <a:r>
              <a:rPr lang="en-US" sz="1400" dirty="0">
                <a:solidFill>
                  <a:schemeClr val="tx1"/>
                </a:solidFill>
              </a:rPr>
              <a:t>Core of the OS, with full control of the hardware</a:t>
            </a:r>
            <a:endParaRPr lang="en-US" sz="1600" dirty="0"/>
          </a:p>
        </p:txBody>
      </p:sp>
      <p:sp>
        <p:nvSpPr>
          <p:cNvPr id="7" name="shape-81"/>
          <p:cNvSpPr/>
          <p:nvPr/>
        </p:nvSpPr>
        <p:spPr>
          <a:xfrm>
            <a:off x="6309360" y="1234440"/>
            <a:ext cx="2377440" cy="1554480"/>
          </a:xfrm>
          <a:prstGeom prst="roundRect">
            <a:avLst>
              <a:gd name="adj" fmla="val 4706"/>
            </a:avLst>
          </a:prstGeom>
          <a:solidFill>
            <a:schemeClr val="bg2"/>
          </a:solidFill>
          <a:ln/>
        </p:spPr>
      </p:sp>
      <p:sp>
        <p:nvSpPr>
          <p:cNvPr id="8" name="text-82"/>
          <p:cNvSpPr txBox="1"/>
          <p:nvPr/>
        </p:nvSpPr>
        <p:spPr>
          <a:xfrm>
            <a:off x="6492240" y="1371600"/>
            <a:ext cx="2011680" cy="1280160"/>
          </a:xfrm>
          <a:prstGeom prst="rect">
            <a:avLst/>
          </a:prstGeom>
          <a:noFill/>
          <a:ln/>
        </p:spPr>
        <p:txBody>
          <a:bodyPr wrap="square" lIns="0" tIns="0" rIns="0" bIns="0" rtlCol="0" anchor="t"/>
          <a:lstStyle/>
          <a:p>
            <a:pPr marL="0" indent="0">
              <a:spcAft>
                <a:spcPts val="400"/>
              </a:spcAft>
              <a:buNone/>
            </a:pPr>
            <a:r>
              <a:rPr lang="en-US" sz="1600" b="1" dirty="0">
                <a:solidFill>
                  <a:schemeClr val="accent1"/>
                </a:solidFill>
              </a:rPr>
              <a:t>User and kernel mode</a:t>
            </a:r>
            <a:endParaRPr lang="en-US" sz="1600" dirty="0"/>
          </a:p>
          <a:p>
            <a:pPr marL="0" indent="0">
              <a:buNone/>
            </a:pPr>
            <a:r>
              <a:rPr lang="en-US" sz="1400" dirty="0">
                <a:solidFill>
                  <a:schemeClr val="tx1"/>
                </a:solidFill>
              </a:rPr>
              <a:t>Apps run restricted; the kernel runs privileged</a:t>
            </a:r>
            <a:endParaRPr lang="en-US" sz="1600" dirty="0"/>
          </a:p>
        </p:txBody>
      </p:sp>
      <p:sp>
        <p:nvSpPr>
          <p:cNvPr id="9" name="shape-83"/>
          <p:cNvSpPr/>
          <p:nvPr/>
        </p:nvSpPr>
        <p:spPr>
          <a:xfrm>
            <a:off x="3703320" y="2971800"/>
            <a:ext cx="2377440" cy="1554480"/>
          </a:xfrm>
          <a:prstGeom prst="roundRect">
            <a:avLst>
              <a:gd name="adj" fmla="val 4706"/>
            </a:avLst>
          </a:prstGeom>
          <a:solidFill>
            <a:schemeClr val="bg2"/>
          </a:solidFill>
          <a:ln/>
        </p:spPr>
      </p:sp>
      <p:sp>
        <p:nvSpPr>
          <p:cNvPr id="10" name="text-84"/>
          <p:cNvSpPr txBox="1"/>
          <p:nvPr/>
        </p:nvSpPr>
        <p:spPr>
          <a:xfrm>
            <a:off x="3886200" y="3108960"/>
            <a:ext cx="2011680" cy="1280160"/>
          </a:xfrm>
          <a:prstGeom prst="rect">
            <a:avLst/>
          </a:prstGeom>
          <a:noFill/>
          <a:ln/>
        </p:spPr>
        <p:txBody>
          <a:bodyPr wrap="square" lIns="0" tIns="0" rIns="0" bIns="0" rtlCol="0" anchor="t"/>
          <a:lstStyle/>
          <a:p>
            <a:pPr marL="0" indent="0">
              <a:spcAft>
                <a:spcPts val="400"/>
              </a:spcAft>
              <a:buNone/>
            </a:pPr>
            <a:r>
              <a:rPr lang="en-US" sz="1600" b="1" dirty="0">
                <a:solidFill>
                  <a:schemeClr val="accent1"/>
                </a:solidFill>
              </a:rPr>
              <a:t>Process</a:t>
            </a:r>
            <a:endParaRPr lang="en-US" sz="1600" dirty="0"/>
          </a:p>
          <a:p>
            <a:pPr marL="0" indent="0">
              <a:buNone/>
            </a:pPr>
            <a:r>
              <a:rPr lang="en-US" sz="1400" dirty="0">
                <a:solidFill>
                  <a:schemeClr val="tx1"/>
                </a:solidFill>
              </a:rPr>
              <a:t>A running program with its own memory and state</a:t>
            </a:r>
            <a:endParaRPr lang="en-US" sz="1600" dirty="0"/>
          </a:p>
        </p:txBody>
      </p:sp>
      <p:sp>
        <p:nvSpPr>
          <p:cNvPr id="11" name="shape-85"/>
          <p:cNvSpPr/>
          <p:nvPr/>
        </p:nvSpPr>
        <p:spPr>
          <a:xfrm>
            <a:off x="6309360" y="2971800"/>
            <a:ext cx="2377440" cy="1554480"/>
          </a:xfrm>
          <a:prstGeom prst="roundRect">
            <a:avLst>
              <a:gd name="adj" fmla="val 4706"/>
            </a:avLst>
          </a:prstGeom>
          <a:solidFill>
            <a:schemeClr val="bg2"/>
          </a:solidFill>
          <a:ln/>
        </p:spPr>
      </p:sp>
      <p:sp>
        <p:nvSpPr>
          <p:cNvPr id="12" name="text-86"/>
          <p:cNvSpPr txBox="1"/>
          <p:nvPr/>
        </p:nvSpPr>
        <p:spPr>
          <a:xfrm>
            <a:off x="6492240" y="3108960"/>
            <a:ext cx="2011680" cy="1280160"/>
          </a:xfrm>
          <a:prstGeom prst="rect">
            <a:avLst/>
          </a:prstGeom>
          <a:noFill/>
          <a:ln/>
        </p:spPr>
        <p:txBody>
          <a:bodyPr wrap="square" lIns="0" tIns="0" rIns="0" bIns="0" rtlCol="0" anchor="t"/>
          <a:lstStyle/>
          <a:p>
            <a:pPr marL="0" indent="0">
              <a:spcAft>
                <a:spcPts val="400"/>
              </a:spcAft>
              <a:buNone/>
            </a:pPr>
            <a:r>
              <a:rPr lang="en-US" sz="1600" b="1" dirty="0">
                <a:solidFill>
                  <a:schemeClr val="accent1"/>
                </a:solidFill>
              </a:rPr>
              <a:t>Resource manager</a:t>
            </a:r>
            <a:endParaRPr lang="en-US" sz="1600" dirty="0"/>
          </a:p>
          <a:p>
            <a:pPr marL="0" indent="0">
              <a:buNone/>
            </a:pPr>
            <a:r>
              <a:rPr lang="en-US" sz="1400" dirty="0">
                <a:solidFill>
                  <a:schemeClr val="tx1"/>
                </a:solidFill>
              </a:rPr>
              <a:t>Shares CPU, memory, disks and I/O fairly</a:t>
            </a:r>
            <a:endParaRPr lang="en-US" sz="1600" dirty="0"/>
          </a:p>
        </p:txBody>
      </p:sp>
      <p:sp>
        <p:nvSpPr>
          <p:cNvPr id="25" name="Slide Number Placeholder 0"/>
          <p:cNvSpPr>
            <a:spLocks noGrp="1"/>
          </p:cNvSpPr>
          <p:nvPr>
            <p:ph type="sldNum" sz="quarter" idx="4294967295"/>
          </p:nvPr>
        </p:nvSpPr>
        <p:spPr>
          <a:xfrm>
            <a:off x="8229600" y="4754880"/>
            <a:ext cx="457200" cy="274320"/>
          </a:xfrm>
          <a:prstGeom prst="rect">
            <a:avLst/>
          </a:prstGeom>
          <a:extLst>
            <a:ext uri="{C572A759-6A51-4108-AA02-DFA0A04FC94B}">
              <ma14:wrappingTextBoxFlag xmlns="" xmlns:ma14="http://schemas.microsoft.com/office/mac/drawingml/2011/main" val="0"/>
            </a:ext>
          </a:extLst>
        </p:spPr>
        <p:txBody>
          <a:bodyPr/>
          <a:lstStyle>
            <a:lvl1pPr>
              <a:defRPr sz="1000">
                <a:solidFill>
                  <a:schemeClr val="accent5"/>
                </a:solidFill>
              </a:defRPr>
            </a:lvl1pPr>
          </a:lstStyle>
          <a:p>
            <a:pPr algn="r"/>
            <a:fld id="{F7021451-1387-4CA6-816F-3879F97B5CBC}" type="slidenum">
              <a:rPr lang="en-US" b="0"/>
              <a:t>6</a:t>
            </a:fld>
            <a:endParaRPr 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457200" y="274320"/>
            <a:ext cx="8229600" cy="731520"/>
          </a:xfrm>
          <a:prstGeom prst="rect">
            <a:avLst/>
          </a:prstGeom>
          <a:noFill/>
          <a:ln/>
        </p:spPr>
        <p:txBody>
          <a:bodyPr wrap="square" lIns="0" tIns="0" rIns="0" bIns="0" rtlCol="0" anchor="ctr"/>
          <a:lstStyle/>
          <a:p>
            <a:pPr marL="0" indent="0" algn="l">
              <a:buNone/>
            </a:pPr>
            <a:r>
              <a:rPr lang="en-US" sz="3400" b="1" dirty="0">
                <a:solidFill>
                  <a:schemeClr val="tx2"/>
                </a:solidFill>
              </a:rPr>
              <a:t>Types of OS: Which Fits?</a:t>
            </a:r>
            <a:endParaRPr lang="en-US" sz="3400" dirty="0"/>
          </a:p>
        </p:txBody>
      </p:sp>
      <p:graphicFrame>
        <p:nvGraphicFramePr>
          <p:cNvPr id="8" name="os-types-table"/>
          <p:cNvGraphicFramePr>
            <a:graphicFrameLocks noGrp="1"/>
          </p:cNvGraphicFramePr>
          <p:nvPr>
            <p:extLst>
              <p:ext uri="{D42A27DB-BD31-4B8C-83A1-F6EECF244321}">
                <p14:modId xmlns:p14="http://schemas.microsoft.com/office/powerpoint/2010/main" val="1579011935"/>
              </p:ext>
            </p:extLst>
          </p:nvPr>
        </p:nvGraphicFramePr>
        <p:xfrm>
          <a:off x="457200" y="1234440"/>
          <a:ext cx="8229600" cy="2304288"/>
        </p:xfrm>
        <a:graphic>
          <a:graphicData uri="http://schemas.openxmlformats.org/drawingml/2006/table">
            <a:tbl>
              <a:tblPr/>
              <a:tblGrid>
                <a:gridCol w="2377440">
                  <a:extLst>
                    <a:ext uri="{9D8B030D-6E8A-4147-A177-3AD203B41FA5}">
                      <a16:colId xmlns:a16="http://schemas.microsoft.com/office/drawing/2014/main" val="20000"/>
                    </a:ext>
                  </a:extLst>
                </a:gridCol>
                <a:gridCol w="4023360">
                  <a:extLst>
                    <a:ext uri="{9D8B030D-6E8A-4147-A177-3AD203B41FA5}">
                      <a16:colId xmlns:a16="http://schemas.microsoft.com/office/drawing/2014/main" val="20001"/>
                    </a:ext>
                  </a:extLst>
                </a:gridCol>
                <a:gridCol w="1828800">
                  <a:extLst>
                    <a:ext uri="{9D8B030D-6E8A-4147-A177-3AD203B41FA5}">
                      <a16:colId xmlns:a16="http://schemas.microsoft.com/office/drawing/2014/main" val="20002"/>
                    </a:ext>
                  </a:extLst>
                </a:gridCol>
              </a:tblGrid>
              <a:tr h="384048">
                <a:tc>
                  <a:txBody>
                    <a:bodyPr/>
                    <a:lstStyle/>
                    <a:p>
                      <a:pPr marL="0" indent="0">
                        <a:buNone/>
                      </a:pPr>
                      <a:r>
                        <a:rPr lang="en-US" sz="1400" b="1" dirty="0">
                          <a:solidFill>
                            <a:schemeClr val="bg1"/>
                          </a:solidFill>
                        </a:rPr>
                        <a:t>OS Type</a:t>
                      </a:r>
                      <a:endParaRPr lang="en-US" sz="1400" dirty="0"/>
                    </a:p>
                  </a:txBody>
                  <a:tcPr anchor="ctr">
                    <a:lnL w="6350" cap="flat" cmpd="sng" algn="ctr">
                      <a:solidFill>
                        <a:schemeClr val="accent3"/>
                      </a:solidFill>
                      <a:prstDash val="solid"/>
                      <a:round/>
                      <a:headEnd type="none" w="med" len="med"/>
                      <a:tailEnd type="none" w="med" len="med"/>
                    </a:lnL>
                    <a:lnR w="6350" cap="flat" cmpd="sng" algn="ctr">
                      <a:solidFill>
                        <a:schemeClr val="accent3"/>
                      </a:solidFill>
                      <a:prstDash val="solid"/>
                      <a:round/>
                      <a:headEnd type="none" w="med" len="med"/>
                      <a:tailEnd type="none" w="med" len="med"/>
                    </a:lnR>
                    <a:lnT w="6350" cap="flat" cmpd="sng" algn="ctr">
                      <a:solidFill>
                        <a:schemeClr val="accent3"/>
                      </a:solidFill>
                      <a:prstDash val="solid"/>
                      <a:round/>
                      <a:headEnd type="none" w="med" len="med"/>
                      <a:tailEnd type="none" w="med" len="med"/>
                    </a:lnT>
                    <a:lnB w="6350" cap="flat" cmpd="sng" algn="ctr">
                      <a:solidFill>
                        <a:schemeClr val="accent3"/>
                      </a:solidFill>
                      <a:prstDash val="solid"/>
                      <a:round/>
                      <a:headEnd type="none" w="med" len="med"/>
                      <a:tailEnd type="none" w="med" len="med"/>
                    </a:lnB>
                    <a:solidFill>
                      <a:schemeClr val="tx2"/>
                    </a:solidFill>
                  </a:tcPr>
                </a:tc>
                <a:tc>
                  <a:txBody>
                    <a:bodyPr/>
                    <a:lstStyle/>
                    <a:p>
                      <a:pPr marL="0" indent="0">
                        <a:buNone/>
                      </a:pPr>
                      <a:r>
                        <a:rPr lang="en-US" sz="1400" b="1" dirty="0">
                          <a:solidFill>
                            <a:schemeClr val="bg1"/>
                          </a:solidFill>
                        </a:rPr>
                        <a:t>Core idea</a:t>
                      </a:r>
                      <a:endParaRPr lang="en-US" sz="1400" dirty="0"/>
                    </a:p>
                  </a:txBody>
                  <a:tcPr anchor="ctr">
                    <a:lnL w="6350" cap="flat" cmpd="sng" algn="ctr">
                      <a:solidFill>
                        <a:schemeClr val="accent3"/>
                      </a:solidFill>
                      <a:prstDash val="solid"/>
                      <a:round/>
                      <a:headEnd type="none" w="med" len="med"/>
                      <a:tailEnd type="none" w="med" len="med"/>
                    </a:lnL>
                    <a:lnR w="6350" cap="flat" cmpd="sng" algn="ctr">
                      <a:solidFill>
                        <a:schemeClr val="accent3"/>
                      </a:solidFill>
                      <a:prstDash val="solid"/>
                      <a:round/>
                      <a:headEnd type="none" w="med" len="med"/>
                      <a:tailEnd type="none" w="med" len="med"/>
                    </a:lnR>
                    <a:lnT w="6350" cap="flat" cmpd="sng" algn="ctr">
                      <a:solidFill>
                        <a:schemeClr val="accent3"/>
                      </a:solidFill>
                      <a:prstDash val="solid"/>
                      <a:round/>
                      <a:headEnd type="none" w="med" len="med"/>
                      <a:tailEnd type="none" w="med" len="med"/>
                    </a:lnT>
                    <a:lnB w="6350" cap="flat" cmpd="sng" algn="ctr">
                      <a:solidFill>
                        <a:schemeClr val="accent3"/>
                      </a:solidFill>
                      <a:prstDash val="solid"/>
                      <a:round/>
                      <a:headEnd type="none" w="med" len="med"/>
                      <a:tailEnd type="none" w="med" len="med"/>
                    </a:lnB>
                    <a:solidFill>
                      <a:schemeClr val="tx2"/>
                    </a:solidFill>
                  </a:tcPr>
                </a:tc>
                <a:tc>
                  <a:txBody>
                    <a:bodyPr/>
                    <a:lstStyle/>
                    <a:p>
                      <a:pPr marL="0" indent="0">
                        <a:buNone/>
                      </a:pPr>
                      <a:r>
                        <a:rPr lang="en-US" sz="1400" b="1" dirty="0">
                          <a:solidFill>
                            <a:schemeClr val="bg1"/>
                          </a:solidFill>
                        </a:rPr>
                        <a:t>Suitability</a:t>
                      </a:r>
                      <a:endParaRPr lang="en-US" sz="1400" dirty="0"/>
                    </a:p>
                  </a:txBody>
                  <a:tcPr anchor="ctr">
                    <a:lnL w="6350" cap="flat" cmpd="sng" algn="ctr">
                      <a:solidFill>
                        <a:schemeClr val="accent3"/>
                      </a:solidFill>
                      <a:prstDash val="solid"/>
                      <a:round/>
                      <a:headEnd type="none" w="med" len="med"/>
                      <a:tailEnd type="none" w="med" len="med"/>
                    </a:lnL>
                    <a:lnR w="6350" cap="flat" cmpd="sng" algn="ctr">
                      <a:solidFill>
                        <a:schemeClr val="accent3"/>
                      </a:solidFill>
                      <a:prstDash val="solid"/>
                      <a:round/>
                      <a:headEnd type="none" w="med" len="med"/>
                      <a:tailEnd type="none" w="med" len="med"/>
                    </a:lnR>
                    <a:lnT w="6350" cap="flat" cmpd="sng" algn="ctr">
                      <a:solidFill>
                        <a:schemeClr val="accent3"/>
                      </a:solidFill>
                      <a:prstDash val="solid"/>
                      <a:round/>
                      <a:headEnd type="none" w="med" len="med"/>
                      <a:tailEnd type="none" w="med" len="med"/>
                    </a:lnT>
                    <a:lnB w="6350" cap="flat" cmpd="sng" algn="ctr">
                      <a:solidFill>
                        <a:schemeClr val="accent3"/>
                      </a:solidFill>
                      <a:prstDash val="solid"/>
                      <a:round/>
                      <a:headEnd type="none" w="med" len="med"/>
                      <a:tailEnd type="none" w="med" len="med"/>
                    </a:lnB>
                    <a:solidFill>
                      <a:schemeClr val="tx2"/>
                    </a:solidFill>
                  </a:tcPr>
                </a:tc>
                <a:extLst>
                  <a:ext uri="{0D108BD9-81ED-4DB2-BD59-A6C34878D82A}">
                    <a16:rowId xmlns:a16="http://schemas.microsoft.com/office/drawing/2014/main" val="10000"/>
                  </a:ext>
                </a:extLst>
              </a:tr>
              <a:tr h="384048">
                <a:tc>
                  <a:txBody>
                    <a:bodyPr/>
                    <a:lstStyle/>
                    <a:p>
                      <a:pPr marL="0" indent="0">
                        <a:buNone/>
                      </a:pPr>
                      <a:r>
                        <a:rPr lang="en-US" sz="1400" b="1" dirty="0">
                          <a:solidFill>
                            <a:schemeClr val="tx1"/>
                          </a:solidFill>
                        </a:rPr>
                        <a:t>Batch</a:t>
                      </a:r>
                      <a:endParaRPr lang="en-US" sz="1400" dirty="0"/>
                    </a:p>
                  </a:txBody>
                  <a:tcPr anchor="ctr">
                    <a:lnL w="6350" cap="flat" cmpd="sng" algn="ctr">
                      <a:solidFill>
                        <a:schemeClr val="accent3"/>
                      </a:solidFill>
                      <a:prstDash val="solid"/>
                      <a:round/>
                      <a:headEnd type="none" w="med" len="med"/>
                      <a:tailEnd type="none" w="med" len="med"/>
                    </a:lnL>
                    <a:lnR w="6350" cap="flat" cmpd="sng" algn="ctr">
                      <a:solidFill>
                        <a:schemeClr val="accent3"/>
                      </a:solidFill>
                      <a:prstDash val="solid"/>
                      <a:round/>
                      <a:headEnd type="none" w="med" len="med"/>
                      <a:tailEnd type="none" w="med" len="med"/>
                    </a:lnR>
                    <a:lnT w="6350" cap="flat" cmpd="sng" algn="ctr">
                      <a:solidFill>
                        <a:schemeClr val="accent3"/>
                      </a:solidFill>
                      <a:prstDash val="solid"/>
                      <a:round/>
                      <a:headEnd type="none" w="med" len="med"/>
                      <a:tailEnd type="none" w="med" len="med"/>
                    </a:lnT>
                    <a:lnB w="6350" cap="flat" cmpd="sng" algn="ctr">
                      <a:solidFill>
                        <a:schemeClr val="accent3"/>
                      </a:solidFill>
                      <a:prstDash val="solid"/>
                      <a:round/>
                      <a:headEnd type="none" w="med" len="med"/>
                      <a:tailEnd type="none" w="med" len="med"/>
                    </a:lnB>
                    <a:solidFill>
                      <a:schemeClr val="bg1"/>
                    </a:solidFill>
                  </a:tcPr>
                </a:tc>
                <a:tc>
                  <a:txBody>
                    <a:bodyPr/>
                    <a:lstStyle/>
                    <a:p>
                      <a:pPr marL="0" indent="0">
                        <a:buNone/>
                      </a:pPr>
                      <a:r>
                        <a:rPr lang="en-US" sz="1400" dirty="0">
                          <a:solidFill>
                            <a:schemeClr val="tx1"/>
                          </a:solidFill>
                        </a:rPr>
                        <a:t>Jobs run in queues, no user interaction</a:t>
                      </a:r>
                      <a:endParaRPr lang="en-US" sz="1400" dirty="0"/>
                    </a:p>
                  </a:txBody>
                  <a:tcPr anchor="ctr">
                    <a:lnL w="6350" cap="flat" cmpd="sng" algn="ctr">
                      <a:solidFill>
                        <a:schemeClr val="accent3"/>
                      </a:solidFill>
                      <a:prstDash val="solid"/>
                      <a:round/>
                      <a:headEnd type="none" w="med" len="med"/>
                      <a:tailEnd type="none" w="med" len="med"/>
                    </a:lnL>
                    <a:lnR w="6350" cap="flat" cmpd="sng" algn="ctr">
                      <a:solidFill>
                        <a:schemeClr val="accent3"/>
                      </a:solidFill>
                      <a:prstDash val="solid"/>
                      <a:round/>
                      <a:headEnd type="none" w="med" len="med"/>
                      <a:tailEnd type="none" w="med" len="med"/>
                    </a:lnR>
                    <a:lnT w="6350" cap="flat" cmpd="sng" algn="ctr">
                      <a:solidFill>
                        <a:schemeClr val="accent3"/>
                      </a:solidFill>
                      <a:prstDash val="solid"/>
                      <a:round/>
                      <a:headEnd type="none" w="med" len="med"/>
                      <a:tailEnd type="none" w="med" len="med"/>
                    </a:lnT>
                    <a:lnB w="6350" cap="flat" cmpd="sng" algn="ctr">
                      <a:solidFill>
                        <a:schemeClr val="accent3"/>
                      </a:solidFill>
                      <a:prstDash val="solid"/>
                      <a:round/>
                      <a:headEnd type="none" w="med" len="med"/>
                      <a:tailEnd type="none" w="med" len="med"/>
                    </a:lnB>
                    <a:solidFill>
                      <a:schemeClr val="bg1"/>
                    </a:solidFill>
                  </a:tcPr>
                </a:tc>
                <a:tc>
                  <a:txBody>
                    <a:bodyPr/>
                    <a:lstStyle/>
                    <a:p>
                      <a:pPr marL="0" indent="0" algn="ctr">
                        <a:buNone/>
                      </a:pPr>
                      <a:r>
                        <a:rPr lang="en-US" sz="1400" b="1" dirty="0">
                          <a:solidFill>
                            <a:schemeClr val="tx1"/>
                          </a:solidFill>
                        </a:rPr>
                        <a:t>Low</a:t>
                      </a:r>
                      <a:endParaRPr lang="en-US" sz="1400" dirty="0"/>
                    </a:p>
                  </a:txBody>
                  <a:tcPr anchor="ctr">
                    <a:lnL w="6350" cap="flat" cmpd="sng" algn="ctr">
                      <a:solidFill>
                        <a:schemeClr val="accent3"/>
                      </a:solidFill>
                      <a:prstDash val="solid"/>
                      <a:round/>
                      <a:headEnd type="none" w="med" len="med"/>
                      <a:tailEnd type="none" w="med" len="med"/>
                    </a:lnL>
                    <a:lnR w="6350" cap="flat" cmpd="sng" algn="ctr">
                      <a:solidFill>
                        <a:schemeClr val="accent3"/>
                      </a:solidFill>
                      <a:prstDash val="solid"/>
                      <a:round/>
                      <a:headEnd type="none" w="med" len="med"/>
                      <a:tailEnd type="none" w="med" len="med"/>
                    </a:lnR>
                    <a:lnT w="6350" cap="flat" cmpd="sng" algn="ctr">
                      <a:solidFill>
                        <a:schemeClr val="accent3"/>
                      </a:solidFill>
                      <a:prstDash val="solid"/>
                      <a:round/>
                      <a:headEnd type="none" w="med" len="med"/>
                      <a:tailEnd type="none" w="med" len="med"/>
                    </a:lnT>
                    <a:lnB w="6350" cap="flat" cmpd="sng" algn="ctr">
                      <a:solidFill>
                        <a:schemeClr val="accent3"/>
                      </a:solidFill>
                      <a:prstDash val="solid"/>
                      <a:round/>
                      <a:headEnd type="none" w="med" len="med"/>
                      <a:tailEnd type="none" w="med" len="med"/>
                    </a:lnB>
                    <a:solidFill>
                      <a:schemeClr val="bg2"/>
                    </a:solidFill>
                  </a:tcPr>
                </a:tc>
                <a:extLst>
                  <a:ext uri="{0D108BD9-81ED-4DB2-BD59-A6C34878D82A}">
                    <a16:rowId xmlns:a16="http://schemas.microsoft.com/office/drawing/2014/main" val="10001"/>
                  </a:ext>
                </a:extLst>
              </a:tr>
              <a:tr h="384048">
                <a:tc>
                  <a:txBody>
                    <a:bodyPr/>
                    <a:lstStyle/>
                    <a:p>
                      <a:pPr marL="0" indent="0">
                        <a:buNone/>
                      </a:pPr>
                      <a:r>
                        <a:rPr lang="en-US" sz="1400" b="1" dirty="0">
                          <a:solidFill>
                            <a:schemeClr val="tx1"/>
                          </a:solidFill>
                        </a:rPr>
                        <a:t>Multi-user time-sharing</a:t>
                      </a:r>
                      <a:endParaRPr lang="en-US" sz="1400" dirty="0"/>
                    </a:p>
                  </a:txBody>
                  <a:tcPr anchor="ctr">
                    <a:lnL w="6350" cap="flat" cmpd="sng" algn="ctr">
                      <a:solidFill>
                        <a:schemeClr val="accent3"/>
                      </a:solidFill>
                      <a:prstDash val="solid"/>
                      <a:round/>
                      <a:headEnd type="none" w="med" len="med"/>
                      <a:tailEnd type="none" w="med" len="med"/>
                    </a:lnL>
                    <a:lnR w="6350" cap="flat" cmpd="sng" algn="ctr">
                      <a:solidFill>
                        <a:schemeClr val="accent3"/>
                      </a:solidFill>
                      <a:prstDash val="solid"/>
                      <a:round/>
                      <a:headEnd type="none" w="med" len="med"/>
                      <a:tailEnd type="none" w="med" len="med"/>
                    </a:lnR>
                    <a:lnT w="6350" cap="flat" cmpd="sng" algn="ctr">
                      <a:solidFill>
                        <a:schemeClr val="accent3"/>
                      </a:solidFill>
                      <a:prstDash val="solid"/>
                      <a:round/>
                      <a:headEnd type="none" w="med" len="med"/>
                      <a:tailEnd type="none" w="med" len="med"/>
                    </a:lnT>
                    <a:lnB w="6350" cap="flat" cmpd="sng" algn="ctr">
                      <a:solidFill>
                        <a:schemeClr val="accent3"/>
                      </a:solidFill>
                      <a:prstDash val="solid"/>
                      <a:round/>
                      <a:headEnd type="none" w="med" len="med"/>
                      <a:tailEnd type="none" w="med" len="med"/>
                    </a:lnB>
                    <a:solidFill>
                      <a:schemeClr val="bg2"/>
                    </a:solidFill>
                  </a:tcPr>
                </a:tc>
                <a:tc>
                  <a:txBody>
                    <a:bodyPr/>
                    <a:lstStyle/>
                    <a:p>
                      <a:pPr marL="0" indent="0">
                        <a:buNone/>
                      </a:pPr>
                      <a:r>
                        <a:rPr lang="en-US" sz="1400" dirty="0">
                          <a:solidFill>
                            <a:schemeClr val="tx1"/>
                          </a:solidFill>
                        </a:rPr>
                        <a:t>Many users share the CPU in time slices</a:t>
                      </a:r>
                      <a:endParaRPr lang="en-US" sz="1400" dirty="0"/>
                    </a:p>
                  </a:txBody>
                  <a:tcPr anchor="ctr">
                    <a:lnL w="6350" cap="flat" cmpd="sng" algn="ctr">
                      <a:solidFill>
                        <a:schemeClr val="accent3"/>
                      </a:solidFill>
                      <a:prstDash val="solid"/>
                      <a:round/>
                      <a:headEnd type="none" w="med" len="med"/>
                      <a:tailEnd type="none" w="med" len="med"/>
                    </a:lnL>
                    <a:lnR w="6350" cap="flat" cmpd="sng" algn="ctr">
                      <a:solidFill>
                        <a:schemeClr val="accent3"/>
                      </a:solidFill>
                      <a:prstDash val="solid"/>
                      <a:round/>
                      <a:headEnd type="none" w="med" len="med"/>
                      <a:tailEnd type="none" w="med" len="med"/>
                    </a:lnR>
                    <a:lnT w="6350" cap="flat" cmpd="sng" algn="ctr">
                      <a:solidFill>
                        <a:schemeClr val="accent3"/>
                      </a:solidFill>
                      <a:prstDash val="solid"/>
                      <a:round/>
                      <a:headEnd type="none" w="med" len="med"/>
                      <a:tailEnd type="none" w="med" len="med"/>
                    </a:lnT>
                    <a:lnB w="6350" cap="flat" cmpd="sng" algn="ctr">
                      <a:solidFill>
                        <a:schemeClr val="accent3"/>
                      </a:solidFill>
                      <a:prstDash val="solid"/>
                      <a:round/>
                      <a:headEnd type="none" w="med" len="med"/>
                      <a:tailEnd type="none" w="med" len="med"/>
                    </a:lnB>
                    <a:solidFill>
                      <a:schemeClr val="bg2"/>
                    </a:solidFill>
                  </a:tcPr>
                </a:tc>
                <a:tc>
                  <a:txBody>
                    <a:bodyPr/>
                    <a:lstStyle/>
                    <a:p>
                      <a:pPr marL="0" indent="0" algn="ctr">
                        <a:buNone/>
                      </a:pPr>
                      <a:r>
                        <a:rPr lang="en-US" sz="1400" b="1" dirty="0">
                          <a:solidFill>
                            <a:schemeClr val="bg1"/>
                          </a:solidFill>
                        </a:rPr>
                        <a:t>High</a:t>
                      </a:r>
                      <a:endParaRPr lang="en-US" sz="1400" dirty="0"/>
                    </a:p>
                  </a:txBody>
                  <a:tcPr anchor="ctr">
                    <a:lnL w="6350" cap="flat" cmpd="sng" algn="ctr">
                      <a:solidFill>
                        <a:schemeClr val="accent3"/>
                      </a:solidFill>
                      <a:prstDash val="solid"/>
                      <a:round/>
                      <a:headEnd type="none" w="med" len="med"/>
                      <a:tailEnd type="none" w="med" len="med"/>
                    </a:lnL>
                    <a:lnR w="6350" cap="flat" cmpd="sng" algn="ctr">
                      <a:solidFill>
                        <a:schemeClr val="accent3"/>
                      </a:solidFill>
                      <a:prstDash val="solid"/>
                      <a:round/>
                      <a:headEnd type="none" w="med" len="med"/>
                      <a:tailEnd type="none" w="med" len="med"/>
                    </a:lnR>
                    <a:lnT w="6350" cap="flat" cmpd="sng" algn="ctr">
                      <a:solidFill>
                        <a:schemeClr val="accent3"/>
                      </a:solidFill>
                      <a:prstDash val="solid"/>
                      <a:round/>
                      <a:headEnd type="none" w="med" len="med"/>
                      <a:tailEnd type="none" w="med" len="med"/>
                    </a:lnT>
                    <a:lnB w="6350" cap="flat" cmpd="sng" algn="ctr">
                      <a:solidFill>
                        <a:schemeClr val="accent3"/>
                      </a:solidFill>
                      <a:prstDash val="solid"/>
                      <a:round/>
                      <a:headEnd type="none" w="med" len="med"/>
                      <a:tailEnd type="none" w="med" len="med"/>
                    </a:lnB>
                    <a:solidFill>
                      <a:schemeClr val="accent1"/>
                    </a:solidFill>
                  </a:tcPr>
                </a:tc>
                <a:extLst>
                  <a:ext uri="{0D108BD9-81ED-4DB2-BD59-A6C34878D82A}">
                    <a16:rowId xmlns:a16="http://schemas.microsoft.com/office/drawing/2014/main" val="10002"/>
                  </a:ext>
                </a:extLst>
              </a:tr>
              <a:tr h="384048">
                <a:tc>
                  <a:txBody>
                    <a:bodyPr/>
                    <a:lstStyle/>
                    <a:p>
                      <a:pPr marL="0" indent="0">
                        <a:buNone/>
                      </a:pPr>
                      <a:r>
                        <a:rPr lang="en-US" sz="1400" b="1" dirty="0">
                          <a:solidFill>
                            <a:schemeClr val="tx1"/>
                          </a:solidFill>
                        </a:rPr>
                        <a:t>Multiprogramming</a:t>
                      </a:r>
                      <a:endParaRPr lang="en-US" sz="1400" dirty="0"/>
                    </a:p>
                  </a:txBody>
                  <a:tcPr anchor="ctr">
                    <a:lnL w="6350" cap="flat" cmpd="sng" algn="ctr">
                      <a:solidFill>
                        <a:schemeClr val="accent3"/>
                      </a:solidFill>
                      <a:prstDash val="solid"/>
                      <a:round/>
                      <a:headEnd type="none" w="med" len="med"/>
                      <a:tailEnd type="none" w="med" len="med"/>
                    </a:lnL>
                    <a:lnR w="6350" cap="flat" cmpd="sng" algn="ctr">
                      <a:solidFill>
                        <a:schemeClr val="accent3"/>
                      </a:solidFill>
                      <a:prstDash val="solid"/>
                      <a:round/>
                      <a:headEnd type="none" w="med" len="med"/>
                      <a:tailEnd type="none" w="med" len="med"/>
                    </a:lnR>
                    <a:lnT w="6350" cap="flat" cmpd="sng" algn="ctr">
                      <a:solidFill>
                        <a:schemeClr val="accent3"/>
                      </a:solidFill>
                      <a:prstDash val="solid"/>
                      <a:round/>
                      <a:headEnd type="none" w="med" len="med"/>
                      <a:tailEnd type="none" w="med" len="med"/>
                    </a:lnT>
                    <a:lnB w="6350" cap="flat" cmpd="sng" algn="ctr">
                      <a:solidFill>
                        <a:schemeClr val="accent3"/>
                      </a:solidFill>
                      <a:prstDash val="solid"/>
                      <a:round/>
                      <a:headEnd type="none" w="med" len="med"/>
                      <a:tailEnd type="none" w="med" len="med"/>
                    </a:lnB>
                    <a:solidFill>
                      <a:schemeClr val="bg1"/>
                    </a:solidFill>
                  </a:tcPr>
                </a:tc>
                <a:tc>
                  <a:txBody>
                    <a:bodyPr/>
                    <a:lstStyle/>
                    <a:p>
                      <a:pPr marL="0" indent="0">
                        <a:buNone/>
                      </a:pPr>
                      <a:r>
                        <a:rPr lang="en-US" sz="1400" dirty="0">
                          <a:solidFill>
                            <a:schemeClr val="tx1"/>
                          </a:solidFill>
                        </a:rPr>
                        <a:t>Several processes kept in memory at once</a:t>
                      </a:r>
                      <a:endParaRPr lang="en-US" sz="1400" dirty="0"/>
                    </a:p>
                  </a:txBody>
                  <a:tcPr anchor="ctr">
                    <a:lnL w="6350" cap="flat" cmpd="sng" algn="ctr">
                      <a:solidFill>
                        <a:schemeClr val="accent3"/>
                      </a:solidFill>
                      <a:prstDash val="solid"/>
                      <a:round/>
                      <a:headEnd type="none" w="med" len="med"/>
                      <a:tailEnd type="none" w="med" len="med"/>
                    </a:lnL>
                    <a:lnR w="6350" cap="flat" cmpd="sng" algn="ctr">
                      <a:solidFill>
                        <a:schemeClr val="accent3"/>
                      </a:solidFill>
                      <a:prstDash val="solid"/>
                      <a:round/>
                      <a:headEnd type="none" w="med" len="med"/>
                      <a:tailEnd type="none" w="med" len="med"/>
                    </a:lnR>
                    <a:lnT w="6350" cap="flat" cmpd="sng" algn="ctr">
                      <a:solidFill>
                        <a:schemeClr val="accent3"/>
                      </a:solidFill>
                      <a:prstDash val="solid"/>
                      <a:round/>
                      <a:headEnd type="none" w="med" len="med"/>
                      <a:tailEnd type="none" w="med" len="med"/>
                    </a:lnT>
                    <a:lnB w="6350" cap="flat" cmpd="sng" algn="ctr">
                      <a:solidFill>
                        <a:schemeClr val="accent3"/>
                      </a:solidFill>
                      <a:prstDash val="solid"/>
                      <a:round/>
                      <a:headEnd type="none" w="med" len="med"/>
                      <a:tailEnd type="none" w="med" len="med"/>
                    </a:lnB>
                    <a:solidFill>
                      <a:schemeClr val="bg1"/>
                    </a:solidFill>
                  </a:tcPr>
                </a:tc>
                <a:tc>
                  <a:txBody>
                    <a:bodyPr/>
                    <a:lstStyle/>
                    <a:p>
                      <a:pPr marL="0" indent="0" algn="ctr">
                        <a:buNone/>
                      </a:pPr>
                      <a:r>
                        <a:rPr lang="en-US" sz="1400" b="1" dirty="0">
                          <a:solidFill>
                            <a:schemeClr val="bg1"/>
                          </a:solidFill>
                        </a:rPr>
                        <a:t>High</a:t>
                      </a:r>
                      <a:endParaRPr lang="en-US" sz="1400" dirty="0"/>
                    </a:p>
                  </a:txBody>
                  <a:tcPr anchor="ctr">
                    <a:lnL w="6350" cap="flat" cmpd="sng" algn="ctr">
                      <a:solidFill>
                        <a:schemeClr val="accent3"/>
                      </a:solidFill>
                      <a:prstDash val="solid"/>
                      <a:round/>
                      <a:headEnd type="none" w="med" len="med"/>
                      <a:tailEnd type="none" w="med" len="med"/>
                    </a:lnL>
                    <a:lnR w="6350" cap="flat" cmpd="sng" algn="ctr">
                      <a:solidFill>
                        <a:schemeClr val="accent3"/>
                      </a:solidFill>
                      <a:prstDash val="solid"/>
                      <a:round/>
                      <a:headEnd type="none" w="med" len="med"/>
                      <a:tailEnd type="none" w="med" len="med"/>
                    </a:lnR>
                    <a:lnT w="6350" cap="flat" cmpd="sng" algn="ctr">
                      <a:solidFill>
                        <a:schemeClr val="accent3"/>
                      </a:solidFill>
                      <a:prstDash val="solid"/>
                      <a:round/>
                      <a:headEnd type="none" w="med" len="med"/>
                      <a:tailEnd type="none" w="med" len="med"/>
                    </a:lnT>
                    <a:lnB w="6350" cap="flat" cmpd="sng" algn="ctr">
                      <a:solidFill>
                        <a:schemeClr val="accent3"/>
                      </a:solidFill>
                      <a:prstDash val="solid"/>
                      <a:round/>
                      <a:headEnd type="none" w="med" len="med"/>
                      <a:tailEnd type="none" w="med" len="med"/>
                    </a:lnB>
                    <a:solidFill>
                      <a:schemeClr val="accent1"/>
                    </a:solidFill>
                  </a:tcPr>
                </a:tc>
                <a:extLst>
                  <a:ext uri="{0D108BD9-81ED-4DB2-BD59-A6C34878D82A}">
                    <a16:rowId xmlns:a16="http://schemas.microsoft.com/office/drawing/2014/main" val="10003"/>
                  </a:ext>
                </a:extLst>
              </a:tr>
              <a:tr h="384048">
                <a:tc>
                  <a:txBody>
                    <a:bodyPr/>
                    <a:lstStyle/>
                    <a:p>
                      <a:pPr marL="0" indent="0">
                        <a:buNone/>
                      </a:pPr>
                      <a:r>
                        <a:rPr lang="en-US" sz="1400" b="1" dirty="0">
                          <a:solidFill>
                            <a:schemeClr val="tx1"/>
                          </a:solidFill>
                        </a:rPr>
                        <a:t>Real-time</a:t>
                      </a:r>
                      <a:endParaRPr lang="en-US" sz="1400" dirty="0"/>
                    </a:p>
                  </a:txBody>
                  <a:tcPr anchor="ctr">
                    <a:lnL w="6350" cap="flat" cmpd="sng" algn="ctr">
                      <a:solidFill>
                        <a:schemeClr val="accent3"/>
                      </a:solidFill>
                      <a:prstDash val="solid"/>
                      <a:round/>
                      <a:headEnd type="none" w="med" len="med"/>
                      <a:tailEnd type="none" w="med" len="med"/>
                    </a:lnL>
                    <a:lnR w="6350" cap="flat" cmpd="sng" algn="ctr">
                      <a:solidFill>
                        <a:schemeClr val="accent3"/>
                      </a:solidFill>
                      <a:prstDash val="solid"/>
                      <a:round/>
                      <a:headEnd type="none" w="med" len="med"/>
                      <a:tailEnd type="none" w="med" len="med"/>
                    </a:lnR>
                    <a:lnT w="6350" cap="flat" cmpd="sng" algn="ctr">
                      <a:solidFill>
                        <a:schemeClr val="accent3"/>
                      </a:solidFill>
                      <a:prstDash val="solid"/>
                      <a:round/>
                      <a:headEnd type="none" w="med" len="med"/>
                      <a:tailEnd type="none" w="med" len="med"/>
                    </a:lnT>
                    <a:lnB w="6350" cap="flat" cmpd="sng" algn="ctr">
                      <a:solidFill>
                        <a:schemeClr val="accent3"/>
                      </a:solidFill>
                      <a:prstDash val="solid"/>
                      <a:round/>
                      <a:headEnd type="none" w="med" len="med"/>
                      <a:tailEnd type="none" w="med" len="med"/>
                    </a:lnB>
                    <a:solidFill>
                      <a:schemeClr val="bg2"/>
                    </a:solidFill>
                  </a:tcPr>
                </a:tc>
                <a:tc>
                  <a:txBody>
                    <a:bodyPr/>
                    <a:lstStyle/>
                    <a:p>
                      <a:pPr marL="0" indent="0">
                        <a:buNone/>
                      </a:pPr>
                      <a:r>
                        <a:rPr lang="en-US" sz="1400" dirty="0">
                          <a:solidFill>
                            <a:schemeClr val="tx1"/>
                          </a:solidFill>
                        </a:rPr>
                        <a:t>Responses guaranteed within deadlines</a:t>
                      </a:r>
                      <a:endParaRPr lang="en-US" sz="1400" dirty="0"/>
                    </a:p>
                  </a:txBody>
                  <a:tcPr anchor="ctr">
                    <a:lnL w="6350" cap="flat" cmpd="sng" algn="ctr">
                      <a:solidFill>
                        <a:schemeClr val="accent3"/>
                      </a:solidFill>
                      <a:prstDash val="solid"/>
                      <a:round/>
                      <a:headEnd type="none" w="med" len="med"/>
                      <a:tailEnd type="none" w="med" len="med"/>
                    </a:lnL>
                    <a:lnR w="6350" cap="flat" cmpd="sng" algn="ctr">
                      <a:solidFill>
                        <a:schemeClr val="accent3"/>
                      </a:solidFill>
                      <a:prstDash val="solid"/>
                      <a:round/>
                      <a:headEnd type="none" w="med" len="med"/>
                      <a:tailEnd type="none" w="med" len="med"/>
                    </a:lnR>
                    <a:lnT w="6350" cap="flat" cmpd="sng" algn="ctr">
                      <a:solidFill>
                        <a:schemeClr val="accent3"/>
                      </a:solidFill>
                      <a:prstDash val="solid"/>
                      <a:round/>
                      <a:headEnd type="none" w="med" len="med"/>
                      <a:tailEnd type="none" w="med" len="med"/>
                    </a:lnT>
                    <a:lnB w="6350" cap="flat" cmpd="sng" algn="ctr">
                      <a:solidFill>
                        <a:schemeClr val="accent3"/>
                      </a:solidFill>
                      <a:prstDash val="solid"/>
                      <a:round/>
                      <a:headEnd type="none" w="med" len="med"/>
                      <a:tailEnd type="none" w="med" len="med"/>
                    </a:lnB>
                    <a:solidFill>
                      <a:schemeClr val="bg2"/>
                    </a:solidFill>
                  </a:tcPr>
                </a:tc>
                <a:tc>
                  <a:txBody>
                    <a:bodyPr/>
                    <a:lstStyle/>
                    <a:p>
                      <a:pPr marL="0" indent="0" algn="ctr">
                        <a:buNone/>
                      </a:pPr>
                      <a:r>
                        <a:rPr lang="en-US" sz="1400" b="1" dirty="0">
                          <a:solidFill>
                            <a:schemeClr val="tx1"/>
                          </a:solidFill>
                        </a:rPr>
                        <a:t>Medium</a:t>
                      </a:r>
                      <a:endParaRPr lang="en-US" sz="1400" dirty="0"/>
                    </a:p>
                  </a:txBody>
                  <a:tcPr anchor="ctr">
                    <a:lnL w="6350" cap="flat" cmpd="sng" algn="ctr">
                      <a:solidFill>
                        <a:schemeClr val="accent3"/>
                      </a:solidFill>
                      <a:prstDash val="solid"/>
                      <a:round/>
                      <a:headEnd type="none" w="med" len="med"/>
                      <a:tailEnd type="none" w="med" len="med"/>
                    </a:lnL>
                    <a:lnR w="6350" cap="flat" cmpd="sng" algn="ctr">
                      <a:solidFill>
                        <a:schemeClr val="accent3"/>
                      </a:solidFill>
                      <a:prstDash val="solid"/>
                      <a:round/>
                      <a:headEnd type="none" w="med" len="med"/>
                      <a:tailEnd type="none" w="med" len="med"/>
                    </a:lnR>
                    <a:lnT w="6350" cap="flat" cmpd="sng" algn="ctr">
                      <a:solidFill>
                        <a:schemeClr val="accent3"/>
                      </a:solidFill>
                      <a:prstDash val="solid"/>
                      <a:round/>
                      <a:headEnd type="none" w="med" len="med"/>
                      <a:tailEnd type="none" w="med" len="med"/>
                    </a:lnT>
                    <a:lnB w="6350" cap="flat" cmpd="sng" algn="ctr">
                      <a:solidFill>
                        <a:schemeClr val="accent3"/>
                      </a:solidFill>
                      <a:prstDash val="solid"/>
                      <a:round/>
                      <a:headEnd type="none" w="med" len="med"/>
                      <a:tailEnd type="none" w="med" len="med"/>
                    </a:lnB>
                    <a:solidFill>
                      <a:schemeClr val="accent2"/>
                    </a:solidFill>
                  </a:tcPr>
                </a:tc>
                <a:extLst>
                  <a:ext uri="{0D108BD9-81ED-4DB2-BD59-A6C34878D82A}">
                    <a16:rowId xmlns:a16="http://schemas.microsoft.com/office/drawing/2014/main" val="10004"/>
                  </a:ext>
                </a:extLst>
              </a:tr>
              <a:tr h="384048">
                <a:tc>
                  <a:txBody>
                    <a:bodyPr/>
                    <a:lstStyle/>
                    <a:p>
                      <a:pPr marL="0" indent="0">
                        <a:buNone/>
                      </a:pPr>
                      <a:r>
                        <a:rPr lang="en-US" sz="1400" b="1" dirty="0">
                          <a:solidFill>
                            <a:schemeClr val="tx1"/>
                          </a:solidFill>
                        </a:rPr>
                        <a:t>Distributed</a:t>
                      </a:r>
                      <a:endParaRPr lang="en-US" sz="1400" dirty="0"/>
                    </a:p>
                  </a:txBody>
                  <a:tcPr anchor="ctr">
                    <a:lnL w="6350" cap="flat" cmpd="sng" algn="ctr">
                      <a:solidFill>
                        <a:schemeClr val="accent3"/>
                      </a:solidFill>
                      <a:prstDash val="solid"/>
                      <a:round/>
                      <a:headEnd type="none" w="med" len="med"/>
                      <a:tailEnd type="none" w="med" len="med"/>
                    </a:lnL>
                    <a:lnR w="6350" cap="flat" cmpd="sng" algn="ctr">
                      <a:solidFill>
                        <a:schemeClr val="accent3"/>
                      </a:solidFill>
                      <a:prstDash val="solid"/>
                      <a:round/>
                      <a:headEnd type="none" w="med" len="med"/>
                      <a:tailEnd type="none" w="med" len="med"/>
                    </a:lnR>
                    <a:lnT w="6350" cap="flat" cmpd="sng" algn="ctr">
                      <a:solidFill>
                        <a:schemeClr val="accent3"/>
                      </a:solidFill>
                      <a:prstDash val="solid"/>
                      <a:round/>
                      <a:headEnd type="none" w="med" len="med"/>
                      <a:tailEnd type="none" w="med" len="med"/>
                    </a:lnT>
                    <a:lnB w="6350" cap="flat" cmpd="sng" algn="ctr">
                      <a:solidFill>
                        <a:schemeClr val="accent3"/>
                      </a:solidFill>
                      <a:prstDash val="solid"/>
                      <a:round/>
                      <a:headEnd type="none" w="med" len="med"/>
                      <a:tailEnd type="none" w="med" len="med"/>
                    </a:lnB>
                    <a:solidFill>
                      <a:schemeClr val="bg1"/>
                    </a:solidFill>
                  </a:tcPr>
                </a:tc>
                <a:tc>
                  <a:txBody>
                    <a:bodyPr/>
                    <a:lstStyle/>
                    <a:p>
                      <a:pPr marL="0" indent="0">
                        <a:buNone/>
                      </a:pPr>
                      <a:r>
                        <a:rPr lang="en-US" sz="1400" dirty="0">
                          <a:solidFill>
                            <a:schemeClr val="tx1"/>
                          </a:solidFill>
                        </a:rPr>
                        <a:t>Networked nodes act as one system</a:t>
                      </a:r>
                      <a:endParaRPr lang="en-US" sz="1400" dirty="0"/>
                    </a:p>
                  </a:txBody>
                  <a:tcPr anchor="ctr">
                    <a:lnL w="6350" cap="flat" cmpd="sng" algn="ctr">
                      <a:solidFill>
                        <a:schemeClr val="accent3"/>
                      </a:solidFill>
                      <a:prstDash val="solid"/>
                      <a:round/>
                      <a:headEnd type="none" w="med" len="med"/>
                      <a:tailEnd type="none" w="med" len="med"/>
                    </a:lnL>
                    <a:lnR w="6350" cap="flat" cmpd="sng" algn="ctr">
                      <a:solidFill>
                        <a:schemeClr val="accent3"/>
                      </a:solidFill>
                      <a:prstDash val="solid"/>
                      <a:round/>
                      <a:headEnd type="none" w="med" len="med"/>
                      <a:tailEnd type="none" w="med" len="med"/>
                    </a:lnR>
                    <a:lnT w="6350" cap="flat" cmpd="sng" algn="ctr">
                      <a:solidFill>
                        <a:schemeClr val="accent3"/>
                      </a:solidFill>
                      <a:prstDash val="solid"/>
                      <a:round/>
                      <a:headEnd type="none" w="med" len="med"/>
                      <a:tailEnd type="none" w="med" len="med"/>
                    </a:lnT>
                    <a:lnB w="6350" cap="flat" cmpd="sng" algn="ctr">
                      <a:solidFill>
                        <a:schemeClr val="accent3"/>
                      </a:solidFill>
                      <a:prstDash val="solid"/>
                      <a:round/>
                      <a:headEnd type="none" w="med" len="med"/>
                      <a:tailEnd type="none" w="med" len="med"/>
                    </a:lnB>
                    <a:solidFill>
                      <a:schemeClr val="bg1"/>
                    </a:solidFill>
                  </a:tcPr>
                </a:tc>
                <a:tc>
                  <a:txBody>
                    <a:bodyPr/>
                    <a:lstStyle/>
                    <a:p>
                      <a:pPr marL="0" indent="0" algn="ctr">
                        <a:buNone/>
                      </a:pPr>
                      <a:r>
                        <a:rPr lang="en-US" sz="1400" b="1" dirty="0">
                          <a:solidFill>
                            <a:schemeClr val="bg1"/>
                          </a:solidFill>
                        </a:rPr>
                        <a:t>High</a:t>
                      </a:r>
                      <a:endParaRPr lang="en-US" sz="1400" dirty="0"/>
                    </a:p>
                  </a:txBody>
                  <a:tcPr anchor="ctr">
                    <a:lnL w="6350" cap="flat" cmpd="sng" algn="ctr">
                      <a:solidFill>
                        <a:schemeClr val="accent3"/>
                      </a:solidFill>
                      <a:prstDash val="solid"/>
                      <a:round/>
                      <a:headEnd type="none" w="med" len="med"/>
                      <a:tailEnd type="none" w="med" len="med"/>
                    </a:lnL>
                    <a:lnR w="6350" cap="flat" cmpd="sng" algn="ctr">
                      <a:solidFill>
                        <a:schemeClr val="accent3"/>
                      </a:solidFill>
                      <a:prstDash val="solid"/>
                      <a:round/>
                      <a:headEnd type="none" w="med" len="med"/>
                      <a:tailEnd type="none" w="med" len="med"/>
                    </a:lnR>
                    <a:lnT w="6350" cap="flat" cmpd="sng" algn="ctr">
                      <a:solidFill>
                        <a:schemeClr val="accent3"/>
                      </a:solidFill>
                      <a:prstDash val="solid"/>
                      <a:round/>
                      <a:headEnd type="none" w="med" len="med"/>
                      <a:tailEnd type="none" w="med" len="med"/>
                    </a:lnT>
                    <a:lnB w="6350" cap="flat" cmpd="sng" algn="ctr">
                      <a:solidFill>
                        <a:schemeClr val="accent3"/>
                      </a:solidFill>
                      <a:prstDash val="solid"/>
                      <a:round/>
                      <a:headEnd type="none" w="med" len="med"/>
                      <a:tailEnd type="none" w="med" len="med"/>
                    </a:lnB>
                    <a:solidFill>
                      <a:schemeClr val="accent1"/>
                    </a:solidFill>
                  </a:tcPr>
                </a:tc>
                <a:extLst>
                  <a:ext uri="{0D108BD9-81ED-4DB2-BD59-A6C34878D82A}">
                    <a16:rowId xmlns:a16="http://schemas.microsoft.com/office/drawing/2014/main" val="10005"/>
                  </a:ext>
                </a:extLst>
              </a:tr>
            </a:tbl>
          </a:graphicData>
        </a:graphic>
      </p:graphicFrame>
      <p:sp>
        <p:nvSpPr>
          <p:cNvPr id="4" name="shape-87"/>
          <p:cNvSpPr/>
          <p:nvPr/>
        </p:nvSpPr>
        <p:spPr>
          <a:xfrm>
            <a:off x="457200" y="3794760"/>
            <a:ext cx="8229600" cy="777240"/>
          </a:xfrm>
          <a:prstGeom prst="roundRect">
            <a:avLst>
              <a:gd name="adj" fmla="val 9412"/>
            </a:avLst>
          </a:prstGeom>
          <a:solidFill>
            <a:schemeClr val="tx2"/>
          </a:solidFill>
          <a:ln/>
        </p:spPr>
      </p:sp>
      <p:sp>
        <p:nvSpPr>
          <p:cNvPr id="5" name="text-88"/>
          <p:cNvSpPr txBox="1"/>
          <p:nvPr/>
        </p:nvSpPr>
        <p:spPr>
          <a:xfrm>
            <a:off x="731520" y="3840480"/>
            <a:ext cx="7680960" cy="685800"/>
          </a:xfrm>
          <a:prstGeom prst="rect">
            <a:avLst/>
          </a:prstGeom>
          <a:noFill/>
          <a:ln/>
        </p:spPr>
        <p:txBody>
          <a:bodyPr wrap="square" lIns="0" tIns="0" rIns="0" bIns="0" rtlCol="0" anchor="ctr"/>
          <a:lstStyle/>
          <a:p>
            <a:pPr marL="0" indent="0">
              <a:buNone/>
            </a:pPr>
            <a:r>
              <a:rPr lang="en-US" sz="1200" b="1" dirty="0">
                <a:solidFill>
                  <a:schemeClr val="accent2"/>
                </a:solidFill>
              </a:rPr>
              <a:t>OUR CHOICE  </a:t>
            </a:r>
            <a:r>
              <a:rPr lang="en-US" sz="1600" dirty="0">
                <a:solidFill>
                  <a:schemeClr val="bg1"/>
                </a:solidFill>
              </a:rPr>
              <a:t>A multi-user, multiprogramming OS on a distributed cluster, with real-time style timeouts for fraud checks</a:t>
            </a:r>
            <a:endParaRPr lang="en-US" sz="1200" dirty="0"/>
          </a:p>
        </p:txBody>
      </p:sp>
      <p:sp>
        <p:nvSpPr>
          <p:cNvPr id="25" name="Slide Number Placeholder 0"/>
          <p:cNvSpPr>
            <a:spLocks noGrp="1"/>
          </p:cNvSpPr>
          <p:nvPr>
            <p:ph type="sldNum" sz="quarter" idx="4294967295"/>
          </p:nvPr>
        </p:nvSpPr>
        <p:spPr>
          <a:xfrm>
            <a:off x="8229600" y="4754880"/>
            <a:ext cx="457200" cy="274320"/>
          </a:xfrm>
          <a:prstGeom prst="rect">
            <a:avLst/>
          </a:prstGeom>
          <a:extLst>
            <a:ext uri="{C572A759-6A51-4108-AA02-DFA0A04FC94B}">
              <ma14:wrappingTextBoxFlag xmlns="" xmlns:ma14="http://schemas.microsoft.com/office/mac/drawingml/2011/main" val="0"/>
            </a:ext>
          </a:extLst>
        </p:spPr>
        <p:txBody>
          <a:bodyPr/>
          <a:lstStyle>
            <a:lvl1pPr>
              <a:defRPr sz="1000">
                <a:solidFill>
                  <a:schemeClr val="accent5"/>
                </a:solidFill>
              </a:defRPr>
            </a:lvl1pPr>
          </a:lstStyle>
          <a:p>
            <a:pPr algn="r"/>
            <a:fld id="{F7021451-1387-4CA6-816F-3879F97B5CBC}" type="slidenum">
              <a:rPr lang="en-US" b="0"/>
              <a:t>7</a:t>
            </a:fld>
            <a:endParaRPr lang="en-US"/>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457200" y="274320"/>
            <a:ext cx="8229600" cy="731520"/>
          </a:xfrm>
          <a:prstGeom prst="rect">
            <a:avLst/>
          </a:prstGeom>
          <a:noFill/>
          <a:ln/>
        </p:spPr>
        <p:txBody>
          <a:bodyPr wrap="square" lIns="0" tIns="0" rIns="0" bIns="0" rtlCol="0" anchor="ctr"/>
          <a:lstStyle/>
          <a:p>
            <a:pPr marL="0" indent="0" algn="l">
              <a:buNone/>
            </a:pPr>
            <a:r>
              <a:rPr lang="en-US" sz="3400" b="1" dirty="0">
                <a:solidFill>
                  <a:schemeClr val="tx2"/>
                </a:solidFill>
              </a:rPr>
              <a:t>OS Structures</a:t>
            </a:r>
            <a:endParaRPr lang="en-US" sz="3400" dirty="0"/>
          </a:p>
        </p:txBody>
      </p:sp>
      <p:sp>
        <p:nvSpPr>
          <p:cNvPr id="3" name="shape-89"/>
          <p:cNvSpPr/>
          <p:nvPr/>
        </p:nvSpPr>
        <p:spPr>
          <a:xfrm>
            <a:off x="457200" y="1234440"/>
            <a:ext cx="4023360" cy="1554480"/>
          </a:xfrm>
          <a:prstGeom prst="roundRect">
            <a:avLst>
              <a:gd name="adj" fmla="val 4706"/>
            </a:avLst>
          </a:prstGeom>
          <a:solidFill>
            <a:schemeClr val="bg2"/>
          </a:solidFill>
          <a:ln/>
        </p:spPr>
      </p:sp>
      <p:sp>
        <p:nvSpPr>
          <p:cNvPr id="4" name="text-90"/>
          <p:cNvSpPr txBox="1"/>
          <p:nvPr/>
        </p:nvSpPr>
        <p:spPr>
          <a:xfrm>
            <a:off x="640080" y="1344168"/>
            <a:ext cx="3657600" cy="1371600"/>
          </a:xfrm>
          <a:prstGeom prst="rect">
            <a:avLst/>
          </a:prstGeom>
          <a:noFill/>
          <a:ln/>
        </p:spPr>
        <p:txBody>
          <a:bodyPr wrap="square" lIns="0" tIns="0" rIns="0" bIns="0" rtlCol="0" anchor="t"/>
          <a:lstStyle/>
          <a:p>
            <a:pPr marL="0" indent="0">
              <a:spcAft>
                <a:spcPts val="400"/>
              </a:spcAft>
              <a:buNone/>
            </a:pPr>
            <a:r>
              <a:rPr lang="en-US" sz="1600" b="1" dirty="0">
                <a:solidFill>
                  <a:schemeClr val="accent1"/>
                </a:solidFill>
              </a:rPr>
              <a:t>Monolithic</a:t>
            </a:r>
            <a:endParaRPr lang="en-US" sz="1600" dirty="0"/>
          </a:p>
          <a:p>
            <a:pPr marL="0" indent="0">
              <a:spcAft>
                <a:spcPts val="400"/>
              </a:spcAft>
              <a:buNone/>
            </a:pPr>
            <a:r>
              <a:rPr lang="en-US" sz="1400" dirty="0">
                <a:solidFill>
                  <a:schemeClr val="tx1"/>
                </a:solidFill>
              </a:rPr>
              <a:t>All OS services run in one large kernel. Very fast, but a single bug can crash the whole system.</a:t>
            </a:r>
            <a:endParaRPr lang="en-US" sz="1600" dirty="0"/>
          </a:p>
          <a:p>
            <a:pPr marL="0" indent="0">
              <a:buNone/>
            </a:pPr>
            <a:r>
              <a:rPr lang="en-US" sz="1200" i="1" dirty="0">
                <a:solidFill>
                  <a:schemeClr val="accent5"/>
                </a:solidFill>
              </a:rPr>
              <a:t>Example: classic UNIX</a:t>
            </a:r>
            <a:endParaRPr lang="en-US" sz="1600" dirty="0"/>
          </a:p>
        </p:txBody>
      </p:sp>
      <p:sp>
        <p:nvSpPr>
          <p:cNvPr id="5" name="shape-91"/>
          <p:cNvSpPr/>
          <p:nvPr/>
        </p:nvSpPr>
        <p:spPr>
          <a:xfrm>
            <a:off x="4663440" y="1234440"/>
            <a:ext cx="4023360" cy="1554480"/>
          </a:xfrm>
          <a:prstGeom prst="roundRect">
            <a:avLst>
              <a:gd name="adj" fmla="val 4706"/>
            </a:avLst>
          </a:prstGeom>
          <a:solidFill>
            <a:schemeClr val="bg2"/>
          </a:solidFill>
          <a:ln/>
        </p:spPr>
      </p:sp>
      <p:sp>
        <p:nvSpPr>
          <p:cNvPr id="6" name="text-92"/>
          <p:cNvSpPr txBox="1"/>
          <p:nvPr/>
        </p:nvSpPr>
        <p:spPr>
          <a:xfrm>
            <a:off x="4846320" y="1344168"/>
            <a:ext cx="3657600" cy="1371600"/>
          </a:xfrm>
          <a:prstGeom prst="rect">
            <a:avLst/>
          </a:prstGeom>
          <a:noFill/>
          <a:ln/>
        </p:spPr>
        <p:txBody>
          <a:bodyPr wrap="square" lIns="0" tIns="0" rIns="0" bIns="0" rtlCol="0" anchor="t"/>
          <a:lstStyle/>
          <a:p>
            <a:pPr marL="0" indent="0">
              <a:spcAft>
                <a:spcPts val="400"/>
              </a:spcAft>
              <a:buNone/>
            </a:pPr>
            <a:r>
              <a:rPr lang="en-US" sz="1600" b="1" dirty="0">
                <a:solidFill>
                  <a:schemeClr val="accent1"/>
                </a:solidFill>
              </a:rPr>
              <a:t>Layered</a:t>
            </a:r>
            <a:endParaRPr lang="en-US" sz="1600" dirty="0"/>
          </a:p>
          <a:p>
            <a:pPr marL="0" indent="0">
              <a:spcAft>
                <a:spcPts val="400"/>
              </a:spcAft>
              <a:buNone/>
            </a:pPr>
            <a:r>
              <a:rPr lang="en-US" sz="1400" dirty="0">
                <a:solidFill>
                  <a:schemeClr val="tx1"/>
                </a:solidFill>
              </a:rPr>
              <a:t>The OS is built in layers, each using only the layer below. Easy to verify, with some overhead.</a:t>
            </a:r>
            <a:endParaRPr lang="en-US" sz="1600" dirty="0"/>
          </a:p>
          <a:p>
            <a:pPr marL="0" indent="0">
              <a:buNone/>
            </a:pPr>
            <a:r>
              <a:rPr lang="en-US" sz="1200" i="1" dirty="0">
                <a:solidFill>
                  <a:schemeClr val="accent5"/>
                </a:solidFill>
              </a:rPr>
              <a:t>Example: THE system</a:t>
            </a:r>
            <a:endParaRPr lang="en-US" sz="1600" dirty="0"/>
          </a:p>
        </p:txBody>
      </p:sp>
      <p:sp>
        <p:nvSpPr>
          <p:cNvPr id="7" name="shape-93"/>
          <p:cNvSpPr/>
          <p:nvPr/>
        </p:nvSpPr>
        <p:spPr>
          <a:xfrm>
            <a:off x="457200" y="2971800"/>
            <a:ext cx="4023360" cy="1554480"/>
          </a:xfrm>
          <a:prstGeom prst="roundRect">
            <a:avLst>
              <a:gd name="adj" fmla="val 4706"/>
            </a:avLst>
          </a:prstGeom>
          <a:solidFill>
            <a:schemeClr val="bg2"/>
          </a:solidFill>
          <a:ln/>
        </p:spPr>
      </p:sp>
      <p:sp>
        <p:nvSpPr>
          <p:cNvPr id="8" name="text-94"/>
          <p:cNvSpPr txBox="1"/>
          <p:nvPr/>
        </p:nvSpPr>
        <p:spPr>
          <a:xfrm>
            <a:off x="640080" y="3081528"/>
            <a:ext cx="3657600" cy="1371600"/>
          </a:xfrm>
          <a:prstGeom prst="rect">
            <a:avLst/>
          </a:prstGeom>
          <a:noFill/>
          <a:ln/>
        </p:spPr>
        <p:txBody>
          <a:bodyPr wrap="square" lIns="0" tIns="0" rIns="0" bIns="0" rtlCol="0" anchor="t"/>
          <a:lstStyle/>
          <a:p>
            <a:pPr marL="0" indent="0">
              <a:spcAft>
                <a:spcPts val="400"/>
              </a:spcAft>
              <a:buNone/>
            </a:pPr>
            <a:r>
              <a:rPr lang="en-US" sz="1600" b="1" dirty="0">
                <a:solidFill>
                  <a:schemeClr val="accent1"/>
                </a:solidFill>
              </a:rPr>
              <a:t>Microkernel</a:t>
            </a:r>
            <a:endParaRPr lang="en-US" sz="1600" dirty="0"/>
          </a:p>
          <a:p>
            <a:pPr marL="0" indent="0">
              <a:spcAft>
                <a:spcPts val="400"/>
              </a:spcAft>
              <a:buNone/>
            </a:pPr>
            <a:r>
              <a:rPr lang="en-US" sz="1400" dirty="0">
                <a:solidFill>
                  <a:schemeClr val="tx1"/>
                </a:solidFill>
              </a:rPr>
              <a:t>Only minimal services stay in the kernel; the rest run as user processes. Very reliable, slower messaging.</a:t>
            </a:r>
            <a:endParaRPr lang="en-US" sz="1600" dirty="0"/>
          </a:p>
          <a:p>
            <a:pPr marL="0" indent="0">
              <a:buNone/>
            </a:pPr>
            <a:r>
              <a:rPr lang="en-US" sz="1200" i="1" dirty="0">
                <a:solidFill>
                  <a:schemeClr val="accent5"/>
                </a:solidFill>
              </a:rPr>
              <a:t>Example: MINIX, QNX</a:t>
            </a:r>
            <a:endParaRPr lang="en-US" sz="1600" dirty="0"/>
          </a:p>
        </p:txBody>
      </p:sp>
      <p:sp>
        <p:nvSpPr>
          <p:cNvPr id="9" name="shape-95"/>
          <p:cNvSpPr/>
          <p:nvPr/>
        </p:nvSpPr>
        <p:spPr>
          <a:xfrm>
            <a:off x="4663440" y="2971800"/>
            <a:ext cx="4023360" cy="1554480"/>
          </a:xfrm>
          <a:prstGeom prst="roundRect">
            <a:avLst>
              <a:gd name="adj" fmla="val 4706"/>
            </a:avLst>
          </a:prstGeom>
          <a:solidFill>
            <a:schemeClr val="tx2"/>
          </a:solidFill>
          <a:ln/>
        </p:spPr>
      </p:sp>
      <p:sp>
        <p:nvSpPr>
          <p:cNvPr id="10" name="text-96"/>
          <p:cNvSpPr txBox="1"/>
          <p:nvPr/>
        </p:nvSpPr>
        <p:spPr>
          <a:xfrm>
            <a:off x="4846320" y="3081528"/>
            <a:ext cx="3657600" cy="1371600"/>
          </a:xfrm>
          <a:prstGeom prst="rect">
            <a:avLst/>
          </a:prstGeom>
          <a:noFill/>
          <a:ln/>
        </p:spPr>
        <p:txBody>
          <a:bodyPr wrap="square" lIns="0" tIns="0" rIns="0" bIns="0" rtlCol="0" anchor="t"/>
          <a:lstStyle/>
          <a:p>
            <a:pPr marL="0" indent="0">
              <a:spcAft>
                <a:spcPts val="400"/>
              </a:spcAft>
              <a:buNone/>
            </a:pPr>
            <a:r>
              <a:rPr lang="en-US" sz="1600" b="1" dirty="0">
                <a:solidFill>
                  <a:schemeClr val="accent2"/>
                </a:solidFill>
              </a:rPr>
              <a:t>Hybrid</a:t>
            </a:r>
            <a:endParaRPr lang="en-US" sz="1600" dirty="0"/>
          </a:p>
          <a:p>
            <a:pPr marL="0" indent="0">
              <a:spcAft>
                <a:spcPts val="400"/>
              </a:spcAft>
              <a:buNone/>
            </a:pPr>
            <a:r>
              <a:rPr lang="en-US" sz="1400" dirty="0">
                <a:solidFill>
                  <a:schemeClr val="bg1"/>
                </a:solidFill>
              </a:rPr>
              <a:t>Microkernel design with key services kept in the kernel. Balances speed and fault isolation.</a:t>
            </a:r>
            <a:endParaRPr lang="en-US" sz="1600" dirty="0"/>
          </a:p>
          <a:p>
            <a:pPr marL="0" indent="0">
              <a:buNone/>
            </a:pPr>
            <a:r>
              <a:rPr lang="en-US" sz="1200" i="1" dirty="0">
                <a:solidFill>
                  <a:schemeClr val="accent3"/>
                </a:solidFill>
              </a:rPr>
              <a:t>Example: Windows NT, macOS</a:t>
            </a:r>
            <a:endParaRPr lang="en-US" sz="1600" dirty="0"/>
          </a:p>
        </p:txBody>
      </p:sp>
      <p:sp>
        <p:nvSpPr>
          <p:cNvPr id="25" name="Slide Number Placeholder 0"/>
          <p:cNvSpPr>
            <a:spLocks noGrp="1"/>
          </p:cNvSpPr>
          <p:nvPr>
            <p:ph type="sldNum" sz="quarter" idx="4294967295"/>
          </p:nvPr>
        </p:nvSpPr>
        <p:spPr>
          <a:xfrm>
            <a:off x="8229600" y="4754880"/>
            <a:ext cx="457200" cy="274320"/>
          </a:xfrm>
          <a:prstGeom prst="rect">
            <a:avLst/>
          </a:prstGeom>
          <a:extLst>
            <a:ext uri="{C572A759-6A51-4108-AA02-DFA0A04FC94B}">
              <ma14:wrappingTextBoxFlag xmlns="" xmlns:ma14="http://schemas.microsoft.com/office/mac/drawingml/2011/main" val="0"/>
            </a:ext>
          </a:extLst>
        </p:spPr>
        <p:txBody>
          <a:bodyPr/>
          <a:lstStyle>
            <a:lvl1pPr>
              <a:defRPr sz="1000">
                <a:solidFill>
                  <a:schemeClr val="accent5"/>
                </a:solidFill>
              </a:defRPr>
            </a:lvl1pPr>
          </a:lstStyle>
          <a:p>
            <a:pPr algn="r"/>
            <a:fld id="{F7021451-1387-4CA6-816F-3879F97B5CBC}" type="slidenum">
              <a:rPr lang="en-US" b="0"/>
              <a:t>8</a:t>
            </a:fld>
            <a:endParaRPr lang="en-US"/>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457200" y="274320"/>
            <a:ext cx="8229600" cy="731520"/>
          </a:xfrm>
          <a:prstGeom prst="rect">
            <a:avLst/>
          </a:prstGeom>
          <a:noFill/>
          <a:ln/>
        </p:spPr>
        <p:txBody>
          <a:bodyPr wrap="square" lIns="0" tIns="0" rIns="0" bIns="0" rtlCol="0" anchor="ctr"/>
          <a:lstStyle/>
          <a:p>
            <a:pPr marL="0" indent="0" algn="l">
              <a:buNone/>
            </a:pPr>
            <a:r>
              <a:rPr lang="en-US" sz="3400" b="1" dirty="0">
                <a:solidFill>
                  <a:schemeClr val="tx2"/>
                </a:solidFill>
              </a:rPr>
              <a:t>Choosing an OS Structure</a:t>
            </a:r>
            <a:endParaRPr lang="en-US" sz="3400" dirty="0"/>
          </a:p>
        </p:txBody>
      </p:sp>
      <p:graphicFrame>
        <p:nvGraphicFramePr>
          <p:cNvPr id="3" name="structure-chart"/>
          <p:cNvGraphicFramePr/>
          <p:nvPr/>
        </p:nvGraphicFramePr>
        <p:xfrm>
          <a:off x="457200" y="1188720"/>
          <a:ext cx="5394960" cy="3200400"/>
        </p:xfrm>
        <a:graphic>
          <a:graphicData uri="http://schemas.openxmlformats.org/drawingml/2006/chart">
            <c:chart xmlns:c="http://schemas.openxmlformats.org/drawingml/2006/chart" xmlns:r="http://schemas.openxmlformats.org/officeDocument/2006/relationships" r:id="rId3"/>
          </a:graphicData>
        </a:graphic>
      </p:graphicFrame>
      <p:sp>
        <p:nvSpPr>
          <p:cNvPr id="4" name="text-97"/>
          <p:cNvSpPr txBox="1"/>
          <p:nvPr/>
        </p:nvSpPr>
        <p:spPr>
          <a:xfrm>
            <a:off x="457200" y="4434840"/>
            <a:ext cx="5394960" cy="228600"/>
          </a:xfrm>
          <a:prstGeom prst="rect">
            <a:avLst/>
          </a:prstGeom>
          <a:noFill/>
          <a:ln/>
        </p:spPr>
        <p:txBody>
          <a:bodyPr wrap="square" lIns="0" tIns="0" rIns="0" bIns="0" rtlCol="0" anchor="ctr"/>
          <a:lstStyle/>
          <a:p>
            <a:pPr marL="0" indent="0">
              <a:buNone/>
            </a:pPr>
            <a:r>
              <a:rPr lang="en-US" sz="1000" dirty="0">
                <a:solidFill>
                  <a:schemeClr val="accent5"/>
                </a:solidFill>
              </a:rPr>
              <a:t>Qualitative scores (1 = weak, 5 = strong): author's assessment of standard OS trade-offs</a:t>
            </a:r>
            <a:endParaRPr lang="en-US" sz="1000" dirty="0"/>
          </a:p>
        </p:txBody>
      </p:sp>
      <p:sp>
        <p:nvSpPr>
          <p:cNvPr id="5" name="shape-98"/>
          <p:cNvSpPr/>
          <p:nvPr/>
        </p:nvSpPr>
        <p:spPr>
          <a:xfrm>
            <a:off x="6080760" y="1188720"/>
            <a:ext cx="2606040" cy="3383280"/>
          </a:xfrm>
          <a:prstGeom prst="roundRect">
            <a:avLst>
              <a:gd name="adj" fmla="val 2807"/>
            </a:avLst>
          </a:prstGeom>
          <a:solidFill>
            <a:schemeClr val="tx2"/>
          </a:solidFill>
          <a:ln/>
        </p:spPr>
      </p:sp>
      <p:sp>
        <p:nvSpPr>
          <p:cNvPr id="6" name="text-99"/>
          <p:cNvSpPr txBox="1"/>
          <p:nvPr/>
        </p:nvSpPr>
        <p:spPr>
          <a:xfrm>
            <a:off x="6309360" y="1371600"/>
            <a:ext cx="2194560" cy="3017520"/>
          </a:xfrm>
          <a:prstGeom prst="rect">
            <a:avLst/>
          </a:prstGeom>
          <a:noFill/>
          <a:ln/>
        </p:spPr>
        <p:txBody>
          <a:bodyPr wrap="square" lIns="0" tIns="0" rIns="0" bIns="0" rtlCol="0" anchor="t"/>
          <a:lstStyle/>
          <a:p>
            <a:pPr marL="0" indent="0">
              <a:buNone/>
            </a:pPr>
            <a:r>
              <a:rPr lang="en-US" sz="1200" b="1" dirty="0">
                <a:solidFill>
                  <a:schemeClr val="accent2"/>
                </a:solidFill>
              </a:rPr>
              <a:t>OUR PICK</a:t>
            </a:r>
            <a:endParaRPr lang="en-US" sz="1200" dirty="0"/>
          </a:p>
          <a:p>
            <a:pPr marL="0" indent="0">
              <a:spcAft>
                <a:spcPts val="1000"/>
              </a:spcAft>
              <a:buNone/>
            </a:pPr>
            <a:r>
              <a:rPr lang="en-US" sz="2200" b="1" dirty="0">
                <a:solidFill>
                  <a:schemeClr val="bg1"/>
                </a:solidFill>
              </a:rPr>
              <a:t>Hybrid kernel</a:t>
            </a:r>
            <a:endParaRPr lang="en-US" sz="1200" dirty="0"/>
          </a:p>
          <a:p>
            <a:pPr marL="342900" indent="-342900">
              <a:spcAft>
                <a:spcPts val="800"/>
              </a:spcAft>
              <a:buSzPct val="100000"/>
              <a:buChar char="•"/>
            </a:pPr>
            <a:r>
              <a:rPr lang="en-US" sz="1400" dirty="0">
                <a:solidFill>
                  <a:schemeClr val="bg1"/>
                </a:solidFill>
              </a:rPr>
              <a:t>Near-monolithic speed for core services</a:t>
            </a:r>
            <a:endParaRPr lang="en-US" sz="1200" dirty="0"/>
          </a:p>
          <a:p>
            <a:pPr marL="342900" indent="-342900">
              <a:spcAft>
                <a:spcPts val="800"/>
              </a:spcAft>
              <a:buSzPct val="100000"/>
              <a:buChar char="•"/>
            </a:pPr>
            <a:r>
              <a:rPr lang="en-US" sz="1400" dirty="0">
                <a:solidFill>
                  <a:schemeClr val="bg1"/>
                </a:solidFill>
              </a:rPr>
              <a:t>Layered modules isolate faults</a:t>
            </a:r>
            <a:endParaRPr lang="en-US" sz="1200" dirty="0"/>
          </a:p>
          <a:p>
            <a:pPr marL="342900" indent="-342900">
              <a:buSzPct val="100000"/>
              <a:buChar char="•"/>
            </a:pPr>
            <a:r>
              <a:rPr lang="en-US" sz="1400" dirty="0">
                <a:solidFill>
                  <a:schemeClr val="bg1"/>
                </a:solidFill>
              </a:rPr>
              <a:t>Used in Windows NT and macOS</a:t>
            </a:r>
            <a:endParaRPr lang="en-US" sz="1200" dirty="0"/>
          </a:p>
        </p:txBody>
      </p:sp>
      <p:sp>
        <p:nvSpPr>
          <p:cNvPr id="25" name="Slide Number Placeholder 0"/>
          <p:cNvSpPr>
            <a:spLocks noGrp="1"/>
          </p:cNvSpPr>
          <p:nvPr>
            <p:ph type="sldNum" sz="quarter" idx="4294967295"/>
          </p:nvPr>
        </p:nvSpPr>
        <p:spPr>
          <a:xfrm>
            <a:off x="8229600" y="4754880"/>
            <a:ext cx="457200" cy="274320"/>
          </a:xfrm>
          <a:prstGeom prst="rect">
            <a:avLst/>
          </a:prstGeom>
          <a:extLst>
            <a:ext uri="{C572A759-6A51-4108-AA02-DFA0A04FC94B}">
              <ma14:wrappingTextBoxFlag xmlns="" xmlns:ma14="http://schemas.microsoft.com/office/mac/drawingml/2011/main" val="0"/>
            </a:ext>
          </a:extLst>
        </p:spPr>
        <p:txBody>
          <a:bodyPr/>
          <a:lstStyle>
            <a:lvl1pPr>
              <a:defRPr sz="1000">
                <a:solidFill>
                  <a:schemeClr val="accent5"/>
                </a:solidFill>
              </a:defRPr>
            </a:lvl1pPr>
          </a:lstStyle>
          <a:p>
            <a:pPr algn="r"/>
            <a:fld id="{F7021451-1387-4CA6-816F-3879F97B5CBC}" type="slidenum">
              <a:rPr lang="en-US" b="0"/>
              <a:t>9</a:t>
            </a:fld>
            <a:endParaRPr lang="en-US"/>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457200" y="274320"/>
            <a:ext cx="8229600" cy="731520"/>
          </a:xfrm>
          <a:prstGeom prst="rect">
            <a:avLst/>
          </a:prstGeom>
          <a:noFill/>
          <a:ln/>
        </p:spPr>
        <p:txBody>
          <a:bodyPr wrap="square" lIns="0" tIns="0" rIns="0" bIns="0" rtlCol="0" anchor="ctr"/>
          <a:lstStyle/>
          <a:p>
            <a:pPr marL="0" indent="0" algn="l">
              <a:buNone/>
            </a:pPr>
            <a:r>
              <a:rPr lang="en-US" sz="3400" b="1" dirty="0">
                <a:solidFill>
                  <a:schemeClr val="tx2"/>
                </a:solidFill>
              </a:rPr>
              <a:t>Recommended Architecture</a:t>
            </a:r>
            <a:endParaRPr lang="en-US" sz="3400" dirty="0"/>
          </a:p>
        </p:txBody>
      </p:sp>
      <p:sp>
        <p:nvSpPr>
          <p:cNvPr id="3" name="shape-100"/>
          <p:cNvSpPr/>
          <p:nvPr/>
        </p:nvSpPr>
        <p:spPr>
          <a:xfrm>
            <a:off x="457200" y="1188720"/>
            <a:ext cx="8229600" cy="548640"/>
          </a:xfrm>
          <a:prstGeom prst="roundRect">
            <a:avLst>
              <a:gd name="adj" fmla="val 10000"/>
            </a:avLst>
          </a:prstGeom>
          <a:solidFill>
            <a:schemeClr val="bg2"/>
          </a:solidFill>
          <a:ln/>
        </p:spPr>
      </p:sp>
      <p:sp>
        <p:nvSpPr>
          <p:cNvPr id="4" name="text-101"/>
          <p:cNvSpPr txBox="1"/>
          <p:nvPr/>
        </p:nvSpPr>
        <p:spPr>
          <a:xfrm>
            <a:off x="640080" y="1188720"/>
            <a:ext cx="1645920" cy="548640"/>
          </a:xfrm>
          <a:prstGeom prst="rect">
            <a:avLst/>
          </a:prstGeom>
          <a:noFill/>
          <a:ln/>
        </p:spPr>
        <p:txBody>
          <a:bodyPr wrap="square" lIns="0" tIns="0" rIns="0" bIns="0" rtlCol="0" anchor="ctr"/>
          <a:lstStyle/>
          <a:p>
            <a:pPr marL="0" indent="0">
              <a:buNone/>
            </a:pPr>
            <a:r>
              <a:rPr lang="en-US" sz="1400" b="1" dirty="0">
                <a:solidFill>
                  <a:schemeClr val="tx2"/>
                </a:solidFill>
              </a:rPr>
              <a:t>Applications</a:t>
            </a:r>
            <a:endParaRPr lang="en-US" sz="1400" dirty="0"/>
          </a:p>
          <a:p>
            <a:pPr marL="0" indent="0">
              <a:buNone/>
            </a:pPr>
            <a:r>
              <a:rPr lang="en-US" sz="1100" dirty="0">
                <a:solidFill>
                  <a:schemeClr val="tx2"/>
                </a:solidFill>
              </a:rPr>
              <a:t>user mode</a:t>
            </a:r>
            <a:endParaRPr lang="en-US" sz="1400" dirty="0"/>
          </a:p>
        </p:txBody>
      </p:sp>
      <p:sp>
        <p:nvSpPr>
          <p:cNvPr id="5" name="text-102"/>
          <p:cNvSpPr txBox="1"/>
          <p:nvPr/>
        </p:nvSpPr>
        <p:spPr>
          <a:xfrm>
            <a:off x="2377440" y="1188720"/>
            <a:ext cx="6126480" cy="548640"/>
          </a:xfrm>
          <a:prstGeom prst="rect">
            <a:avLst/>
          </a:prstGeom>
          <a:noFill/>
          <a:ln/>
        </p:spPr>
        <p:txBody>
          <a:bodyPr wrap="square" lIns="0" tIns="0" rIns="0" bIns="0" rtlCol="0" anchor="ctr"/>
          <a:lstStyle/>
          <a:p>
            <a:pPr marL="0" indent="0">
              <a:buNone/>
            </a:pPr>
            <a:r>
              <a:rPr lang="en-US" sz="1400" dirty="0">
                <a:solidFill>
                  <a:schemeClr val="tx1"/>
                </a:solidFill>
              </a:rPr>
              <a:t>ATM   |   Mobile app   |   Net banking   |   Teller terminal</a:t>
            </a:r>
            <a:endParaRPr lang="en-US" sz="1400" dirty="0"/>
          </a:p>
        </p:txBody>
      </p:sp>
      <p:sp>
        <p:nvSpPr>
          <p:cNvPr id="6" name="shape-103"/>
          <p:cNvSpPr/>
          <p:nvPr/>
        </p:nvSpPr>
        <p:spPr>
          <a:xfrm>
            <a:off x="457200" y="1828800"/>
            <a:ext cx="8229600" cy="548640"/>
          </a:xfrm>
          <a:prstGeom prst="roundRect">
            <a:avLst>
              <a:gd name="adj" fmla="val 10000"/>
            </a:avLst>
          </a:prstGeom>
          <a:solidFill>
            <a:schemeClr val="accent3"/>
          </a:solidFill>
          <a:ln/>
        </p:spPr>
      </p:sp>
      <p:sp>
        <p:nvSpPr>
          <p:cNvPr id="7" name="text-104"/>
          <p:cNvSpPr txBox="1"/>
          <p:nvPr/>
        </p:nvSpPr>
        <p:spPr>
          <a:xfrm>
            <a:off x="640080" y="1828800"/>
            <a:ext cx="1737360" cy="548640"/>
          </a:xfrm>
          <a:prstGeom prst="rect">
            <a:avLst/>
          </a:prstGeom>
          <a:noFill/>
          <a:ln/>
        </p:spPr>
        <p:txBody>
          <a:bodyPr wrap="square" lIns="0" tIns="0" rIns="0" bIns="0" rtlCol="0" anchor="ctr"/>
          <a:lstStyle/>
          <a:p>
            <a:pPr marL="0" indent="0">
              <a:buNone/>
            </a:pPr>
            <a:r>
              <a:rPr lang="en-US" sz="1400" b="1" dirty="0">
                <a:solidFill>
                  <a:schemeClr val="tx1"/>
                </a:solidFill>
              </a:rPr>
              <a:t>Banking services</a:t>
            </a:r>
            <a:endParaRPr lang="en-US" sz="1400" dirty="0"/>
          </a:p>
          <a:p>
            <a:pPr marL="0" indent="0">
              <a:buNone/>
            </a:pPr>
            <a:r>
              <a:rPr lang="en-US" sz="1100" dirty="0">
                <a:solidFill>
                  <a:schemeClr val="tx1"/>
                </a:solidFill>
              </a:rPr>
              <a:t>user mode</a:t>
            </a:r>
            <a:endParaRPr lang="en-US" sz="1400" dirty="0"/>
          </a:p>
        </p:txBody>
      </p:sp>
      <p:sp>
        <p:nvSpPr>
          <p:cNvPr id="8" name="text-105"/>
          <p:cNvSpPr txBox="1"/>
          <p:nvPr/>
        </p:nvSpPr>
        <p:spPr>
          <a:xfrm>
            <a:off x="2377440" y="1828800"/>
            <a:ext cx="6126480" cy="548640"/>
          </a:xfrm>
          <a:prstGeom prst="rect">
            <a:avLst/>
          </a:prstGeom>
          <a:noFill/>
          <a:ln/>
        </p:spPr>
        <p:txBody>
          <a:bodyPr wrap="square" lIns="0" tIns="0" rIns="0" bIns="0" rtlCol="0" anchor="ctr"/>
          <a:lstStyle/>
          <a:p>
            <a:pPr marL="0" indent="0">
              <a:buNone/>
            </a:pPr>
            <a:r>
              <a:rPr lang="en-US" sz="1400" dirty="0">
                <a:solidFill>
                  <a:schemeClr val="tx1"/>
                </a:solidFill>
              </a:rPr>
              <a:t>Transaction manager   |   Database server   |   Fraud engine</a:t>
            </a:r>
            <a:endParaRPr lang="en-US" sz="1400" dirty="0"/>
          </a:p>
        </p:txBody>
      </p:sp>
      <p:sp>
        <p:nvSpPr>
          <p:cNvPr id="9" name="shape-106"/>
          <p:cNvSpPr/>
          <p:nvPr/>
        </p:nvSpPr>
        <p:spPr>
          <a:xfrm>
            <a:off x="457200" y="2468880"/>
            <a:ext cx="8229600" cy="411480"/>
          </a:xfrm>
          <a:prstGeom prst="roundRect">
            <a:avLst>
              <a:gd name="adj" fmla="val 13333"/>
            </a:avLst>
          </a:prstGeom>
          <a:solidFill>
            <a:schemeClr val="accent2"/>
          </a:solidFill>
          <a:ln/>
        </p:spPr>
      </p:sp>
      <p:sp>
        <p:nvSpPr>
          <p:cNvPr id="10" name="text-107"/>
          <p:cNvSpPr txBox="1"/>
          <p:nvPr/>
        </p:nvSpPr>
        <p:spPr>
          <a:xfrm>
            <a:off x="457200" y="2468880"/>
            <a:ext cx="8229600" cy="411480"/>
          </a:xfrm>
          <a:prstGeom prst="rect">
            <a:avLst/>
          </a:prstGeom>
          <a:noFill/>
          <a:ln/>
        </p:spPr>
        <p:txBody>
          <a:bodyPr wrap="square" lIns="0" tIns="0" rIns="0" bIns="0" rtlCol="0" anchor="ctr"/>
          <a:lstStyle/>
          <a:p>
            <a:pPr marL="0" indent="0" algn="ctr">
              <a:buNone/>
            </a:pPr>
            <a:r>
              <a:rPr lang="en-US" sz="1300" b="1" dirty="0">
                <a:solidFill>
                  <a:schemeClr val="tx1"/>
                </a:solidFill>
              </a:rPr>
              <a:t>SYSTEM CALL INTERFACE  (switch from user mode to kernel mode)</a:t>
            </a:r>
            <a:endParaRPr lang="en-US" sz="1300" dirty="0"/>
          </a:p>
        </p:txBody>
      </p:sp>
      <p:sp>
        <p:nvSpPr>
          <p:cNvPr id="11" name="shape-108"/>
          <p:cNvSpPr/>
          <p:nvPr/>
        </p:nvSpPr>
        <p:spPr>
          <a:xfrm>
            <a:off x="457200" y="2971800"/>
            <a:ext cx="8229600" cy="914400"/>
          </a:xfrm>
          <a:prstGeom prst="roundRect">
            <a:avLst>
              <a:gd name="adj" fmla="val 6000"/>
            </a:avLst>
          </a:prstGeom>
          <a:solidFill>
            <a:schemeClr val="tx2"/>
          </a:solidFill>
          <a:ln/>
        </p:spPr>
      </p:sp>
      <p:sp>
        <p:nvSpPr>
          <p:cNvPr id="12" name="text-109"/>
          <p:cNvSpPr txBox="1"/>
          <p:nvPr/>
        </p:nvSpPr>
        <p:spPr>
          <a:xfrm>
            <a:off x="640080" y="2971800"/>
            <a:ext cx="1371600" cy="914400"/>
          </a:xfrm>
          <a:prstGeom prst="rect">
            <a:avLst/>
          </a:prstGeom>
          <a:noFill/>
          <a:ln/>
        </p:spPr>
        <p:txBody>
          <a:bodyPr wrap="square" lIns="0" tIns="0" rIns="0" bIns="0" rtlCol="0" anchor="ctr"/>
          <a:lstStyle/>
          <a:p>
            <a:pPr marL="0" indent="0">
              <a:buNone/>
            </a:pPr>
            <a:r>
              <a:rPr lang="en-US" sz="1400" b="1" dirty="0">
                <a:solidFill>
                  <a:schemeClr val="bg1"/>
                </a:solidFill>
              </a:rPr>
              <a:t>OS kernel</a:t>
            </a:r>
            <a:endParaRPr lang="en-US" sz="1400" dirty="0"/>
          </a:p>
          <a:p>
            <a:pPr marL="0" indent="0">
              <a:buNone/>
            </a:pPr>
            <a:r>
              <a:rPr lang="en-US" sz="1100" dirty="0">
                <a:solidFill>
                  <a:schemeClr val="bg1"/>
                </a:solidFill>
              </a:rPr>
              <a:t>kernel mode</a:t>
            </a:r>
            <a:endParaRPr lang="en-US" sz="1400" dirty="0"/>
          </a:p>
        </p:txBody>
      </p:sp>
      <p:sp>
        <p:nvSpPr>
          <p:cNvPr id="13" name="shape-110"/>
          <p:cNvSpPr/>
          <p:nvPr/>
        </p:nvSpPr>
        <p:spPr>
          <a:xfrm>
            <a:off x="2103120" y="3154680"/>
            <a:ext cx="1188720" cy="548640"/>
          </a:xfrm>
          <a:prstGeom prst="roundRect">
            <a:avLst>
              <a:gd name="adj" fmla="val 10000"/>
            </a:avLst>
          </a:prstGeom>
          <a:solidFill>
            <a:schemeClr val="accent1"/>
          </a:solidFill>
          <a:ln/>
        </p:spPr>
      </p:sp>
      <p:sp>
        <p:nvSpPr>
          <p:cNvPr id="14" name="text-111"/>
          <p:cNvSpPr txBox="1"/>
          <p:nvPr/>
        </p:nvSpPr>
        <p:spPr>
          <a:xfrm>
            <a:off x="2103120" y="3154680"/>
            <a:ext cx="1188720" cy="548640"/>
          </a:xfrm>
          <a:prstGeom prst="rect">
            <a:avLst/>
          </a:prstGeom>
          <a:noFill/>
          <a:ln/>
        </p:spPr>
        <p:txBody>
          <a:bodyPr wrap="square" lIns="0" tIns="0" rIns="0" bIns="0" rtlCol="0" anchor="ctr"/>
          <a:lstStyle/>
          <a:p>
            <a:pPr marL="0" indent="0" algn="ctr">
              <a:buNone/>
            </a:pPr>
            <a:r>
              <a:rPr lang="en-US" sz="1200" b="1" dirty="0">
                <a:solidFill>
                  <a:schemeClr val="bg1"/>
                </a:solidFill>
              </a:rPr>
              <a:t>Process mgmt</a:t>
            </a:r>
            <a:endParaRPr lang="en-US" sz="1200" dirty="0"/>
          </a:p>
        </p:txBody>
      </p:sp>
      <p:sp>
        <p:nvSpPr>
          <p:cNvPr id="15" name="shape-112"/>
          <p:cNvSpPr/>
          <p:nvPr/>
        </p:nvSpPr>
        <p:spPr>
          <a:xfrm>
            <a:off x="3383280" y="3154680"/>
            <a:ext cx="1188720" cy="548640"/>
          </a:xfrm>
          <a:prstGeom prst="roundRect">
            <a:avLst>
              <a:gd name="adj" fmla="val 10000"/>
            </a:avLst>
          </a:prstGeom>
          <a:solidFill>
            <a:schemeClr val="accent1"/>
          </a:solidFill>
          <a:ln/>
        </p:spPr>
      </p:sp>
      <p:sp>
        <p:nvSpPr>
          <p:cNvPr id="16" name="text-113"/>
          <p:cNvSpPr txBox="1"/>
          <p:nvPr/>
        </p:nvSpPr>
        <p:spPr>
          <a:xfrm>
            <a:off x="3383280" y="3154680"/>
            <a:ext cx="1188720" cy="548640"/>
          </a:xfrm>
          <a:prstGeom prst="rect">
            <a:avLst/>
          </a:prstGeom>
          <a:noFill/>
          <a:ln/>
        </p:spPr>
        <p:txBody>
          <a:bodyPr wrap="square" lIns="0" tIns="0" rIns="0" bIns="0" rtlCol="0" anchor="ctr"/>
          <a:lstStyle/>
          <a:p>
            <a:pPr marL="0" indent="0" algn="ctr">
              <a:buNone/>
            </a:pPr>
            <a:r>
              <a:rPr lang="en-US" sz="1200" b="1" dirty="0">
                <a:solidFill>
                  <a:schemeClr val="bg1"/>
                </a:solidFill>
              </a:rPr>
              <a:t>Memory mgmt</a:t>
            </a:r>
            <a:endParaRPr lang="en-US" sz="1200" dirty="0"/>
          </a:p>
        </p:txBody>
      </p:sp>
      <p:sp>
        <p:nvSpPr>
          <p:cNvPr id="17" name="shape-114"/>
          <p:cNvSpPr/>
          <p:nvPr/>
        </p:nvSpPr>
        <p:spPr>
          <a:xfrm>
            <a:off x="4663440" y="3154680"/>
            <a:ext cx="1188720" cy="548640"/>
          </a:xfrm>
          <a:prstGeom prst="roundRect">
            <a:avLst>
              <a:gd name="adj" fmla="val 10000"/>
            </a:avLst>
          </a:prstGeom>
          <a:solidFill>
            <a:schemeClr val="accent1"/>
          </a:solidFill>
          <a:ln/>
        </p:spPr>
      </p:sp>
      <p:sp>
        <p:nvSpPr>
          <p:cNvPr id="18" name="text-115"/>
          <p:cNvSpPr txBox="1"/>
          <p:nvPr/>
        </p:nvSpPr>
        <p:spPr>
          <a:xfrm>
            <a:off x="4663440" y="3154680"/>
            <a:ext cx="1188720" cy="548640"/>
          </a:xfrm>
          <a:prstGeom prst="rect">
            <a:avLst/>
          </a:prstGeom>
          <a:noFill/>
          <a:ln/>
        </p:spPr>
        <p:txBody>
          <a:bodyPr wrap="square" lIns="0" tIns="0" rIns="0" bIns="0" rtlCol="0" anchor="ctr"/>
          <a:lstStyle/>
          <a:p>
            <a:pPr marL="0" indent="0" algn="ctr">
              <a:buNone/>
            </a:pPr>
            <a:r>
              <a:rPr lang="en-US" sz="1200" b="1" dirty="0">
                <a:solidFill>
                  <a:schemeClr val="bg1"/>
                </a:solidFill>
              </a:rPr>
              <a:t>File system</a:t>
            </a:r>
            <a:endParaRPr lang="en-US" sz="1200" dirty="0"/>
          </a:p>
        </p:txBody>
      </p:sp>
      <p:sp>
        <p:nvSpPr>
          <p:cNvPr id="19" name="shape-116"/>
          <p:cNvSpPr/>
          <p:nvPr/>
        </p:nvSpPr>
        <p:spPr>
          <a:xfrm>
            <a:off x="5943600" y="3154680"/>
            <a:ext cx="1188720" cy="548640"/>
          </a:xfrm>
          <a:prstGeom prst="roundRect">
            <a:avLst>
              <a:gd name="adj" fmla="val 10000"/>
            </a:avLst>
          </a:prstGeom>
          <a:solidFill>
            <a:schemeClr val="accent1"/>
          </a:solidFill>
          <a:ln/>
        </p:spPr>
      </p:sp>
      <p:sp>
        <p:nvSpPr>
          <p:cNvPr id="20" name="text-117"/>
          <p:cNvSpPr txBox="1"/>
          <p:nvPr/>
        </p:nvSpPr>
        <p:spPr>
          <a:xfrm>
            <a:off x="5943600" y="3154680"/>
            <a:ext cx="1188720" cy="548640"/>
          </a:xfrm>
          <a:prstGeom prst="rect">
            <a:avLst/>
          </a:prstGeom>
          <a:noFill/>
          <a:ln/>
        </p:spPr>
        <p:txBody>
          <a:bodyPr wrap="square" lIns="0" tIns="0" rIns="0" bIns="0" rtlCol="0" anchor="ctr"/>
          <a:lstStyle/>
          <a:p>
            <a:pPr marL="0" indent="0" algn="ctr">
              <a:buNone/>
            </a:pPr>
            <a:r>
              <a:rPr lang="en-US" sz="1200" b="1" dirty="0">
                <a:solidFill>
                  <a:schemeClr val="bg1"/>
                </a:solidFill>
              </a:rPr>
              <a:t>I/O and drivers</a:t>
            </a:r>
            <a:endParaRPr lang="en-US" sz="1200" dirty="0"/>
          </a:p>
        </p:txBody>
      </p:sp>
      <p:sp>
        <p:nvSpPr>
          <p:cNvPr id="21" name="shape-118"/>
          <p:cNvSpPr/>
          <p:nvPr/>
        </p:nvSpPr>
        <p:spPr>
          <a:xfrm>
            <a:off x="7223760" y="3154680"/>
            <a:ext cx="1188720" cy="548640"/>
          </a:xfrm>
          <a:prstGeom prst="roundRect">
            <a:avLst>
              <a:gd name="adj" fmla="val 10000"/>
            </a:avLst>
          </a:prstGeom>
          <a:solidFill>
            <a:schemeClr val="accent1"/>
          </a:solidFill>
          <a:ln/>
        </p:spPr>
      </p:sp>
      <p:sp>
        <p:nvSpPr>
          <p:cNvPr id="22" name="text-119"/>
          <p:cNvSpPr txBox="1"/>
          <p:nvPr/>
        </p:nvSpPr>
        <p:spPr>
          <a:xfrm>
            <a:off x="7223760" y="3154680"/>
            <a:ext cx="1188720" cy="548640"/>
          </a:xfrm>
          <a:prstGeom prst="rect">
            <a:avLst/>
          </a:prstGeom>
          <a:noFill/>
          <a:ln/>
        </p:spPr>
        <p:txBody>
          <a:bodyPr wrap="square" lIns="0" tIns="0" rIns="0" bIns="0" rtlCol="0" anchor="ctr"/>
          <a:lstStyle/>
          <a:p>
            <a:pPr marL="0" indent="0" algn="ctr">
              <a:buNone/>
            </a:pPr>
            <a:r>
              <a:rPr lang="en-US" sz="1200" b="1" dirty="0">
                <a:solidFill>
                  <a:schemeClr val="bg1"/>
                </a:solidFill>
              </a:rPr>
              <a:t>Security and net</a:t>
            </a:r>
            <a:endParaRPr lang="en-US" sz="1200" dirty="0"/>
          </a:p>
        </p:txBody>
      </p:sp>
      <p:sp>
        <p:nvSpPr>
          <p:cNvPr id="23" name="shape-120"/>
          <p:cNvSpPr/>
          <p:nvPr/>
        </p:nvSpPr>
        <p:spPr>
          <a:xfrm>
            <a:off x="457200" y="3977640"/>
            <a:ext cx="8229600" cy="548640"/>
          </a:xfrm>
          <a:prstGeom prst="roundRect">
            <a:avLst>
              <a:gd name="adj" fmla="val 10000"/>
            </a:avLst>
          </a:prstGeom>
          <a:solidFill>
            <a:schemeClr val="accent5"/>
          </a:solidFill>
          <a:ln/>
        </p:spPr>
      </p:sp>
      <p:sp>
        <p:nvSpPr>
          <p:cNvPr id="24" name="text-121"/>
          <p:cNvSpPr txBox="1"/>
          <p:nvPr/>
        </p:nvSpPr>
        <p:spPr>
          <a:xfrm>
            <a:off x="640080" y="3977640"/>
            <a:ext cx="1645920" cy="548640"/>
          </a:xfrm>
          <a:prstGeom prst="rect">
            <a:avLst/>
          </a:prstGeom>
          <a:noFill/>
          <a:ln/>
        </p:spPr>
        <p:txBody>
          <a:bodyPr wrap="square" lIns="0" tIns="0" rIns="0" bIns="0" rtlCol="0" anchor="ctr"/>
          <a:lstStyle/>
          <a:p>
            <a:pPr marL="0" indent="0">
              <a:buNone/>
            </a:pPr>
            <a:r>
              <a:rPr lang="en-US" sz="1400" b="1" dirty="0">
                <a:solidFill>
                  <a:schemeClr val="bg1"/>
                </a:solidFill>
              </a:rPr>
              <a:t>Hardware</a:t>
            </a:r>
            <a:endParaRPr lang="en-US" sz="1400" dirty="0"/>
          </a:p>
        </p:txBody>
      </p:sp>
      <p:sp>
        <p:nvSpPr>
          <p:cNvPr id="25" name="text-122"/>
          <p:cNvSpPr txBox="1"/>
          <p:nvPr/>
        </p:nvSpPr>
        <p:spPr>
          <a:xfrm>
            <a:off x="2377440" y="3977640"/>
            <a:ext cx="6126480" cy="548640"/>
          </a:xfrm>
          <a:prstGeom prst="rect">
            <a:avLst/>
          </a:prstGeom>
          <a:noFill/>
          <a:ln/>
        </p:spPr>
        <p:txBody>
          <a:bodyPr wrap="square" lIns="0" tIns="0" rIns="0" bIns="0" rtlCol="0" anchor="ctr"/>
          <a:lstStyle/>
          <a:p>
            <a:pPr marL="0" indent="0">
              <a:buNone/>
            </a:pPr>
            <a:r>
              <a:rPr lang="en-US" sz="1400" dirty="0">
                <a:solidFill>
                  <a:schemeClr val="bg1"/>
                </a:solidFill>
              </a:rPr>
              <a:t>CPU   |   RAM   |   SSD / RAID storage   |   Network card</a:t>
            </a:r>
            <a:endParaRPr lang="en-US" sz="1400" dirty="0"/>
          </a:p>
        </p:txBody>
      </p:sp>
      <p:sp>
        <p:nvSpPr>
          <p:cNvPr id="26" name="Slide Number Placeholder 0"/>
          <p:cNvSpPr>
            <a:spLocks noGrp="1"/>
          </p:cNvSpPr>
          <p:nvPr>
            <p:ph type="sldNum" sz="quarter" idx="4294967295"/>
          </p:nvPr>
        </p:nvSpPr>
        <p:spPr>
          <a:xfrm>
            <a:off x="8229600" y="4754880"/>
            <a:ext cx="457200" cy="274320"/>
          </a:xfrm>
          <a:prstGeom prst="rect">
            <a:avLst/>
          </a:prstGeom>
          <a:extLst>
            <a:ext uri="{C572A759-6A51-4108-AA02-DFA0A04FC94B}">
              <ma14:wrappingTextBoxFlag xmlns="" xmlns:ma14="http://schemas.microsoft.com/office/mac/drawingml/2011/main" val="0"/>
            </a:ext>
          </a:extLst>
        </p:spPr>
        <p:txBody>
          <a:bodyPr/>
          <a:lstStyle>
            <a:lvl1pPr>
              <a:defRPr sz="1000">
                <a:solidFill>
                  <a:schemeClr val="accent5"/>
                </a:solidFill>
              </a:defRPr>
            </a:lvl1pPr>
          </a:lstStyle>
          <a:p>
            <a:pPr algn="r"/>
            <a:fld id="{F7021451-1387-4CA6-816F-3879F97B5CBC}" type="slidenum">
              <a:rPr lang="en-US" b="0"/>
              <a:t>10</a:t>
            </a:fld>
            <a:endParaRPr lang="en-US"/>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457200" y="274320"/>
            <a:ext cx="8229600" cy="731520"/>
          </a:xfrm>
          <a:prstGeom prst="rect">
            <a:avLst/>
          </a:prstGeom>
          <a:noFill/>
          <a:ln/>
        </p:spPr>
        <p:txBody>
          <a:bodyPr wrap="square" lIns="0" tIns="0" rIns="0" bIns="0" rtlCol="0" anchor="ctr"/>
          <a:lstStyle/>
          <a:p>
            <a:pPr marL="0" indent="0" algn="l">
              <a:buNone/>
            </a:pPr>
            <a:r>
              <a:rPr lang="en-US" sz="3400" b="1" dirty="0">
                <a:solidFill>
                  <a:schemeClr val="tx2"/>
                </a:solidFill>
              </a:rPr>
              <a:t>Theory: How a System Call Works</a:t>
            </a:r>
            <a:endParaRPr lang="en-US" sz="3400" dirty="0"/>
          </a:p>
        </p:txBody>
      </p:sp>
      <p:sp>
        <p:nvSpPr>
          <p:cNvPr id="3" name="shape-123"/>
          <p:cNvSpPr/>
          <p:nvPr/>
        </p:nvSpPr>
        <p:spPr>
          <a:xfrm>
            <a:off x="457200" y="1234440"/>
            <a:ext cx="1463040" cy="1737360"/>
          </a:xfrm>
          <a:prstGeom prst="roundRect">
            <a:avLst>
              <a:gd name="adj" fmla="val 5000"/>
            </a:avLst>
          </a:prstGeom>
          <a:solidFill>
            <a:schemeClr val="bg2"/>
          </a:solidFill>
          <a:ln/>
        </p:spPr>
      </p:sp>
      <p:sp>
        <p:nvSpPr>
          <p:cNvPr id="4" name="shape-124"/>
          <p:cNvSpPr/>
          <p:nvPr/>
        </p:nvSpPr>
        <p:spPr>
          <a:xfrm>
            <a:off x="594360" y="1371600"/>
            <a:ext cx="365760" cy="365760"/>
          </a:xfrm>
          <a:prstGeom prst="ellipse">
            <a:avLst/>
          </a:prstGeom>
          <a:solidFill>
            <a:schemeClr val="accent1"/>
          </a:solidFill>
          <a:ln/>
        </p:spPr>
      </p:sp>
      <p:sp>
        <p:nvSpPr>
          <p:cNvPr id="5" name="text-125"/>
          <p:cNvSpPr txBox="1"/>
          <p:nvPr/>
        </p:nvSpPr>
        <p:spPr>
          <a:xfrm>
            <a:off x="594360" y="1371600"/>
            <a:ext cx="365760" cy="365760"/>
          </a:xfrm>
          <a:prstGeom prst="rect">
            <a:avLst/>
          </a:prstGeom>
          <a:noFill/>
          <a:ln/>
        </p:spPr>
        <p:txBody>
          <a:bodyPr wrap="square" lIns="0" tIns="0" rIns="0" bIns="0" rtlCol="0" anchor="ctr"/>
          <a:lstStyle/>
          <a:p>
            <a:pPr marL="0" indent="0" algn="ctr">
              <a:buNone/>
            </a:pPr>
            <a:r>
              <a:rPr lang="en-US" sz="1400" b="1" dirty="0">
                <a:solidFill>
                  <a:schemeClr val="bg1"/>
                </a:solidFill>
              </a:rPr>
              <a:t>1</a:t>
            </a:r>
            <a:endParaRPr lang="en-US" sz="1400" dirty="0"/>
          </a:p>
        </p:txBody>
      </p:sp>
      <p:sp>
        <p:nvSpPr>
          <p:cNvPr id="6" name="text-126"/>
          <p:cNvSpPr txBox="1"/>
          <p:nvPr/>
        </p:nvSpPr>
        <p:spPr>
          <a:xfrm>
            <a:off x="594360" y="1828800"/>
            <a:ext cx="1234440" cy="1051560"/>
          </a:xfrm>
          <a:prstGeom prst="rect">
            <a:avLst/>
          </a:prstGeom>
          <a:noFill/>
          <a:ln/>
        </p:spPr>
        <p:txBody>
          <a:bodyPr wrap="square" lIns="0" tIns="0" rIns="0" bIns="0" rtlCol="0" anchor="t"/>
          <a:lstStyle/>
          <a:p>
            <a:pPr marL="0" indent="0">
              <a:buNone/>
            </a:pPr>
            <a:r>
              <a:rPr lang="en-US" sz="1400" dirty="0">
                <a:solidFill>
                  <a:schemeClr val="tx1"/>
                </a:solidFill>
              </a:rPr>
              <a:t>App calls a library function</a:t>
            </a:r>
            <a:endParaRPr lang="en-US" sz="1400" dirty="0"/>
          </a:p>
        </p:txBody>
      </p:sp>
      <p:sp>
        <p:nvSpPr>
          <p:cNvPr id="7" name="shape-127"/>
          <p:cNvSpPr/>
          <p:nvPr/>
        </p:nvSpPr>
        <p:spPr>
          <a:xfrm>
            <a:off x="1956816" y="1965960"/>
            <a:ext cx="182880" cy="274320"/>
          </a:xfrm>
          <a:prstGeom prst="rightArrow">
            <a:avLst/>
          </a:prstGeom>
          <a:solidFill>
            <a:schemeClr val="accent2"/>
          </a:solidFill>
          <a:ln/>
        </p:spPr>
      </p:sp>
      <p:sp>
        <p:nvSpPr>
          <p:cNvPr id="8" name="shape-128"/>
          <p:cNvSpPr/>
          <p:nvPr/>
        </p:nvSpPr>
        <p:spPr>
          <a:xfrm>
            <a:off x="2148840" y="1234440"/>
            <a:ext cx="1463040" cy="1737360"/>
          </a:xfrm>
          <a:prstGeom prst="roundRect">
            <a:avLst>
              <a:gd name="adj" fmla="val 5000"/>
            </a:avLst>
          </a:prstGeom>
          <a:solidFill>
            <a:schemeClr val="bg2"/>
          </a:solidFill>
          <a:ln/>
        </p:spPr>
      </p:sp>
      <p:sp>
        <p:nvSpPr>
          <p:cNvPr id="9" name="shape-129"/>
          <p:cNvSpPr/>
          <p:nvPr/>
        </p:nvSpPr>
        <p:spPr>
          <a:xfrm>
            <a:off x="2286000" y="1371600"/>
            <a:ext cx="365760" cy="365760"/>
          </a:xfrm>
          <a:prstGeom prst="ellipse">
            <a:avLst/>
          </a:prstGeom>
          <a:solidFill>
            <a:schemeClr val="accent1"/>
          </a:solidFill>
          <a:ln/>
        </p:spPr>
      </p:sp>
      <p:sp>
        <p:nvSpPr>
          <p:cNvPr id="10" name="text-130"/>
          <p:cNvSpPr txBox="1"/>
          <p:nvPr/>
        </p:nvSpPr>
        <p:spPr>
          <a:xfrm>
            <a:off x="2286000" y="1371600"/>
            <a:ext cx="365760" cy="365760"/>
          </a:xfrm>
          <a:prstGeom prst="rect">
            <a:avLst/>
          </a:prstGeom>
          <a:noFill/>
          <a:ln/>
        </p:spPr>
        <p:txBody>
          <a:bodyPr wrap="square" lIns="0" tIns="0" rIns="0" bIns="0" rtlCol="0" anchor="ctr"/>
          <a:lstStyle/>
          <a:p>
            <a:pPr marL="0" indent="0" algn="ctr">
              <a:buNone/>
            </a:pPr>
            <a:r>
              <a:rPr lang="en-US" sz="1400" b="1" dirty="0">
                <a:solidFill>
                  <a:schemeClr val="bg1"/>
                </a:solidFill>
              </a:rPr>
              <a:t>2</a:t>
            </a:r>
            <a:endParaRPr lang="en-US" sz="1400" dirty="0"/>
          </a:p>
        </p:txBody>
      </p:sp>
      <p:sp>
        <p:nvSpPr>
          <p:cNvPr id="11" name="text-131"/>
          <p:cNvSpPr txBox="1"/>
          <p:nvPr/>
        </p:nvSpPr>
        <p:spPr>
          <a:xfrm>
            <a:off x="2286000" y="1828800"/>
            <a:ext cx="1234440" cy="1051560"/>
          </a:xfrm>
          <a:prstGeom prst="rect">
            <a:avLst/>
          </a:prstGeom>
          <a:noFill/>
          <a:ln/>
        </p:spPr>
        <p:txBody>
          <a:bodyPr wrap="square" lIns="0" tIns="0" rIns="0" bIns="0" rtlCol="0" anchor="t"/>
          <a:lstStyle/>
          <a:p>
            <a:pPr marL="0" indent="0">
              <a:buNone/>
            </a:pPr>
            <a:r>
              <a:rPr lang="en-US" sz="1400" dirty="0">
                <a:solidFill>
                  <a:schemeClr val="tx1"/>
                </a:solidFill>
              </a:rPr>
              <a:t>Call number and arguments go to registers</a:t>
            </a:r>
            <a:endParaRPr lang="en-US" sz="1400" dirty="0"/>
          </a:p>
        </p:txBody>
      </p:sp>
      <p:sp>
        <p:nvSpPr>
          <p:cNvPr id="12" name="shape-132"/>
          <p:cNvSpPr/>
          <p:nvPr/>
        </p:nvSpPr>
        <p:spPr>
          <a:xfrm>
            <a:off x="3648456" y="1965960"/>
            <a:ext cx="182880" cy="274320"/>
          </a:xfrm>
          <a:prstGeom prst="rightArrow">
            <a:avLst/>
          </a:prstGeom>
          <a:solidFill>
            <a:schemeClr val="accent2"/>
          </a:solidFill>
          <a:ln/>
        </p:spPr>
      </p:sp>
      <p:sp>
        <p:nvSpPr>
          <p:cNvPr id="13" name="shape-133"/>
          <p:cNvSpPr/>
          <p:nvPr/>
        </p:nvSpPr>
        <p:spPr>
          <a:xfrm>
            <a:off x="3840480" y="1234440"/>
            <a:ext cx="1463040" cy="1737360"/>
          </a:xfrm>
          <a:prstGeom prst="roundRect">
            <a:avLst>
              <a:gd name="adj" fmla="val 5000"/>
            </a:avLst>
          </a:prstGeom>
          <a:solidFill>
            <a:schemeClr val="bg2"/>
          </a:solidFill>
          <a:ln/>
        </p:spPr>
      </p:sp>
      <p:sp>
        <p:nvSpPr>
          <p:cNvPr id="14" name="shape-134"/>
          <p:cNvSpPr/>
          <p:nvPr/>
        </p:nvSpPr>
        <p:spPr>
          <a:xfrm>
            <a:off x="3977640" y="1371600"/>
            <a:ext cx="365760" cy="365760"/>
          </a:xfrm>
          <a:prstGeom prst="ellipse">
            <a:avLst/>
          </a:prstGeom>
          <a:solidFill>
            <a:schemeClr val="accent1"/>
          </a:solidFill>
          <a:ln/>
        </p:spPr>
      </p:sp>
      <p:sp>
        <p:nvSpPr>
          <p:cNvPr id="15" name="text-135"/>
          <p:cNvSpPr txBox="1"/>
          <p:nvPr/>
        </p:nvSpPr>
        <p:spPr>
          <a:xfrm>
            <a:off x="3977640" y="1371600"/>
            <a:ext cx="365760" cy="365760"/>
          </a:xfrm>
          <a:prstGeom prst="rect">
            <a:avLst/>
          </a:prstGeom>
          <a:noFill/>
          <a:ln/>
        </p:spPr>
        <p:txBody>
          <a:bodyPr wrap="square" lIns="0" tIns="0" rIns="0" bIns="0" rtlCol="0" anchor="ctr"/>
          <a:lstStyle/>
          <a:p>
            <a:pPr marL="0" indent="0" algn="ctr">
              <a:buNone/>
            </a:pPr>
            <a:r>
              <a:rPr lang="en-US" sz="1400" b="1" dirty="0">
                <a:solidFill>
                  <a:schemeClr val="bg1"/>
                </a:solidFill>
              </a:rPr>
              <a:t>3</a:t>
            </a:r>
            <a:endParaRPr lang="en-US" sz="1400" dirty="0"/>
          </a:p>
        </p:txBody>
      </p:sp>
      <p:sp>
        <p:nvSpPr>
          <p:cNvPr id="16" name="text-136"/>
          <p:cNvSpPr txBox="1"/>
          <p:nvPr/>
        </p:nvSpPr>
        <p:spPr>
          <a:xfrm>
            <a:off x="3977640" y="1828800"/>
            <a:ext cx="1234440" cy="1051560"/>
          </a:xfrm>
          <a:prstGeom prst="rect">
            <a:avLst/>
          </a:prstGeom>
          <a:noFill/>
          <a:ln/>
        </p:spPr>
        <p:txBody>
          <a:bodyPr wrap="square" lIns="0" tIns="0" rIns="0" bIns="0" rtlCol="0" anchor="t"/>
          <a:lstStyle/>
          <a:p>
            <a:pPr marL="0" indent="0">
              <a:buNone/>
            </a:pPr>
            <a:r>
              <a:rPr lang="en-US" sz="1400" dirty="0">
                <a:solidFill>
                  <a:schemeClr val="tx1"/>
                </a:solidFill>
              </a:rPr>
              <a:t>TRAP switches the CPU to kernel mode</a:t>
            </a:r>
            <a:endParaRPr lang="en-US" sz="1400" dirty="0"/>
          </a:p>
        </p:txBody>
      </p:sp>
      <p:sp>
        <p:nvSpPr>
          <p:cNvPr id="17" name="shape-137"/>
          <p:cNvSpPr/>
          <p:nvPr/>
        </p:nvSpPr>
        <p:spPr>
          <a:xfrm>
            <a:off x="5340096" y="1965960"/>
            <a:ext cx="182880" cy="274320"/>
          </a:xfrm>
          <a:prstGeom prst="rightArrow">
            <a:avLst/>
          </a:prstGeom>
          <a:solidFill>
            <a:schemeClr val="accent2"/>
          </a:solidFill>
          <a:ln/>
        </p:spPr>
      </p:sp>
      <p:sp>
        <p:nvSpPr>
          <p:cNvPr id="18" name="shape-138"/>
          <p:cNvSpPr/>
          <p:nvPr/>
        </p:nvSpPr>
        <p:spPr>
          <a:xfrm>
            <a:off x="5532120" y="1234440"/>
            <a:ext cx="1463040" cy="1737360"/>
          </a:xfrm>
          <a:prstGeom prst="roundRect">
            <a:avLst>
              <a:gd name="adj" fmla="val 5000"/>
            </a:avLst>
          </a:prstGeom>
          <a:solidFill>
            <a:schemeClr val="bg2"/>
          </a:solidFill>
          <a:ln/>
        </p:spPr>
      </p:sp>
      <p:sp>
        <p:nvSpPr>
          <p:cNvPr id="19" name="shape-139"/>
          <p:cNvSpPr/>
          <p:nvPr/>
        </p:nvSpPr>
        <p:spPr>
          <a:xfrm>
            <a:off x="5669280" y="1371600"/>
            <a:ext cx="365760" cy="365760"/>
          </a:xfrm>
          <a:prstGeom prst="ellipse">
            <a:avLst/>
          </a:prstGeom>
          <a:solidFill>
            <a:schemeClr val="accent1"/>
          </a:solidFill>
          <a:ln/>
        </p:spPr>
      </p:sp>
      <p:sp>
        <p:nvSpPr>
          <p:cNvPr id="20" name="text-140"/>
          <p:cNvSpPr txBox="1"/>
          <p:nvPr/>
        </p:nvSpPr>
        <p:spPr>
          <a:xfrm>
            <a:off x="5669280" y="1371600"/>
            <a:ext cx="365760" cy="365760"/>
          </a:xfrm>
          <a:prstGeom prst="rect">
            <a:avLst/>
          </a:prstGeom>
          <a:noFill/>
          <a:ln/>
        </p:spPr>
        <p:txBody>
          <a:bodyPr wrap="square" lIns="0" tIns="0" rIns="0" bIns="0" rtlCol="0" anchor="ctr"/>
          <a:lstStyle/>
          <a:p>
            <a:pPr marL="0" indent="0" algn="ctr">
              <a:buNone/>
            </a:pPr>
            <a:r>
              <a:rPr lang="en-US" sz="1400" b="1" dirty="0">
                <a:solidFill>
                  <a:schemeClr val="bg1"/>
                </a:solidFill>
              </a:rPr>
              <a:t>4</a:t>
            </a:r>
            <a:endParaRPr lang="en-US" sz="1400" dirty="0"/>
          </a:p>
        </p:txBody>
      </p:sp>
      <p:sp>
        <p:nvSpPr>
          <p:cNvPr id="21" name="text-141"/>
          <p:cNvSpPr txBox="1"/>
          <p:nvPr/>
        </p:nvSpPr>
        <p:spPr>
          <a:xfrm>
            <a:off x="5669280" y="1828800"/>
            <a:ext cx="1234440" cy="1051560"/>
          </a:xfrm>
          <a:prstGeom prst="rect">
            <a:avLst/>
          </a:prstGeom>
          <a:noFill/>
          <a:ln/>
        </p:spPr>
        <p:txBody>
          <a:bodyPr wrap="square" lIns="0" tIns="0" rIns="0" bIns="0" rtlCol="0" anchor="t"/>
          <a:lstStyle/>
          <a:p>
            <a:pPr marL="0" indent="0">
              <a:buNone/>
            </a:pPr>
            <a:r>
              <a:rPr lang="en-US" sz="1400" dirty="0">
                <a:solidFill>
                  <a:schemeClr val="tx1"/>
                </a:solidFill>
              </a:rPr>
              <a:t>Kernel finds and runs the service</a:t>
            </a:r>
            <a:endParaRPr lang="en-US" sz="1400" dirty="0"/>
          </a:p>
        </p:txBody>
      </p:sp>
      <p:sp>
        <p:nvSpPr>
          <p:cNvPr id="22" name="shape-142"/>
          <p:cNvSpPr/>
          <p:nvPr/>
        </p:nvSpPr>
        <p:spPr>
          <a:xfrm>
            <a:off x="7031736" y="1965960"/>
            <a:ext cx="182880" cy="274320"/>
          </a:xfrm>
          <a:prstGeom prst="rightArrow">
            <a:avLst/>
          </a:prstGeom>
          <a:solidFill>
            <a:schemeClr val="accent2"/>
          </a:solidFill>
          <a:ln/>
        </p:spPr>
      </p:sp>
      <p:sp>
        <p:nvSpPr>
          <p:cNvPr id="23" name="shape-143"/>
          <p:cNvSpPr/>
          <p:nvPr/>
        </p:nvSpPr>
        <p:spPr>
          <a:xfrm>
            <a:off x="7223760" y="1234440"/>
            <a:ext cx="1463040" cy="1737360"/>
          </a:xfrm>
          <a:prstGeom prst="roundRect">
            <a:avLst>
              <a:gd name="adj" fmla="val 5000"/>
            </a:avLst>
          </a:prstGeom>
          <a:solidFill>
            <a:schemeClr val="bg2"/>
          </a:solidFill>
          <a:ln/>
        </p:spPr>
      </p:sp>
      <p:sp>
        <p:nvSpPr>
          <p:cNvPr id="24" name="shape-144"/>
          <p:cNvSpPr/>
          <p:nvPr/>
        </p:nvSpPr>
        <p:spPr>
          <a:xfrm>
            <a:off x="7360920" y="1371600"/>
            <a:ext cx="365760" cy="365760"/>
          </a:xfrm>
          <a:prstGeom prst="ellipse">
            <a:avLst/>
          </a:prstGeom>
          <a:solidFill>
            <a:schemeClr val="accent1"/>
          </a:solidFill>
          <a:ln/>
        </p:spPr>
      </p:sp>
      <p:sp>
        <p:nvSpPr>
          <p:cNvPr id="25" name="text-145"/>
          <p:cNvSpPr txBox="1"/>
          <p:nvPr/>
        </p:nvSpPr>
        <p:spPr>
          <a:xfrm>
            <a:off x="7360920" y="1371600"/>
            <a:ext cx="365760" cy="365760"/>
          </a:xfrm>
          <a:prstGeom prst="rect">
            <a:avLst/>
          </a:prstGeom>
          <a:noFill/>
          <a:ln/>
        </p:spPr>
        <p:txBody>
          <a:bodyPr wrap="square" lIns="0" tIns="0" rIns="0" bIns="0" rtlCol="0" anchor="ctr"/>
          <a:lstStyle/>
          <a:p>
            <a:pPr marL="0" indent="0" algn="ctr">
              <a:buNone/>
            </a:pPr>
            <a:r>
              <a:rPr lang="en-US" sz="1400" b="1" dirty="0">
                <a:solidFill>
                  <a:schemeClr val="bg1"/>
                </a:solidFill>
              </a:rPr>
              <a:t>5</a:t>
            </a:r>
            <a:endParaRPr lang="en-US" sz="1400" dirty="0"/>
          </a:p>
        </p:txBody>
      </p:sp>
      <p:sp>
        <p:nvSpPr>
          <p:cNvPr id="26" name="text-146"/>
          <p:cNvSpPr txBox="1"/>
          <p:nvPr/>
        </p:nvSpPr>
        <p:spPr>
          <a:xfrm>
            <a:off x="7360920" y="1828800"/>
            <a:ext cx="1234440" cy="1051560"/>
          </a:xfrm>
          <a:prstGeom prst="rect">
            <a:avLst/>
          </a:prstGeom>
          <a:noFill/>
          <a:ln/>
        </p:spPr>
        <p:txBody>
          <a:bodyPr wrap="square" lIns="0" tIns="0" rIns="0" bIns="0" rtlCol="0" anchor="t"/>
          <a:lstStyle/>
          <a:p>
            <a:pPr marL="0" indent="0">
              <a:buNone/>
            </a:pPr>
            <a:r>
              <a:rPr lang="en-US" sz="1400" dirty="0">
                <a:solidFill>
                  <a:schemeClr val="tx1"/>
                </a:solidFill>
              </a:rPr>
              <a:t>Result returned, back to user mode</a:t>
            </a:r>
            <a:endParaRPr lang="en-US" sz="1400" dirty="0"/>
          </a:p>
        </p:txBody>
      </p:sp>
      <p:sp>
        <p:nvSpPr>
          <p:cNvPr id="27" name="shape-147"/>
          <p:cNvSpPr/>
          <p:nvPr/>
        </p:nvSpPr>
        <p:spPr>
          <a:xfrm>
            <a:off x="457200" y="3200400"/>
            <a:ext cx="4023360" cy="1325880"/>
          </a:xfrm>
          <a:prstGeom prst="roundRect">
            <a:avLst>
              <a:gd name="adj" fmla="val 5517"/>
            </a:avLst>
          </a:prstGeom>
          <a:solidFill>
            <a:schemeClr val="tx2"/>
          </a:solidFill>
          <a:ln/>
        </p:spPr>
      </p:sp>
      <p:sp>
        <p:nvSpPr>
          <p:cNvPr id="28" name="text-148"/>
          <p:cNvSpPr txBox="1"/>
          <p:nvPr/>
        </p:nvSpPr>
        <p:spPr>
          <a:xfrm>
            <a:off x="640080" y="3291840"/>
            <a:ext cx="3657600" cy="1143000"/>
          </a:xfrm>
          <a:prstGeom prst="rect">
            <a:avLst/>
          </a:prstGeom>
          <a:noFill/>
          <a:ln/>
        </p:spPr>
        <p:txBody>
          <a:bodyPr wrap="square" lIns="0" tIns="0" rIns="0" bIns="0" rtlCol="0" anchor="t"/>
          <a:lstStyle/>
          <a:p>
            <a:pPr marL="0" indent="0">
              <a:spcAft>
                <a:spcPts val="400"/>
              </a:spcAft>
              <a:buNone/>
            </a:pPr>
            <a:r>
              <a:rPr lang="en-US" sz="1600" b="1" dirty="0">
                <a:solidFill>
                  <a:schemeClr val="accent2"/>
                </a:solidFill>
              </a:rPr>
              <a:t>Why a controlled gateway?</a:t>
            </a:r>
            <a:endParaRPr lang="en-US" sz="1600" dirty="0"/>
          </a:p>
          <a:p>
            <a:pPr marL="0" indent="0">
              <a:buNone/>
            </a:pPr>
            <a:r>
              <a:rPr lang="en-US" sz="1400" dirty="0">
                <a:solidFill>
                  <a:schemeClr val="bg1"/>
                </a:solidFill>
              </a:rPr>
              <a:t>Only the kernel can touch hardware, so one faulty program cannot corrupt the bank's data.</a:t>
            </a:r>
            <a:endParaRPr lang="en-US" sz="1600" dirty="0"/>
          </a:p>
        </p:txBody>
      </p:sp>
      <p:sp>
        <p:nvSpPr>
          <p:cNvPr id="29" name="shape-149"/>
          <p:cNvSpPr/>
          <p:nvPr/>
        </p:nvSpPr>
        <p:spPr>
          <a:xfrm>
            <a:off x="4663440" y="3200400"/>
            <a:ext cx="4023360" cy="1325880"/>
          </a:xfrm>
          <a:prstGeom prst="roundRect">
            <a:avLst>
              <a:gd name="adj" fmla="val 5517"/>
            </a:avLst>
          </a:prstGeom>
          <a:solidFill>
            <a:schemeClr val="bg2"/>
          </a:solidFill>
          <a:ln/>
        </p:spPr>
      </p:sp>
      <p:sp>
        <p:nvSpPr>
          <p:cNvPr id="30" name="text-150"/>
          <p:cNvSpPr txBox="1"/>
          <p:nvPr/>
        </p:nvSpPr>
        <p:spPr>
          <a:xfrm>
            <a:off x="4846320" y="3291840"/>
            <a:ext cx="3657600" cy="1143000"/>
          </a:xfrm>
          <a:prstGeom prst="rect">
            <a:avLst/>
          </a:prstGeom>
          <a:noFill/>
          <a:ln/>
        </p:spPr>
        <p:txBody>
          <a:bodyPr wrap="square" lIns="0" tIns="0" rIns="0" bIns="0" rtlCol="0" anchor="t"/>
          <a:lstStyle/>
          <a:p>
            <a:pPr marL="0" indent="0">
              <a:spcAft>
                <a:spcPts val="400"/>
              </a:spcAft>
              <a:buNone/>
            </a:pPr>
            <a:r>
              <a:rPr lang="en-US" sz="1600" b="1" dirty="0">
                <a:solidFill>
                  <a:schemeClr val="accent1"/>
                </a:solidFill>
              </a:rPr>
              <a:t>Types of system calls</a:t>
            </a:r>
            <a:endParaRPr lang="en-US" sz="1600" dirty="0"/>
          </a:p>
          <a:p>
            <a:pPr marL="0" indent="0">
              <a:buNone/>
            </a:pPr>
            <a:r>
              <a:rPr lang="en-US" sz="1400" dirty="0">
                <a:solidFill>
                  <a:schemeClr val="tx1"/>
                </a:solidFill>
              </a:rPr>
              <a:t>Process control, file management, device management, information maintenance, communication, protection.</a:t>
            </a:r>
            <a:endParaRPr lang="en-US" sz="1600" dirty="0"/>
          </a:p>
        </p:txBody>
      </p:sp>
      <p:sp>
        <p:nvSpPr>
          <p:cNvPr id="31" name="Slide Number Placeholder 0"/>
          <p:cNvSpPr>
            <a:spLocks noGrp="1"/>
          </p:cNvSpPr>
          <p:nvPr>
            <p:ph type="sldNum" sz="quarter" idx="4294967295"/>
          </p:nvPr>
        </p:nvSpPr>
        <p:spPr>
          <a:xfrm>
            <a:off x="8229600" y="4754880"/>
            <a:ext cx="457200" cy="274320"/>
          </a:xfrm>
          <a:prstGeom prst="rect">
            <a:avLst/>
          </a:prstGeom>
          <a:extLst>
            <a:ext uri="{C572A759-6A51-4108-AA02-DFA0A04FC94B}">
              <ma14:wrappingTextBoxFlag xmlns="" xmlns:ma14="http://schemas.microsoft.com/office/mac/drawingml/2011/main" val="0"/>
            </a:ext>
          </a:extLst>
        </p:spPr>
        <p:txBody>
          <a:bodyPr/>
          <a:lstStyle>
            <a:lvl1pPr>
              <a:defRPr sz="1000">
                <a:solidFill>
                  <a:schemeClr val="accent5"/>
                </a:solidFill>
              </a:defRPr>
            </a:lvl1pPr>
          </a:lstStyle>
          <a:p>
            <a:pPr algn="r"/>
            <a:fld id="{F7021451-1387-4CA6-816F-3879F97B5CBC}" type="slidenum">
              <a:rPr lang="en-US" b="0"/>
              <a:t>11</a:t>
            </a:fld>
            <a:endParaRPr lang="en-US"/>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457200" y="274320"/>
            <a:ext cx="8229600" cy="731520"/>
          </a:xfrm>
          <a:prstGeom prst="rect">
            <a:avLst/>
          </a:prstGeom>
          <a:noFill/>
          <a:ln/>
        </p:spPr>
        <p:txBody>
          <a:bodyPr wrap="square" lIns="0" tIns="0" rIns="0" bIns="0" rtlCol="0" anchor="ctr"/>
          <a:lstStyle/>
          <a:p>
            <a:pPr marL="0" indent="0" algn="l">
              <a:buNone/>
            </a:pPr>
            <a:r>
              <a:rPr lang="en-US" sz="3400" b="1" dirty="0">
                <a:solidFill>
                  <a:schemeClr val="tx2"/>
                </a:solidFill>
              </a:rPr>
              <a:t>System Calls at Work</a:t>
            </a:r>
            <a:endParaRPr lang="en-US" sz="3400" dirty="0"/>
          </a:p>
        </p:txBody>
      </p:sp>
      <p:graphicFrame>
        <p:nvGraphicFramePr>
          <p:cNvPr id="13" name="syscall-table"/>
          <p:cNvGraphicFramePr>
            <a:graphicFrameLocks noGrp="1"/>
          </p:cNvGraphicFramePr>
          <p:nvPr>
            <p:extLst>
              <p:ext uri="{D42A27DB-BD31-4B8C-83A1-F6EECF244321}">
                <p14:modId xmlns:p14="http://schemas.microsoft.com/office/powerpoint/2010/main" val="1579011935"/>
              </p:ext>
            </p:extLst>
          </p:nvPr>
        </p:nvGraphicFramePr>
        <p:xfrm>
          <a:off x="457200" y="1188720"/>
          <a:ext cx="8229600" cy="2752344"/>
        </p:xfrm>
        <a:graphic>
          <a:graphicData uri="http://schemas.openxmlformats.org/drawingml/2006/table">
            <a:tbl>
              <a:tblPr/>
              <a:tblGrid>
                <a:gridCol w="2011680">
                  <a:extLst>
                    <a:ext uri="{9D8B030D-6E8A-4147-A177-3AD203B41FA5}">
                      <a16:colId xmlns:a16="http://schemas.microsoft.com/office/drawing/2014/main" val="20000"/>
                    </a:ext>
                  </a:extLst>
                </a:gridCol>
                <a:gridCol w="3200400">
                  <a:extLst>
                    <a:ext uri="{9D8B030D-6E8A-4147-A177-3AD203B41FA5}">
                      <a16:colId xmlns:a16="http://schemas.microsoft.com/office/drawing/2014/main" val="20001"/>
                    </a:ext>
                  </a:extLst>
                </a:gridCol>
                <a:gridCol w="3017520">
                  <a:extLst>
                    <a:ext uri="{9D8B030D-6E8A-4147-A177-3AD203B41FA5}">
                      <a16:colId xmlns:a16="http://schemas.microsoft.com/office/drawing/2014/main" val="20002"/>
                    </a:ext>
                  </a:extLst>
                </a:gridCol>
              </a:tblGrid>
              <a:tr h="393192">
                <a:tc>
                  <a:txBody>
                    <a:bodyPr/>
                    <a:lstStyle/>
                    <a:p>
                      <a:pPr marL="0" indent="0">
                        <a:buNone/>
                      </a:pPr>
                      <a:r>
                        <a:rPr lang="en-US" sz="1400" b="1" dirty="0">
                          <a:solidFill>
                            <a:schemeClr val="bg1"/>
                          </a:solidFill>
                        </a:rPr>
                        <a:t>Category</a:t>
                      </a:r>
                      <a:endParaRPr lang="en-US" sz="1400" dirty="0"/>
                    </a:p>
                  </a:txBody>
                  <a:tcPr anchor="ctr">
                    <a:lnL w="6350" cap="flat" cmpd="sng" algn="ctr">
                      <a:solidFill>
                        <a:schemeClr val="accent3"/>
                      </a:solidFill>
                      <a:prstDash val="solid"/>
                      <a:round/>
                      <a:headEnd type="none" w="med" len="med"/>
                      <a:tailEnd type="none" w="med" len="med"/>
                    </a:lnL>
                    <a:lnR w="6350" cap="flat" cmpd="sng" algn="ctr">
                      <a:solidFill>
                        <a:schemeClr val="accent3"/>
                      </a:solidFill>
                      <a:prstDash val="solid"/>
                      <a:round/>
                      <a:headEnd type="none" w="med" len="med"/>
                      <a:tailEnd type="none" w="med" len="med"/>
                    </a:lnR>
                    <a:lnT w="6350" cap="flat" cmpd="sng" algn="ctr">
                      <a:solidFill>
                        <a:schemeClr val="accent3"/>
                      </a:solidFill>
                      <a:prstDash val="solid"/>
                      <a:round/>
                      <a:headEnd type="none" w="med" len="med"/>
                      <a:tailEnd type="none" w="med" len="med"/>
                    </a:lnT>
                    <a:lnB w="6350" cap="flat" cmpd="sng" algn="ctr">
                      <a:solidFill>
                        <a:schemeClr val="accent3"/>
                      </a:solidFill>
                      <a:prstDash val="solid"/>
                      <a:round/>
                      <a:headEnd type="none" w="med" len="med"/>
                      <a:tailEnd type="none" w="med" len="med"/>
                    </a:lnB>
                    <a:solidFill>
                      <a:schemeClr val="tx2"/>
                    </a:solidFill>
                  </a:tcPr>
                </a:tc>
                <a:tc>
                  <a:txBody>
                    <a:bodyPr/>
                    <a:lstStyle/>
                    <a:p>
                      <a:pPr marL="0" indent="0">
                        <a:buNone/>
                      </a:pPr>
                      <a:r>
                        <a:rPr lang="en-US" sz="1400" b="1" dirty="0">
                          <a:solidFill>
                            <a:schemeClr val="bg1"/>
                          </a:solidFill>
                        </a:rPr>
                        <a:t>Example calls</a:t>
                      </a:r>
                      <a:endParaRPr lang="en-US" sz="1400" dirty="0"/>
                    </a:p>
                  </a:txBody>
                  <a:tcPr anchor="ctr">
                    <a:lnL w="6350" cap="flat" cmpd="sng" algn="ctr">
                      <a:solidFill>
                        <a:schemeClr val="accent3"/>
                      </a:solidFill>
                      <a:prstDash val="solid"/>
                      <a:round/>
                      <a:headEnd type="none" w="med" len="med"/>
                      <a:tailEnd type="none" w="med" len="med"/>
                    </a:lnL>
                    <a:lnR w="6350" cap="flat" cmpd="sng" algn="ctr">
                      <a:solidFill>
                        <a:schemeClr val="accent3"/>
                      </a:solidFill>
                      <a:prstDash val="solid"/>
                      <a:round/>
                      <a:headEnd type="none" w="med" len="med"/>
                      <a:tailEnd type="none" w="med" len="med"/>
                    </a:lnR>
                    <a:lnT w="6350" cap="flat" cmpd="sng" algn="ctr">
                      <a:solidFill>
                        <a:schemeClr val="accent3"/>
                      </a:solidFill>
                      <a:prstDash val="solid"/>
                      <a:round/>
                      <a:headEnd type="none" w="med" len="med"/>
                      <a:tailEnd type="none" w="med" len="med"/>
                    </a:lnT>
                    <a:lnB w="6350" cap="flat" cmpd="sng" algn="ctr">
                      <a:solidFill>
                        <a:schemeClr val="accent3"/>
                      </a:solidFill>
                      <a:prstDash val="solid"/>
                      <a:round/>
                      <a:headEnd type="none" w="med" len="med"/>
                      <a:tailEnd type="none" w="med" len="med"/>
                    </a:lnB>
                    <a:solidFill>
                      <a:schemeClr val="tx2"/>
                    </a:solidFill>
                  </a:tcPr>
                </a:tc>
                <a:tc>
                  <a:txBody>
                    <a:bodyPr/>
                    <a:lstStyle/>
                    <a:p>
                      <a:pPr marL="0" indent="0">
                        <a:buNone/>
                      </a:pPr>
                      <a:r>
                        <a:rPr lang="en-US" sz="1400" b="1" dirty="0">
                          <a:solidFill>
                            <a:schemeClr val="bg1"/>
                          </a:solidFill>
                        </a:rPr>
                        <a:t>Banking use</a:t>
                      </a:r>
                      <a:endParaRPr lang="en-US" sz="1400" dirty="0"/>
                    </a:p>
                  </a:txBody>
                  <a:tcPr anchor="ctr">
                    <a:lnL w="6350" cap="flat" cmpd="sng" algn="ctr">
                      <a:solidFill>
                        <a:schemeClr val="accent3"/>
                      </a:solidFill>
                      <a:prstDash val="solid"/>
                      <a:round/>
                      <a:headEnd type="none" w="med" len="med"/>
                      <a:tailEnd type="none" w="med" len="med"/>
                    </a:lnL>
                    <a:lnR w="6350" cap="flat" cmpd="sng" algn="ctr">
                      <a:solidFill>
                        <a:schemeClr val="accent3"/>
                      </a:solidFill>
                      <a:prstDash val="solid"/>
                      <a:round/>
                      <a:headEnd type="none" w="med" len="med"/>
                      <a:tailEnd type="none" w="med" len="med"/>
                    </a:lnR>
                    <a:lnT w="6350" cap="flat" cmpd="sng" algn="ctr">
                      <a:solidFill>
                        <a:schemeClr val="accent3"/>
                      </a:solidFill>
                      <a:prstDash val="solid"/>
                      <a:round/>
                      <a:headEnd type="none" w="med" len="med"/>
                      <a:tailEnd type="none" w="med" len="med"/>
                    </a:lnT>
                    <a:lnB w="6350" cap="flat" cmpd="sng" algn="ctr">
                      <a:solidFill>
                        <a:schemeClr val="accent3"/>
                      </a:solidFill>
                      <a:prstDash val="solid"/>
                      <a:round/>
                      <a:headEnd type="none" w="med" len="med"/>
                      <a:tailEnd type="none" w="med" len="med"/>
                    </a:lnB>
                    <a:solidFill>
                      <a:schemeClr val="tx2"/>
                    </a:solidFill>
                  </a:tcPr>
                </a:tc>
                <a:extLst>
                  <a:ext uri="{0D108BD9-81ED-4DB2-BD59-A6C34878D82A}">
                    <a16:rowId xmlns:a16="http://schemas.microsoft.com/office/drawing/2014/main" val="10000"/>
                  </a:ext>
                </a:extLst>
              </a:tr>
              <a:tr h="393192">
                <a:tc>
                  <a:txBody>
                    <a:bodyPr/>
                    <a:lstStyle/>
                    <a:p>
                      <a:pPr marL="0" indent="0">
                        <a:buNone/>
                      </a:pPr>
                      <a:r>
                        <a:rPr lang="en-US" sz="1400" b="1" dirty="0">
                          <a:solidFill>
                            <a:schemeClr val="tx1"/>
                          </a:solidFill>
                        </a:rPr>
                        <a:t>Process control</a:t>
                      </a:r>
                      <a:endParaRPr lang="en-US" sz="1400" dirty="0"/>
                    </a:p>
                  </a:txBody>
                  <a:tcPr anchor="ctr">
                    <a:lnL w="6350" cap="flat" cmpd="sng" algn="ctr">
                      <a:solidFill>
                        <a:schemeClr val="accent3"/>
                      </a:solidFill>
                      <a:prstDash val="solid"/>
                      <a:round/>
                      <a:headEnd type="none" w="med" len="med"/>
                      <a:tailEnd type="none" w="med" len="med"/>
                    </a:lnL>
                    <a:lnR w="6350" cap="flat" cmpd="sng" algn="ctr">
                      <a:solidFill>
                        <a:schemeClr val="accent3"/>
                      </a:solidFill>
                      <a:prstDash val="solid"/>
                      <a:round/>
                      <a:headEnd type="none" w="med" len="med"/>
                      <a:tailEnd type="none" w="med" len="med"/>
                    </a:lnR>
                    <a:lnT w="6350" cap="flat" cmpd="sng" algn="ctr">
                      <a:solidFill>
                        <a:schemeClr val="accent3"/>
                      </a:solidFill>
                      <a:prstDash val="solid"/>
                      <a:round/>
                      <a:headEnd type="none" w="med" len="med"/>
                      <a:tailEnd type="none" w="med" len="med"/>
                    </a:lnT>
                    <a:lnB w="6350" cap="flat" cmpd="sng" algn="ctr">
                      <a:solidFill>
                        <a:schemeClr val="accent3"/>
                      </a:solidFill>
                      <a:prstDash val="solid"/>
                      <a:round/>
                      <a:headEnd type="none" w="med" len="med"/>
                      <a:tailEnd type="none" w="med" len="med"/>
                    </a:lnB>
                    <a:solidFill>
                      <a:schemeClr val="bg1"/>
                    </a:solidFill>
                  </a:tcPr>
                </a:tc>
                <a:tc>
                  <a:txBody>
                    <a:bodyPr/>
                    <a:lstStyle/>
                    <a:p>
                      <a:pPr marL="0" indent="0">
                        <a:buNone/>
                      </a:pPr>
                      <a:r>
                        <a:rPr lang="en-US" sz="1200" b="1" dirty="0">
                          <a:solidFill>
                            <a:schemeClr val="tx2"/>
                          </a:solidFill>
                          <a:latin typeface="Courier New" pitchFamily="34" charset="0"/>
                          <a:ea typeface="Courier New" pitchFamily="34" charset="-122"/>
                          <a:cs typeface="Courier New" pitchFamily="34" charset="-120"/>
                        </a:rPr>
                        <a:t>fork()  exec()  wait()  exit()</a:t>
                      </a:r>
                      <a:endParaRPr lang="en-US" sz="1200" dirty="0">
                        <a:latin typeface="Courier New" charset="0"/>
                        <a:ea typeface="Courier New" charset="0"/>
                        <a:cs typeface="Courier New" charset="0"/>
                      </a:endParaRPr>
                    </a:p>
                  </a:txBody>
                  <a:tcPr anchor="ctr">
                    <a:lnL w="6350" cap="flat" cmpd="sng" algn="ctr">
                      <a:solidFill>
                        <a:schemeClr val="accent3"/>
                      </a:solidFill>
                      <a:prstDash val="solid"/>
                      <a:round/>
                      <a:headEnd type="none" w="med" len="med"/>
                      <a:tailEnd type="none" w="med" len="med"/>
                    </a:lnL>
                    <a:lnR w="6350" cap="flat" cmpd="sng" algn="ctr">
                      <a:solidFill>
                        <a:schemeClr val="accent3"/>
                      </a:solidFill>
                      <a:prstDash val="solid"/>
                      <a:round/>
                      <a:headEnd type="none" w="med" len="med"/>
                      <a:tailEnd type="none" w="med" len="med"/>
                    </a:lnR>
                    <a:lnT w="6350" cap="flat" cmpd="sng" algn="ctr">
                      <a:solidFill>
                        <a:schemeClr val="accent3"/>
                      </a:solidFill>
                      <a:prstDash val="solid"/>
                      <a:round/>
                      <a:headEnd type="none" w="med" len="med"/>
                      <a:tailEnd type="none" w="med" len="med"/>
                    </a:lnT>
                    <a:lnB w="6350" cap="flat" cmpd="sng" algn="ctr">
                      <a:solidFill>
                        <a:schemeClr val="accent3"/>
                      </a:solidFill>
                      <a:prstDash val="solid"/>
                      <a:round/>
                      <a:headEnd type="none" w="med" len="med"/>
                      <a:tailEnd type="none" w="med" len="med"/>
                    </a:lnB>
                    <a:solidFill>
                      <a:schemeClr val="bg1"/>
                    </a:solidFill>
                  </a:tcPr>
                </a:tc>
                <a:tc>
                  <a:txBody>
                    <a:bodyPr/>
                    <a:lstStyle/>
                    <a:p>
                      <a:pPr marL="0" indent="0">
                        <a:buNone/>
                      </a:pPr>
                      <a:r>
                        <a:rPr lang="en-US" sz="1400" dirty="0">
                          <a:solidFill>
                            <a:schemeClr val="tx1"/>
                          </a:solidFill>
                        </a:rPr>
                        <a:t>Worker per customer request</a:t>
                      </a:r>
                      <a:endParaRPr lang="en-US" sz="1400" dirty="0"/>
                    </a:p>
                  </a:txBody>
                  <a:tcPr anchor="ctr">
                    <a:lnL w="6350" cap="flat" cmpd="sng" algn="ctr">
                      <a:solidFill>
                        <a:schemeClr val="accent3"/>
                      </a:solidFill>
                      <a:prstDash val="solid"/>
                      <a:round/>
                      <a:headEnd type="none" w="med" len="med"/>
                      <a:tailEnd type="none" w="med" len="med"/>
                    </a:lnL>
                    <a:lnR w="6350" cap="flat" cmpd="sng" algn="ctr">
                      <a:solidFill>
                        <a:schemeClr val="accent3"/>
                      </a:solidFill>
                      <a:prstDash val="solid"/>
                      <a:round/>
                      <a:headEnd type="none" w="med" len="med"/>
                      <a:tailEnd type="none" w="med" len="med"/>
                    </a:lnR>
                    <a:lnT w="6350" cap="flat" cmpd="sng" algn="ctr">
                      <a:solidFill>
                        <a:schemeClr val="accent3"/>
                      </a:solidFill>
                      <a:prstDash val="solid"/>
                      <a:round/>
                      <a:headEnd type="none" w="med" len="med"/>
                      <a:tailEnd type="none" w="med" len="med"/>
                    </a:lnT>
                    <a:lnB w="6350" cap="flat" cmpd="sng" algn="ctr">
                      <a:solidFill>
                        <a:schemeClr val="accent3"/>
                      </a:solidFill>
                      <a:prstDash val="solid"/>
                      <a:round/>
                      <a:headEnd type="none" w="med" len="med"/>
                      <a:tailEnd type="none" w="med" len="med"/>
                    </a:lnB>
                    <a:solidFill>
                      <a:schemeClr val="bg1"/>
                    </a:solidFill>
                  </a:tcPr>
                </a:tc>
                <a:extLst>
                  <a:ext uri="{0D108BD9-81ED-4DB2-BD59-A6C34878D82A}">
                    <a16:rowId xmlns:a16="http://schemas.microsoft.com/office/drawing/2014/main" val="10001"/>
                  </a:ext>
                </a:extLst>
              </a:tr>
              <a:tr h="393192">
                <a:tc>
                  <a:txBody>
                    <a:bodyPr/>
                    <a:lstStyle/>
                    <a:p>
                      <a:pPr marL="0" indent="0">
                        <a:buNone/>
                      </a:pPr>
                      <a:r>
                        <a:rPr lang="en-US" sz="1400" b="1" dirty="0">
                          <a:solidFill>
                            <a:schemeClr val="tx1"/>
                          </a:solidFill>
                        </a:rPr>
                        <a:t>File management</a:t>
                      </a:r>
                      <a:endParaRPr lang="en-US" sz="1400" dirty="0"/>
                    </a:p>
                  </a:txBody>
                  <a:tcPr anchor="ctr">
                    <a:lnL w="6350" cap="flat" cmpd="sng" algn="ctr">
                      <a:solidFill>
                        <a:schemeClr val="accent3"/>
                      </a:solidFill>
                      <a:prstDash val="solid"/>
                      <a:round/>
                      <a:headEnd type="none" w="med" len="med"/>
                      <a:tailEnd type="none" w="med" len="med"/>
                    </a:lnL>
                    <a:lnR w="6350" cap="flat" cmpd="sng" algn="ctr">
                      <a:solidFill>
                        <a:schemeClr val="accent3"/>
                      </a:solidFill>
                      <a:prstDash val="solid"/>
                      <a:round/>
                      <a:headEnd type="none" w="med" len="med"/>
                      <a:tailEnd type="none" w="med" len="med"/>
                    </a:lnR>
                    <a:lnT w="6350" cap="flat" cmpd="sng" algn="ctr">
                      <a:solidFill>
                        <a:schemeClr val="accent3"/>
                      </a:solidFill>
                      <a:prstDash val="solid"/>
                      <a:round/>
                      <a:headEnd type="none" w="med" len="med"/>
                      <a:tailEnd type="none" w="med" len="med"/>
                    </a:lnT>
                    <a:lnB w="6350" cap="flat" cmpd="sng" algn="ctr">
                      <a:solidFill>
                        <a:schemeClr val="accent3"/>
                      </a:solidFill>
                      <a:prstDash val="solid"/>
                      <a:round/>
                      <a:headEnd type="none" w="med" len="med"/>
                      <a:tailEnd type="none" w="med" len="med"/>
                    </a:lnB>
                    <a:solidFill>
                      <a:schemeClr val="bg2"/>
                    </a:solidFill>
                  </a:tcPr>
                </a:tc>
                <a:tc>
                  <a:txBody>
                    <a:bodyPr/>
                    <a:lstStyle/>
                    <a:p>
                      <a:pPr marL="0" indent="0">
                        <a:buNone/>
                      </a:pPr>
                      <a:r>
                        <a:rPr lang="en-US" sz="1200" b="1" dirty="0">
                          <a:solidFill>
                            <a:schemeClr val="tx2"/>
                          </a:solidFill>
                          <a:latin typeface="Courier New" pitchFamily="34" charset="0"/>
                          <a:ea typeface="Courier New" pitchFamily="34" charset="-122"/>
                          <a:cs typeface="Courier New" pitchFamily="34" charset="-120"/>
                        </a:rPr>
                        <a:t>open()  read()  write()  fsync()</a:t>
                      </a:r>
                      <a:endParaRPr lang="en-US" sz="1200" dirty="0">
                        <a:latin typeface="Courier New" charset="0"/>
                        <a:ea typeface="Courier New" charset="0"/>
                        <a:cs typeface="Courier New" charset="0"/>
                      </a:endParaRPr>
                    </a:p>
                  </a:txBody>
                  <a:tcPr anchor="ctr">
                    <a:lnL w="6350" cap="flat" cmpd="sng" algn="ctr">
                      <a:solidFill>
                        <a:schemeClr val="accent3"/>
                      </a:solidFill>
                      <a:prstDash val="solid"/>
                      <a:round/>
                      <a:headEnd type="none" w="med" len="med"/>
                      <a:tailEnd type="none" w="med" len="med"/>
                    </a:lnL>
                    <a:lnR w="6350" cap="flat" cmpd="sng" algn="ctr">
                      <a:solidFill>
                        <a:schemeClr val="accent3"/>
                      </a:solidFill>
                      <a:prstDash val="solid"/>
                      <a:round/>
                      <a:headEnd type="none" w="med" len="med"/>
                      <a:tailEnd type="none" w="med" len="med"/>
                    </a:lnR>
                    <a:lnT w="6350" cap="flat" cmpd="sng" algn="ctr">
                      <a:solidFill>
                        <a:schemeClr val="accent3"/>
                      </a:solidFill>
                      <a:prstDash val="solid"/>
                      <a:round/>
                      <a:headEnd type="none" w="med" len="med"/>
                      <a:tailEnd type="none" w="med" len="med"/>
                    </a:lnT>
                    <a:lnB w="6350" cap="flat" cmpd="sng" algn="ctr">
                      <a:solidFill>
                        <a:schemeClr val="accent3"/>
                      </a:solidFill>
                      <a:prstDash val="solid"/>
                      <a:round/>
                      <a:headEnd type="none" w="med" len="med"/>
                      <a:tailEnd type="none" w="med" len="med"/>
                    </a:lnB>
                    <a:solidFill>
                      <a:schemeClr val="bg2"/>
                    </a:solidFill>
                  </a:tcPr>
                </a:tc>
                <a:tc>
                  <a:txBody>
                    <a:bodyPr/>
                    <a:lstStyle/>
                    <a:p>
                      <a:pPr marL="0" indent="0">
                        <a:buNone/>
                      </a:pPr>
                      <a:r>
                        <a:rPr lang="en-US" sz="1400" dirty="0">
                          <a:solidFill>
                            <a:schemeClr val="tx1"/>
                          </a:solidFill>
                        </a:rPr>
                        <a:t>Update account records, logs</a:t>
                      </a:r>
                      <a:endParaRPr lang="en-US" sz="1400" dirty="0"/>
                    </a:p>
                  </a:txBody>
                  <a:tcPr anchor="ctr">
                    <a:lnL w="6350" cap="flat" cmpd="sng" algn="ctr">
                      <a:solidFill>
                        <a:schemeClr val="accent3"/>
                      </a:solidFill>
                      <a:prstDash val="solid"/>
                      <a:round/>
                      <a:headEnd type="none" w="med" len="med"/>
                      <a:tailEnd type="none" w="med" len="med"/>
                    </a:lnL>
                    <a:lnR w="6350" cap="flat" cmpd="sng" algn="ctr">
                      <a:solidFill>
                        <a:schemeClr val="accent3"/>
                      </a:solidFill>
                      <a:prstDash val="solid"/>
                      <a:round/>
                      <a:headEnd type="none" w="med" len="med"/>
                      <a:tailEnd type="none" w="med" len="med"/>
                    </a:lnR>
                    <a:lnT w="6350" cap="flat" cmpd="sng" algn="ctr">
                      <a:solidFill>
                        <a:schemeClr val="accent3"/>
                      </a:solidFill>
                      <a:prstDash val="solid"/>
                      <a:round/>
                      <a:headEnd type="none" w="med" len="med"/>
                      <a:tailEnd type="none" w="med" len="med"/>
                    </a:lnT>
                    <a:lnB w="6350" cap="flat" cmpd="sng" algn="ctr">
                      <a:solidFill>
                        <a:schemeClr val="accent3"/>
                      </a:solidFill>
                      <a:prstDash val="solid"/>
                      <a:round/>
                      <a:headEnd type="none" w="med" len="med"/>
                      <a:tailEnd type="none" w="med" len="med"/>
                    </a:lnB>
                    <a:solidFill>
                      <a:schemeClr val="bg2"/>
                    </a:solidFill>
                  </a:tcPr>
                </a:tc>
                <a:extLst>
                  <a:ext uri="{0D108BD9-81ED-4DB2-BD59-A6C34878D82A}">
                    <a16:rowId xmlns:a16="http://schemas.microsoft.com/office/drawing/2014/main" val="10002"/>
                  </a:ext>
                </a:extLst>
              </a:tr>
              <a:tr h="393192">
                <a:tc>
                  <a:txBody>
                    <a:bodyPr/>
                    <a:lstStyle/>
                    <a:p>
                      <a:pPr marL="0" indent="0">
                        <a:buNone/>
                      </a:pPr>
                      <a:r>
                        <a:rPr lang="en-US" sz="1400" b="1" dirty="0">
                          <a:solidFill>
                            <a:schemeClr val="tx1"/>
                          </a:solidFill>
                        </a:rPr>
                        <a:t>Synchronization</a:t>
                      </a:r>
                      <a:endParaRPr lang="en-US" sz="1400" dirty="0"/>
                    </a:p>
                  </a:txBody>
                  <a:tcPr anchor="ctr">
                    <a:lnL w="6350" cap="flat" cmpd="sng" algn="ctr">
                      <a:solidFill>
                        <a:schemeClr val="accent3"/>
                      </a:solidFill>
                      <a:prstDash val="solid"/>
                      <a:round/>
                      <a:headEnd type="none" w="med" len="med"/>
                      <a:tailEnd type="none" w="med" len="med"/>
                    </a:lnL>
                    <a:lnR w="6350" cap="flat" cmpd="sng" algn="ctr">
                      <a:solidFill>
                        <a:schemeClr val="accent3"/>
                      </a:solidFill>
                      <a:prstDash val="solid"/>
                      <a:round/>
                      <a:headEnd type="none" w="med" len="med"/>
                      <a:tailEnd type="none" w="med" len="med"/>
                    </a:lnR>
                    <a:lnT w="6350" cap="flat" cmpd="sng" algn="ctr">
                      <a:solidFill>
                        <a:schemeClr val="accent3"/>
                      </a:solidFill>
                      <a:prstDash val="solid"/>
                      <a:round/>
                      <a:headEnd type="none" w="med" len="med"/>
                      <a:tailEnd type="none" w="med" len="med"/>
                    </a:lnT>
                    <a:lnB w="6350" cap="flat" cmpd="sng" algn="ctr">
                      <a:solidFill>
                        <a:schemeClr val="accent3"/>
                      </a:solidFill>
                      <a:prstDash val="solid"/>
                      <a:round/>
                      <a:headEnd type="none" w="med" len="med"/>
                      <a:tailEnd type="none" w="med" len="med"/>
                    </a:lnB>
                    <a:solidFill>
                      <a:schemeClr val="bg1"/>
                    </a:solidFill>
                  </a:tcPr>
                </a:tc>
                <a:tc>
                  <a:txBody>
                    <a:bodyPr/>
                    <a:lstStyle/>
                    <a:p>
                      <a:pPr marL="0" indent="0">
                        <a:buNone/>
                      </a:pPr>
                      <a:r>
                        <a:rPr lang="en-US" sz="1200" b="1" dirty="0">
                          <a:solidFill>
                            <a:schemeClr val="tx2"/>
                          </a:solidFill>
                          <a:latin typeface="Courier New" pitchFamily="34" charset="0"/>
                          <a:ea typeface="Courier New" pitchFamily="34" charset="-122"/>
                          <a:cs typeface="Courier New" pitchFamily="34" charset="-120"/>
                        </a:rPr>
                        <a:t>flock()  sem_wait()  sem_post()</a:t>
                      </a:r>
                      <a:endParaRPr lang="en-US" sz="1200" dirty="0">
                        <a:latin typeface="Courier New" charset="0"/>
                        <a:ea typeface="Courier New" charset="0"/>
                        <a:cs typeface="Courier New" charset="0"/>
                      </a:endParaRPr>
                    </a:p>
                  </a:txBody>
                  <a:tcPr anchor="ctr">
                    <a:lnL w="6350" cap="flat" cmpd="sng" algn="ctr">
                      <a:solidFill>
                        <a:schemeClr val="accent3"/>
                      </a:solidFill>
                      <a:prstDash val="solid"/>
                      <a:round/>
                      <a:headEnd type="none" w="med" len="med"/>
                      <a:tailEnd type="none" w="med" len="med"/>
                    </a:lnL>
                    <a:lnR w="6350" cap="flat" cmpd="sng" algn="ctr">
                      <a:solidFill>
                        <a:schemeClr val="accent3"/>
                      </a:solidFill>
                      <a:prstDash val="solid"/>
                      <a:round/>
                      <a:headEnd type="none" w="med" len="med"/>
                      <a:tailEnd type="none" w="med" len="med"/>
                    </a:lnR>
                    <a:lnT w="6350" cap="flat" cmpd="sng" algn="ctr">
                      <a:solidFill>
                        <a:schemeClr val="accent3"/>
                      </a:solidFill>
                      <a:prstDash val="solid"/>
                      <a:round/>
                      <a:headEnd type="none" w="med" len="med"/>
                      <a:tailEnd type="none" w="med" len="med"/>
                    </a:lnT>
                    <a:lnB w="6350" cap="flat" cmpd="sng" algn="ctr">
                      <a:solidFill>
                        <a:schemeClr val="accent3"/>
                      </a:solidFill>
                      <a:prstDash val="solid"/>
                      <a:round/>
                      <a:headEnd type="none" w="med" len="med"/>
                      <a:tailEnd type="none" w="med" len="med"/>
                    </a:lnB>
                    <a:solidFill>
                      <a:schemeClr val="bg1"/>
                    </a:solidFill>
                  </a:tcPr>
                </a:tc>
                <a:tc>
                  <a:txBody>
                    <a:bodyPr/>
                    <a:lstStyle/>
                    <a:p>
                      <a:pPr marL="0" indent="0">
                        <a:buNone/>
                      </a:pPr>
                      <a:r>
                        <a:rPr lang="en-US" sz="1400" dirty="0">
                          <a:solidFill>
                            <a:schemeClr val="tx1"/>
                          </a:solidFill>
                        </a:rPr>
                        <a:t>Lock a balance while updating</a:t>
                      </a:r>
                      <a:endParaRPr lang="en-US" sz="1400" dirty="0"/>
                    </a:p>
                  </a:txBody>
                  <a:tcPr anchor="ctr">
                    <a:lnL w="6350" cap="flat" cmpd="sng" algn="ctr">
                      <a:solidFill>
                        <a:schemeClr val="accent3"/>
                      </a:solidFill>
                      <a:prstDash val="solid"/>
                      <a:round/>
                      <a:headEnd type="none" w="med" len="med"/>
                      <a:tailEnd type="none" w="med" len="med"/>
                    </a:lnL>
                    <a:lnR w="6350" cap="flat" cmpd="sng" algn="ctr">
                      <a:solidFill>
                        <a:schemeClr val="accent3"/>
                      </a:solidFill>
                      <a:prstDash val="solid"/>
                      <a:round/>
                      <a:headEnd type="none" w="med" len="med"/>
                      <a:tailEnd type="none" w="med" len="med"/>
                    </a:lnR>
                    <a:lnT w="6350" cap="flat" cmpd="sng" algn="ctr">
                      <a:solidFill>
                        <a:schemeClr val="accent3"/>
                      </a:solidFill>
                      <a:prstDash val="solid"/>
                      <a:round/>
                      <a:headEnd type="none" w="med" len="med"/>
                      <a:tailEnd type="none" w="med" len="med"/>
                    </a:lnT>
                    <a:lnB w="6350" cap="flat" cmpd="sng" algn="ctr">
                      <a:solidFill>
                        <a:schemeClr val="accent3"/>
                      </a:solidFill>
                      <a:prstDash val="solid"/>
                      <a:round/>
                      <a:headEnd type="none" w="med" len="med"/>
                      <a:tailEnd type="none" w="med" len="med"/>
                    </a:lnB>
                    <a:solidFill>
                      <a:schemeClr val="bg1"/>
                    </a:solidFill>
                  </a:tcPr>
                </a:tc>
                <a:extLst>
                  <a:ext uri="{0D108BD9-81ED-4DB2-BD59-A6C34878D82A}">
                    <a16:rowId xmlns:a16="http://schemas.microsoft.com/office/drawing/2014/main" val="10003"/>
                  </a:ext>
                </a:extLst>
              </a:tr>
              <a:tr h="393192">
                <a:tc>
                  <a:txBody>
                    <a:bodyPr/>
                    <a:lstStyle/>
                    <a:p>
                      <a:pPr marL="0" indent="0">
                        <a:buNone/>
                      </a:pPr>
                      <a:r>
                        <a:rPr lang="en-US" sz="1400" b="1" dirty="0">
                          <a:solidFill>
                            <a:schemeClr val="tx1"/>
                          </a:solidFill>
                        </a:rPr>
                        <a:t>Device management</a:t>
                      </a:r>
                      <a:endParaRPr lang="en-US" sz="1400" dirty="0"/>
                    </a:p>
                  </a:txBody>
                  <a:tcPr anchor="ctr">
                    <a:lnL w="6350" cap="flat" cmpd="sng" algn="ctr">
                      <a:solidFill>
                        <a:schemeClr val="accent3"/>
                      </a:solidFill>
                      <a:prstDash val="solid"/>
                      <a:round/>
                      <a:headEnd type="none" w="med" len="med"/>
                      <a:tailEnd type="none" w="med" len="med"/>
                    </a:lnL>
                    <a:lnR w="6350" cap="flat" cmpd="sng" algn="ctr">
                      <a:solidFill>
                        <a:schemeClr val="accent3"/>
                      </a:solidFill>
                      <a:prstDash val="solid"/>
                      <a:round/>
                      <a:headEnd type="none" w="med" len="med"/>
                      <a:tailEnd type="none" w="med" len="med"/>
                    </a:lnR>
                    <a:lnT w="6350" cap="flat" cmpd="sng" algn="ctr">
                      <a:solidFill>
                        <a:schemeClr val="accent3"/>
                      </a:solidFill>
                      <a:prstDash val="solid"/>
                      <a:round/>
                      <a:headEnd type="none" w="med" len="med"/>
                      <a:tailEnd type="none" w="med" len="med"/>
                    </a:lnT>
                    <a:lnB w="6350" cap="flat" cmpd="sng" algn="ctr">
                      <a:solidFill>
                        <a:schemeClr val="accent3"/>
                      </a:solidFill>
                      <a:prstDash val="solid"/>
                      <a:round/>
                      <a:headEnd type="none" w="med" len="med"/>
                      <a:tailEnd type="none" w="med" len="med"/>
                    </a:lnB>
                    <a:solidFill>
                      <a:schemeClr val="bg2"/>
                    </a:solidFill>
                  </a:tcPr>
                </a:tc>
                <a:tc>
                  <a:txBody>
                    <a:bodyPr/>
                    <a:lstStyle/>
                    <a:p>
                      <a:pPr marL="0" indent="0">
                        <a:buNone/>
                      </a:pPr>
                      <a:r>
                        <a:rPr lang="en-US" sz="1200" b="1" dirty="0">
                          <a:solidFill>
                            <a:schemeClr val="tx2"/>
                          </a:solidFill>
                          <a:latin typeface="Courier New" pitchFamily="34" charset="0"/>
                          <a:ea typeface="Courier New" pitchFamily="34" charset="-122"/>
                          <a:cs typeface="Courier New" pitchFamily="34" charset="-120"/>
                        </a:rPr>
                        <a:t>ioctl()  read()  write()</a:t>
                      </a:r>
                      <a:endParaRPr lang="en-US" sz="1200" dirty="0">
                        <a:latin typeface="Courier New" charset="0"/>
                        <a:ea typeface="Courier New" charset="0"/>
                        <a:cs typeface="Courier New" charset="0"/>
                      </a:endParaRPr>
                    </a:p>
                  </a:txBody>
                  <a:tcPr anchor="ctr">
                    <a:lnL w="6350" cap="flat" cmpd="sng" algn="ctr">
                      <a:solidFill>
                        <a:schemeClr val="accent3"/>
                      </a:solidFill>
                      <a:prstDash val="solid"/>
                      <a:round/>
                      <a:headEnd type="none" w="med" len="med"/>
                      <a:tailEnd type="none" w="med" len="med"/>
                    </a:lnL>
                    <a:lnR w="6350" cap="flat" cmpd="sng" algn="ctr">
                      <a:solidFill>
                        <a:schemeClr val="accent3"/>
                      </a:solidFill>
                      <a:prstDash val="solid"/>
                      <a:round/>
                      <a:headEnd type="none" w="med" len="med"/>
                      <a:tailEnd type="none" w="med" len="med"/>
                    </a:lnR>
                    <a:lnT w="6350" cap="flat" cmpd="sng" algn="ctr">
                      <a:solidFill>
                        <a:schemeClr val="accent3"/>
                      </a:solidFill>
                      <a:prstDash val="solid"/>
                      <a:round/>
                      <a:headEnd type="none" w="med" len="med"/>
                      <a:tailEnd type="none" w="med" len="med"/>
                    </a:lnT>
                    <a:lnB w="6350" cap="flat" cmpd="sng" algn="ctr">
                      <a:solidFill>
                        <a:schemeClr val="accent3"/>
                      </a:solidFill>
                      <a:prstDash val="solid"/>
                      <a:round/>
                      <a:headEnd type="none" w="med" len="med"/>
                      <a:tailEnd type="none" w="med" len="med"/>
                    </a:lnB>
                    <a:solidFill>
                      <a:schemeClr val="bg2"/>
                    </a:solidFill>
                  </a:tcPr>
                </a:tc>
                <a:tc>
                  <a:txBody>
                    <a:bodyPr/>
                    <a:lstStyle/>
                    <a:p>
                      <a:pPr marL="0" indent="0">
                        <a:buNone/>
                      </a:pPr>
                      <a:r>
                        <a:rPr lang="en-US" sz="1400" dirty="0">
                          <a:solidFill>
                            <a:schemeClr val="tx1"/>
                          </a:solidFill>
                        </a:rPr>
                        <a:t>Access disks, ATM and POS</a:t>
                      </a:r>
                      <a:endParaRPr lang="en-US" sz="1400" dirty="0"/>
                    </a:p>
                  </a:txBody>
                  <a:tcPr anchor="ctr">
                    <a:lnL w="6350" cap="flat" cmpd="sng" algn="ctr">
                      <a:solidFill>
                        <a:schemeClr val="accent3"/>
                      </a:solidFill>
                      <a:prstDash val="solid"/>
                      <a:round/>
                      <a:headEnd type="none" w="med" len="med"/>
                      <a:tailEnd type="none" w="med" len="med"/>
                    </a:lnL>
                    <a:lnR w="6350" cap="flat" cmpd="sng" algn="ctr">
                      <a:solidFill>
                        <a:schemeClr val="accent3"/>
                      </a:solidFill>
                      <a:prstDash val="solid"/>
                      <a:round/>
                      <a:headEnd type="none" w="med" len="med"/>
                      <a:tailEnd type="none" w="med" len="med"/>
                    </a:lnR>
                    <a:lnT w="6350" cap="flat" cmpd="sng" algn="ctr">
                      <a:solidFill>
                        <a:schemeClr val="accent3"/>
                      </a:solidFill>
                      <a:prstDash val="solid"/>
                      <a:round/>
                      <a:headEnd type="none" w="med" len="med"/>
                      <a:tailEnd type="none" w="med" len="med"/>
                    </a:lnT>
                    <a:lnB w="6350" cap="flat" cmpd="sng" algn="ctr">
                      <a:solidFill>
                        <a:schemeClr val="accent3"/>
                      </a:solidFill>
                      <a:prstDash val="solid"/>
                      <a:round/>
                      <a:headEnd type="none" w="med" len="med"/>
                      <a:tailEnd type="none" w="med" len="med"/>
                    </a:lnB>
                    <a:solidFill>
                      <a:schemeClr val="bg2"/>
                    </a:solidFill>
                  </a:tcPr>
                </a:tc>
                <a:extLst>
                  <a:ext uri="{0D108BD9-81ED-4DB2-BD59-A6C34878D82A}">
                    <a16:rowId xmlns:a16="http://schemas.microsoft.com/office/drawing/2014/main" val="10004"/>
                  </a:ext>
                </a:extLst>
              </a:tr>
              <a:tr h="393192">
                <a:tc>
                  <a:txBody>
                    <a:bodyPr/>
                    <a:lstStyle/>
                    <a:p>
                      <a:pPr marL="0" indent="0">
                        <a:buNone/>
                      </a:pPr>
                      <a:r>
                        <a:rPr lang="en-US" sz="1400" b="1" dirty="0">
                          <a:solidFill>
                            <a:schemeClr val="tx1"/>
                          </a:solidFill>
                        </a:rPr>
                        <a:t>Communication</a:t>
                      </a:r>
                      <a:endParaRPr lang="en-US" sz="1400" dirty="0"/>
                    </a:p>
                  </a:txBody>
                  <a:tcPr anchor="ctr">
                    <a:lnL w="6350" cap="flat" cmpd="sng" algn="ctr">
                      <a:solidFill>
                        <a:schemeClr val="accent3"/>
                      </a:solidFill>
                      <a:prstDash val="solid"/>
                      <a:round/>
                      <a:headEnd type="none" w="med" len="med"/>
                      <a:tailEnd type="none" w="med" len="med"/>
                    </a:lnL>
                    <a:lnR w="6350" cap="flat" cmpd="sng" algn="ctr">
                      <a:solidFill>
                        <a:schemeClr val="accent3"/>
                      </a:solidFill>
                      <a:prstDash val="solid"/>
                      <a:round/>
                      <a:headEnd type="none" w="med" len="med"/>
                      <a:tailEnd type="none" w="med" len="med"/>
                    </a:lnR>
                    <a:lnT w="6350" cap="flat" cmpd="sng" algn="ctr">
                      <a:solidFill>
                        <a:schemeClr val="accent3"/>
                      </a:solidFill>
                      <a:prstDash val="solid"/>
                      <a:round/>
                      <a:headEnd type="none" w="med" len="med"/>
                      <a:tailEnd type="none" w="med" len="med"/>
                    </a:lnT>
                    <a:lnB w="6350" cap="flat" cmpd="sng" algn="ctr">
                      <a:solidFill>
                        <a:schemeClr val="accent3"/>
                      </a:solidFill>
                      <a:prstDash val="solid"/>
                      <a:round/>
                      <a:headEnd type="none" w="med" len="med"/>
                      <a:tailEnd type="none" w="med" len="med"/>
                    </a:lnB>
                    <a:solidFill>
                      <a:schemeClr val="bg1"/>
                    </a:solidFill>
                  </a:tcPr>
                </a:tc>
                <a:tc>
                  <a:txBody>
                    <a:bodyPr/>
                    <a:lstStyle/>
                    <a:p>
                      <a:pPr marL="0" indent="0">
                        <a:buNone/>
                      </a:pPr>
                      <a:r>
                        <a:rPr lang="en-US" sz="1200" b="1" dirty="0">
                          <a:solidFill>
                            <a:schemeClr val="tx2"/>
                          </a:solidFill>
                          <a:latin typeface="Courier New" pitchFamily="34" charset="0"/>
                          <a:ea typeface="Courier New" pitchFamily="34" charset="-122"/>
                          <a:cs typeface="Courier New" pitchFamily="34" charset="-120"/>
                        </a:rPr>
                        <a:t>socket()  send()  recv()</a:t>
                      </a:r>
                      <a:endParaRPr lang="en-US" sz="1200" dirty="0">
                        <a:latin typeface="Courier New" charset="0"/>
                        <a:ea typeface="Courier New" charset="0"/>
                        <a:cs typeface="Courier New" charset="0"/>
                      </a:endParaRPr>
                    </a:p>
                  </a:txBody>
                  <a:tcPr anchor="ctr">
                    <a:lnL w="6350" cap="flat" cmpd="sng" algn="ctr">
                      <a:solidFill>
                        <a:schemeClr val="accent3"/>
                      </a:solidFill>
                      <a:prstDash val="solid"/>
                      <a:round/>
                      <a:headEnd type="none" w="med" len="med"/>
                      <a:tailEnd type="none" w="med" len="med"/>
                    </a:lnL>
                    <a:lnR w="6350" cap="flat" cmpd="sng" algn="ctr">
                      <a:solidFill>
                        <a:schemeClr val="accent3"/>
                      </a:solidFill>
                      <a:prstDash val="solid"/>
                      <a:round/>
                      <a:headEnd type="none" w="med" len="med"/>
                      <a:tailEnd type="none" w="med" len="med"/>
                    </a:lnR>
                    <a:lnT w="6350" cap="flat" cmpd="sng" algn="ctr">
                      <a:solidFill>
                        <a:schemeClr val="accent3"/>
                      </a:solidFill>
                      <a:prstDash val="solid"/>
                      <a:round/>
                      <a:headEnd type="none" w="med" len="med"/>
                      <a:tailEnd type="none" w="med" len="med"/>
                    </a:lnT>
                    <a:lnB w="6350" cap="flat" cmpd="sng" algn="ctr">
                      <a:solidFill>
                        <a:schemeClr val="accent3"/>
                      </a:solidFill>
                      <a:prstDash val="solid"/>
                      <a:round/>
                      <a:headEnd type="none" w="med" len="med"/>
                      <a:tailEnd type="none" w="med" len="med"/>
                    </a:lnB>
                    <a:solidFill>
                      <a:schemeClr val="bg1"/>
                    </a:solidFill>
                  </a:tcPr>
                </a:tc>
                <a:tc>
                  <a:txBody>
                    <a:bodyPr/>
                    <a:lstStyle/>
                    <a:p>
                      <a:pPr marL="0" indent="0">
                        <a:buNone/>
                      </a:pPr>
                      <a:r>
                        <a:rPr lang="en-US" sz="1400" dirty="0">
                          <a:solidFill>
                            <a:schemeClr val="tx1"/>
                          </a:solidFill>
                        </a:rPr>
                        <a:t>ATM and branch to server</a:t>
                      </a:r>
                      <a:endParaRPr lang="en-US" sz="1400" dirty="0"/>
                    </a:p>
                  </a:txBody>
                  <a:tcPr anchor="ctr">
                    <a:lnL w="6350" cap="flat" cmpd="sng" algn="ctr">
                      <a:solidFill>
                        <a:schemeClr val="accent3"/>
                      </a:solidFill>
                      <a:prstDash val="solid"/>
                      <a:round/>
                      <a:headEnd type="none" w="med" len="med"/>
                      <a:tailEnd type="none" w="med" len="med"/>
                    </a:lnL>
                    <a:lnR w="6350" cap="flat" cmpd="sng" algn="ctr">
                      <a:solidFill>
                        <a:schemeClr val="accent3"/>
                      </a:solidFill>
                      <a:prstDash val="solid"/>
                      <a:round/>
                      <a:headEnd type="none" w="med" len="med"/>
                      <a:tailEnd type="none" w="med" len="med"/>
                    </a:lnR>
                    <a:lnT w="6350" cap="flat" cmpd="sng" algn="ctr">
                      <a:solidFill>
                        <a:schemeClr val="accent3"/>
                      </a:solidFill>
                      <a:prstDash val="solid"/>
                      <a:round/>
                      <a:headEnd type="none" w="med" len="med"/>
                      <a:tailEnd type="none" w="med" len="med"/>
                    </a:lnT>
                    <a:lnB w="6350" cap="flat" cmpd="sng" algn="ctr">
                      <a:solidFill>
                        <a:schemeClr val="accent3"/>
                      </a:solidFill>
                      <a:prstDash val="solid"/>
                      <a:round/>
                      <a:headEnd type="none" w="med" len="med"/>
                      <a:tailEnd type="none" w="med" len="med"/>
                    </a:lnB>
                    <a:solidFill>
                      <a:schemeClr val="bg1"/>
                    </a:solidFill>
                  </a:tcPr>
                </a:tc>
                <a:extLst>
                  <a:ext uri="{0D108BD9-81ED-4DB2-BD59-A6C34878D82A}">
                    <a16:rowId xmlns:a16="http://schemas.microsoft.com/office/drawing/2014/main" val="10005"/>
                  </a:ext>
                </a:extLst>
              </a:tr>
              <a:tr h="393192">
                <a:tc>
                  <a:txBody>
                    <a:bodyPr/>
                    <a:lstStyle/>
                    <a:p>
                      <a:pPr marL="0" indent="0">
                        <a:buNone/>
                      </a:pPr>
                      <a:r>
                        <a:rPr lang="en-US" sz="1400" b="1" dirty="0">
                          <a:solidFill>
                            <a:schemeClr val="tx1"/>
                          </a:solidFill>
                        </a:rPr>
                        <a:t>Protection</a:t>
                      </a:r>
                      <a:endParaRPr lang="en-US" sz="1400" dirty="0"/>
                    </a:p>
                  </a:txBody>
                  <a:tcPr anchor="ctr">
                    <a:lnL w="6350" cap="flat" cmpd="sng" algn="ctr">
                      <a:solidFill>
                        <a:schemeClr val="accent3"/>
                      </a:solidFill>
                      <a:prstDash val="solid"/>
                      <a:round/>
                      <a:headEnd type="none" w="med" len="med"/>
                      <a:tailEnd type="none" w="med" len="med"/>
                    </a:lnL>
                    <a:lnR w="6350" cap="flat" cmpd="sng" algn="ctr">
                      <a:solidFill>
                        <a:schemeClr val="accent3"/>
                      </a:solidFill>
                      <a:prstDash val="solid"/>
                      <a:round/>
                      <a:headEnd type="none" w="med" len="med"/>
                      <a:tailEnd type="none" w="med" len="med"/>
                    </a:lnR>
                    <a:lnT w="6350" cap="flat" cmpd="sng" algn="ctr">
                      <a:solidFill>
                        <a:schemeClr val="accent3"/>
                      </a:solidFill>
                      <a:prstDash val="solid"/>
                      <a:round/>
                      <a:headEnd type="none" w="med" len="med"/>
                      <a:tailEnd type="none" w="med" len="med"/>
                    </a:lnT>
                    <a:lnB w="6350" cap="flat" cmpd="sng" algn="ctr">
                      <a:solidFill>
                        <a:schemeClr val="accent3"/>
                      </a:solidFill>
                      <a:prstDash val="solid"/>
                      <a:round/>
                      <a:headEnd type="none" w="med" len="med"/>
                      <a:tailEnd type="none" w="med" len="med"/>
                    </a:lnB>
                    <a:solidFill>
                      <a:schemeClr val="bg2"/>
                    </a:solidFill>
                  </a:tcPr>
                </a:tc>
                <a:tc>
                  <a:txBody>
                    <a:bodyPr/>
                    <a:lstStyle/>
                    <a:p>
                      <a:pPr marL="0" indent="0">
                        <a:buNone/>
                      </a:pPr>
                      <a:r>
                        <a:rPr lang="en-US" sz="1200" b="1" dirty="0">
                          <a:solidFill>
                            <a:schemeClr val="tx2"/>
                          </a:solidFill>
                          <a:latin typeface="Courier New" pitchFamily="34" charset="0"/>
                          <a:ea typeface="Courier New" pitchFamily="34" charset="-122"/>
                          <a:cs typeface="Courier New" pitchFamily="34" charset="-120"/>
                        </a:rPr>
                        <a:t>chmod()  setuid()</a:t>
                      </a:r>
                      <a:endParaRPr lang="en-US" sz="1200" dirty="0">
                        <a:latin typeface="Courier New" charset="0"/>
                        <a:ea typeface="Courier New" charset="0"/>
                        <a:cs typeface="Courier New" charset="0"/>
                      </a:endParaRPr>
                    </a:p>
                  </a:txBody>
                  <a:tcPr anchor="ctr">
                    <a:lnL w="6350" cap="flat" cmpd="sng" algn="ctr">
                      <a:solidFill>
                        <a:schemeClr val="accent3"/>
                      </a:solidFill>
                      <a:prstDash val="solid"/>
                      <a:round/>
                      <a:headEnd type="none" w="med" len="med"/>
                      <a:tailEnd type="none" w="med" len="med"/>
                    </a:lnL>
                    <a:lnR w="6350" cap="flat" cmpd="sng" algn="ctr">
                      <a:solidFill>
                        <a:schemeClr val="accent3"/>
                      </a:solidFill>
                      <a:prstDash val="solid"/>
                      <a:round/>
                      <a:headEnd type="none" w="med" len="med"/>
                      <a:tailEnd type="none" w="med" len="med"/>
                    </a:lnR>
                    <a:lnT w="6350" cap="flat" cmpd="sng" algn="ctr">
                      <a:solidFill>
                        <a:schemeClr val="accent3"/>
                      </a:solidFill>
                      <a:prstDash val="solid"/>
                      <a:round/>
                      <a:headEnd type="none" w="med" len="med"/>
                      <a:tailEnd type="none" w="med" len="med"/>
                    </a:lnT>
                    <a:lnB w="6350" cap="flat" cmpd="sng" algn="ctr">
                      <a:solidFill>
                        <a:schemeClr val="accent3"/>
                      </a:solidFill>
                      <a:prstDash val="solid"/>
                      <a:round/>
                      <a:headEnd type="none" w="med" len="med"/>
                      <a:tailEnd type="none" w="med" len="med"/>
                    </a:lnB>
                    <a:solidFill>
                      <a:schemeClr val="bg2"/>
                    </a:solidFill>
                  </a:tcPr>
                </a:tc>
                <a:tc>
                  <a:txBody>
                    <a:bodyPr/>
                    <a:lstStyle/>
                    <a:p>
                      <a:pPr marL="0" indent="0">
                        <a:buNone/>
                      </a:pPr>
                      <a:r>
                        <a:rPr lang="en-US" sz="1400" dirty="0">
                          <a:solidFill>
                            <a:schemeClr val="tx1"/>
                          </a:solidFill>
                        </a:rPr>
                        <a:t>Restrict access to accounts</a:t>
                      </a:r>
                      <a:endParaRPr lang="en-US" sz="1400" dirty="0"/>
                    </a:p>
                  </a:txBody>
                  <a:tcPr anchor="ctr">
                    <a:lnL w="6350" cap="flat" cmpd="sng" algn="ctr">
                      <a:solidFill>
                        <a:schemeClr val="accent3"/>
                      </a:solidFill>
                      <a:prstDash val="solid"/>
                      <a:round/>
                      <a:headEnd type="none" w="med" len="med"/>
                      <a:tailEnd type="none" w="med" len="med"/>
                    </a:lnL>
                    <a:lnR w="6350" cap="flat" cmpd="sng" algn="ctr">
                      <a:solidFill>
                        <a:schemeClr val="accent3"/>
                      </a:solidFill>
                      <a:prstDash val="solid"/>
                      <a:round/>
                      <a:headEnd type="none" w="med" len="med"/>
                      <a:tailEnd type="none" w="med" len="med"/>
                    </a:lnR>
                    <a:lnT w="6350" cap="flat" cmpd="sng" algn="ctr">
                      <a:solidFill>
                        <a:schemeClr val="accent3"/>
                      </a:solidFill>
                      <a:prstDash val="solid"/>
                      <a:round/>
                      <a:headEnd type="none" w="med" len="med"/>
                      <a:tailEnd type="none" w="med" len="med"/>
                    </a:lnT>
                    <a:lnB w="6350" cap="flat" cmpd="sng" algn="ctr">
                      <a:solidFill>
                        <a:schemeClr val="accent3"/>
                      </a:solidFill>
                      <a:prstDash val="solid"/>
                      <a:round/>
                      <a:headEnd type="none" w="med" len="med"/>
                      <a:tailEnd type="none" w="med" len="med"/>
                    </a:lnB>
                    <a:solidFill>
                      <a:schemeClr val="bg2"/>
                    </a:solidFill>
                  </a:tcPr>
                </a:tc>
                <a:extLst>
                  <a:ext uri="{0D108BD9-81ED-4DB2-BD59-A6C34878D82A}">
                    <a16:rowId xmlns:a16="http://schemas.microsoft.com/office/drawing/2014/main" val="10006"/>
                  </a:ext>
                </a:extLst>
              </a:tr>
            </a:tbl>
          </a:graphicData>
        </a:graphic>
      </p:graphicFrame>
      <p:sp>
        <p:nvSpPr>
          <p:cNvPr id="4" name="shape-151"/>
          <p:cNvSpPr/>
          <p:nvPr/>
        </p:nvSpPr>
        <p:spPr>
          <a:xfrm>
            <a:off x="457200" y="4114800"/>
            <a:ext cx="8229600" cy="457200"/>
          </a:xfrm>
          <a:prstGeom prst="roundRect">
            <a:avLst>
              <a:gd name="adj" fmla="val 16000"/>
            </a:avLst>
          </a:prstGeom>
          <a:solidFill>
            <a:schemeClr val="accent2"/>
          </a:solidFill>
          <a:ln/>
        </p:spPr>
      </p:sp>
      <p:sp>
        <p:nvSpPr>
          <p:cNvPr id="5" name="text-152"/>
          <p:cNvSpPr txBox="1"/>
          <p:nvPr/>
        </p:nvSpPr>
        <p:spPr>
          <a:xfrm>
            <a:off x="457200" y="4114800"/>
            <a:ext cx="8229600" cy="457200"/>
          </a:xfrm>
          <a:prstGeom prst="rect">
            <a:avLst/>
          </a:prstGeom>
          <a:noFill/>
          <a:ln/>
        </p:spPr>
        <p:txBody>
          <a:bodyPr wrap="square" lIns="0" tIns="0" rIns="0" bIns="0" rtlCol="0" anchor="ctr"/>
          <a:lstStyle/>
          <a:p>
            <a:pPr marL="0" indent="0" algn="ctr">
              <a:buNone/>
            </a:pPr>
            <a:r>
              <a:rPr lang="en-US" sz="1500" b="1" dirty="0">
                <a:solidFill>
                  <a:schemeClr val="tx1"/>
                </a:solidFill>
              </a:rPr>
              <a:t>System calls are the only controlled gateway from user programs into the kernel</a:t>
            </a:r>
            <a:endParaRPr lang="en-US" sz="1500" dirty="0"/>
          </a:p>
        </p:txBody>
      </p:sp>
      <p:sp>
        <p:nvSpPr>
          <p:cNvPr id="25" name="Slide Number Placeholder 0"/>
          <p:cNvSpPr>
            <a:spLocks noGrp="1"/>
          </p:cNvSpPr>
          <p:nvPr>
            <p:ph type="sldNum" sz="quarter" idx="4294967295"/>
          </p:nvPr>
        </p:nvSpPr>
        <p:spPr>
          <a:xfrm>
            <a:off x="8229600" y="4754880"/>
            <a:ext cx="457200" cy="274320"/>
          </a:xfrm>
          <a:prstGeom prst="rect">
            <a:avLst/>
          </a:prstGeom>
          <a:extLst>
            <a:ext uri="{C572A759-6A51-4108-AA02-DFA0A04FC94B}">
              <ma14:wrappingTextBoxFlag xmlns="" xmlns:ma14="http://schemas.microsoft.com/office/mac/drawingml/2011/main" val="0"/>
            </a:ext>
          </a:extLst>
        </p:spPr>
        <p:txBody>
          <a:bodyPr/>
          <a:lstStyle>
            <a:lvl1pPr>
              <a:defRPr sz="1000">
                <a:solidFill>
                  <a:schemeClr val="accent5"/>
                </a:solidFill>
              </a:defRPr>
            </a:lvl1pPr>
          </a:lstStyle>
          <a:p>
            <a:pPr algn="r"/>
            <a:fld id="{F7021451-1387-4CA6-816F-3879F97B5CBC}" type="slidenum">
              <a:rPr lang="en-US" b="0"/>
              <a:t>12</a:t>
            </a:fld>
            <a:endParaRPr lang="en-US"/>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457200" y="274320"/>
            <a:ext cx="8229600" cy="731520"/>
          </a:xfrm>
          <a:prstGeom prst="rect">
            <a:avLst/>
          </a:prstGeom>
          <a:noFill/>
          <a:ln/>
        </p:spPr>
        <p:txBody>
          <a:bodyPr wrap="square" lIns="0" tIns="0" rIns="0" bIns="0" rtlCol="0" anchor="ctr"/>
          <a:lstStyle/>
          <a:p>
            <a:pPr marL="0" indent="0" algn="l">
              <a:buNone/>
            </a:pPr>
            <a:r>
              <a:rPr lang="en-US" sz="3400" b="1" dirty="0">
                <a:solidFill>
                  <a:schemeClr val="tx2"/>
                </a:solidFill>
              </a:rPr>
              <a:t>Anatomy of a Transfer</a:t>
            </a:r>
            <a:endParaRPr lang="en-US" sz="3400" dirty="0"/>
          </a:p>
        </p:txBody>
      </p:sp>
      <p:sp>
        <p:nvSpPr>
          <p:cNvPr id="3" name="text-153"/>
          <p:cNvSpPr txBox="1"/>
          <p:nvPr/>
        </p:nvSpPr>
        <p:spPr>
          <a:xfrm>
            <a:off x="457200" y="1005840"/>
            <a:ext cx="8229600" cy="274320"/>
          </a:xfrm>
          <a:prstGeom prst="rect">
            <a:avLst/>
          </a:prstGeom>
          <a:noFill/>
          <a:ln/>
        </p:spPr>
        <p:txBody>
          <a:bodyPr wrap="square" lIns="0" tIns="0" rIns="0" bIns="0" rtlCol="0" anchor="ctr"/>
          <a:lstStyle/>
          <a:p>
            <a:pPr marL="0" indent="0">
              <a:buNone/>
            </a:pPr>
            <a:r>
              <a:rPr lang="en-US" sz="1400" i="1" dirty="0">
                <a:solidFill>
                  <a:schemeClr val="accent5"/>
                </a:solidFill>
              </a:rPr>
              <a:t>Example: transferring ₹5,000 from account A to account B</a:t>
            </a:r>
            <a:endParaRPr lang="en-US" sz="1400" dirty="0"/>
          </a:p>
        </p:txBody>
      </p:sp>
      <p:sp>
        <p:nvSpPr>
          <p:cNvPr id="4" name="shape-154"/>
          <p:cNvSpPr/>
          <p:nvPr/>
        </p:nvSpPr>
        <p:spPr>
          <a:xfrm>
            <a:off x="457200" y="1417320"/>
            <a:ext cx="8229600" cy="475488"/>
          </a:xfrm>
          <a:prstGeom prst="roundRect">
            <a:avLst>
              <a:gd name="adj" fmla="val 11538"/>
            </a:avLst>
          </a:prstGeom>
          <a:solidFill>
            <a:schemeClr val="bg2"/>
          </a:solidFill>
          <a:ln/>
        </p:spPr>
      </p:sp>
      <p:sp>
        <p:nvSpPr>
          <p:cNvPr id="5" name="shape-155"/>
          <p:cNvSpPr/>
          <p:nvPr/>
        </p:nvSpPr>
        <p:spPr>
          <a:xfrm>
            <a:off x="594360" y="1490472"/>
            <a:ext cx="329184" cy="329184"/>
          </a:xfrm>
          <a:prstGeom prst="ellipse">
            <a:avLst/>
          </a:prstGeom>
          <a:solidFill>
            <a:schemeClr val="accent1"/>
          </a:solidFill>
          <a:ln/>
        </p:spPr>
      </p:sp>
      <p:sp>
        <p:nvSpPr>
          <p:cNvPr id="6" name="text-156"/>
          <p:cNvSpPr txBox="1"/>
          <p:nvPr/>
        </p:nvSpPr>
        <p:spPr>
          <a:xfrm>
            <a:off x="594360" y="1490472"/>
            <a:ext cx="329184" cy="329184"/>
          </a:xfrm>
          <a:prstGeom prst="rect">
            <a:avLst/>
          </a:prstGeom>
          <a:noFill/>
          <a:ln/>
        </p:spPr>
        <p:txBody>
          <a:bodyPr wrap="square" lIns="0" tIns="0" rIns="0" bIns="0" rtlCol="0" anchor="ctr"/>
          <a:lstStyle/>
          <a:p>
            <a:pPr marL="0" indent="0" algn="ctr">
              <a:buNone/>
            </a:pPr>
            <a:r>
              <a:rPr lang="en-US" sz="1400" b="1" dirty="0">
                <a:solidFill>
                  <a:schemeClr val="bg1"/>
                </a:solidFill>
              </a:rPr>
              <a:t>1</a:t>
            </a:r>
            <a:endParaRPr lang="en-US" sz="1400" dirty="0"/>
          </a:p>
        </p:txBody>
      </p:sp>
      <p:sp>
        <p:nvSpPr>
          <p:cNvPr id="7" name="text-157"/>
          <p:cNvSpPr txBox="1"/>
          <p:nvPr/>
        </p:nvSpPr>
        <p:spPr>
          <a:xfrm>
            <a:off x="1097280" y="1417320"/>
            <a:ext cx="2194560" cy="475488"/>
          </a:xfrm>
          <a:prstGeom prst="rect">
            <a:avLst/>
          </a:prstGeom>
          <a:noFill/>
          <a:ln/>
        </p:spPr>
        <p:txBody>
          <a:bodyPr wrap="square" lIns="0" tIns="0" rIns="0" bIns="0" rtlCol="0" anchor="ctr"/>
          <a:lstStyle/>
          <a:p>
            <a:pPr marL="0" indent="0">
              <a:buNone/>
            </a:pPr>
            <a:r>
              <a:rPr lang="en-US" sz="1400" b="1" dirty="0">
                <a:solidFill>
                  <a:schemeClr val="tx2"/>
                </a:solidFill>
              </a:rPr>
              <a:t>Receive request</a:t>
            </a:r>
            <a:endParaRPr lang="en-US" sz="1400" dirty="0"/>
          </a:p>
        </p:txBody>
      </p:sp>
      <p:sp>
        <p:nvSpPr>
          <p:cNvPr id="8" name="text-158"/>
          <p:cNvSpPr txBox="1"/>
          <p:nvPr/>
        </p:nvSpPr>
        <p:spPr>
          <a:xfrm>
            <a:off x="3337560" y="1417320"/>
            <a:ext cx="2468880" cy="475488"/>
          </a:xfrm>
          <a:prstGeom prst="rect">
            <a:avLst/>
          </a:prstGeom>
          <a:noFill/>
          <a:ln/>
        </p:spPr>
        <p:txBody>
          <a:bodyPr wrap="square" lIns="0" tIns="0" rIns="0" bIns="0" rtlCol="0" anchor="ctr"/>
          <a:lstStyle/>
          <a:p>
            <a:pPr marL="0" indent="0">
              <a:buNone/>
            </a:pPr>
            <a:r>
              <a:rPr lang="en-US" sz="1200" b="1" dirty="0">
                <a:solidFill>
                  <a:schemeClr val="accent1"/>
                </a:solidFill>
                <a:latin typeface="Courier New" pitchFamily="34" charset="0"/>
                <a:ea typeface="Courier New" pitchFamily="34" charset="-122"/>
                <a:cs typeface="Courier New" pitchFamily="34" charset="-120"/>
              </a:rPr>
              <a:t>accept()  recv()</a:t>
            </a:r>
            <a:endParaRPr lang="en-US" sz="1200" dirty="0"/>
          </a:p>
        </p:txBody>
      </p:sp>
      <p:sp>
        <p:nvSpPr>
          <p:cNvPr id="9" name="text-159"/>
          <p:cNvSpPr txBox="1"/>
          <p:nvPr/>
        </p:nvSpPr>
        <p:spPr>
          <a:xfrm>
            <a:off x="5852160" y="1417320"/>
            <a:ext cx="2743200" cy="475488"/>
          </a:xfrm>
          <a:prstGeom prst="rect">
            <a:avLst/>
          </a:prstGeom>
          <a:noFill/>
          <a:ln/>
        </p:spPr>
        <p:txBody>
          <a:bodyPr wrap="square" lIns="0" tIns="0" rIns="0" bIns="0" rtlCol="0" anchor="ctr"/>
          <a:lstStyle/>
          <a:p>
            <a:pPr marL="0" indent="0">
              <a:buNone/>
            </a:pPr>
            <a:r>
              <a:rPr lang="en-US" sz="1400" dirty="0">
                <a:solidFill>
                  <a:schemeClr val="tx1"/>
                </a:solidFill>
              </a:rPr>
              <a:t>Request reaches the server</a:t>
            </a:r>
            <a:endParaRPr lang="en-US" sz="1400" dirty="0"/>
          </a:p>
        </p:txBody>
      </p:sp>
      <p:sp>
        <p:nvSpPr>
          <p:cNvPr id="10" name="shape-160"/>
          <p:cNvSpPr/>
          <p:nvPr/>
        </p:nvSpPr>
        <p:spPr>
          <a:xfrm>
            <a:off x="594360" y="2011680"/>
            <a:ext cx="329184" cy="329184"/>
          </a:xfrm>
          <a:prstGeom prst="ellipse">
            <a:avLst/>
          </a:prstGeom>
          <a:solidFill>
            <a:schemeClr val="accent1"/>
          </a:solidFill>
          <a:ln/>
        </p:spPr>
      </p:sp>
      <p:sp>
        <p:nvSpPr>
          <p:cNvPr id="11" name="text-161"/>
          <p:cNvSpPr txBox="1"/>
          <p:nvPr/>
        </p:nvSpPr>
        <p:spPr>
          <a:xfrm>
            <a:off x="594360" y="2011680"/>
            <a:ext cx="329184" cy="329184"/>
          </a:xfrm>
          <a:prstGeom prst="rect">
            <a:avLst/>
          </a:prstGeom>
          <a:noFill/>
          <a:ln/>
        </p:spPr>
        <p:txBody>
          <a:bodyPr wrap="square" lIns="0" tIns="0" rIns="0" bIns="0" rtlCol="0" anchor="ctr"/>
          <a:lstStyle/>
          <a:p>
            <a:pPr marL="0" indent="0" algn="ctr">
              <a:buNone/>
            </a:pPr>
            <a:r>
              <a:rPr lang="en-US" sz="1400" b="1" dirty="0">
                <a:solidFill>
                  <a:schemeClr val="bg1"/>
                </a:solidFill>
              </a:rPr>
              <a:t>2</a:t>
            </a:r>
            <a:endParaRPr lang="en-US" sz="1400" dirty="0"/>
          </a:p>
        </p:txBody>
      </p:sp>
      <p:sp>
        <p:nvSpPr>
          <p:cNvPr id="12" name="text-162"/>
          <p:cNvSpPr txBox="1"/>
          <p:nvPr/>
        </p:nvSpPr>
        <p:spPr>
          <a:xfrm>
            <a:off x="1097280" y="1938528"/>
            <a:ext cx="2194560" cy="475488"/>
          </a:xfrm>
          <a:prstGeom prst="rect">
            <a:avLst/>
          </a:prstGeom>
          <a:noFill/>
          <a:ln/>
        </p:spPr>
        <p:txBody>
          <a:bodyPr wrap="square" lIns="0" tIns="0" rIns="0" bIns="0" rtlCol="0" anchor="ctr"/>
          <a:lstStyle/>
          <a:p>
            <a:pPr marL="0" indent="0">
              <a:buNone/>
            </a:pPr>
            <a:r>
              <a:rPr lang="en-US" sz="1400" b="1" dirty="0">
                <a:solidFill>
                  <a:schemeClr val="tx2"/>
                </a:solidFill>
              </a:rPr>
              <a:t>Authenticate user</a:t>
            </a:r>
            <a:endParaRPr lang="en-US" sz="1400" dirty="0"/>
          </a:p>
        </p:txBody>
      </p:sp>
      <p:sp>
        <p:nvSpPr>
          <p:cNvPr id="13" name="text-163"/>
          <p:cNvSpPr txBox="1"/>
          <p:nvPr/>
        </p:nvSpPr>
        <p:spPr>
          <a:xfrm>
            <a:off x="3337560" y="1938528"/>
            <a:ext cx="2468880" cy="475488"/>
          </a:xfrm>
          <a:prstGeom prst="rect">
            <a:avLst/>
          </a:prstGeom>
          <a:noFill/>
          <a:ln/>
        </p:spPr>
        <p:txBody>
          <a:bodyPr wrap="square" lIns="0" tIns="0" rIns="0" bIns="0" rtlCol="0" anchor="ctr"/>
          <a:lstStyle/>
          <a:p>
            <a:pPr marL="0" indent="0">
              <a:buNone/>
            </a:pPr>
            <a:r>
              <a:rPr lang="en-US" sz="1200" b="1" dirty="0">
                <a:solidFill>
                  <a:schemeClr val="accent1"/>
                </a:solidFill>
                <a:latin typeface="Courier New" pitchFamily="34" charset="0"/>
                <a:ea typeface="Courier New" pitchFamily="34" charset="-122"/>
                <a:cs typeface="Courier New" pitchFamily="34" charset="-120"/>
              </a:rPr>
              <a:t>open()  read()</a:t>
            </a:r>
            <a:endParaRPr lang="en-US" sz="1200" dirty="0"/>
          </a:p>
        </p:txBody>
      </p:sp>
      <p:sp>
        <p:nvSpPr>
          <p:cNvPr id="14" name="text-164"/>
          <p:cNvSpPr txBox="1"/>
          <p:nvPr/>
        </p:nvSpPr>
        <p:spPr>
          <a:xfrm>
            <a:off x="5852160" y="1938528"/>
            <a:ext cx="2743200" cy="475488"/>
          </a:xfrm>
          <a:prstGeom prst="rect">
            <a:avLst/>
          </a:prstGeom>
          <a:noFill/>
          <a:ln/>
        </p:spPr>
        <p:txBody>
          <a:bodyPr wrap="square" lIns="0" tIns="0" rIns="0" bIns="0" rtlCol="0" anchor="ctr"/>
          <a:lstStyle/>
          <a:p>
            <a:pPr marL="0" indent="0">
              <a:buNone/>
            </a:pPr>
            <a:r>
              <a:rPr lang="en-US" sz="1400" dirty="0">
                <a:solidFill>
                  <a:schemeClr val="tx1"/>
                </a:solidFill>
              </a:rPr>
              <a:t>Verify identity and rights</a:t>
            </a:r>
            <a:endParaRPr lang="en-US" sz="1400" dirty="0"/>
          </a:p>
        </p:txBody>
      </p:sp>
      <p:sp>
        <p:nvSpPr>
          <p:cNvPr id="15" name="shape-165"/>
          <p:cNvSpPr/>
          <p:nvPr/>
        </p:nvSpPr>
        <p:spPr>
          <a:xfrm>
            <a:off x="457200" y="2459736"/>
            <a:ext cx="8229600" cy="475488"/>
          </a:xfrm>
          <a:prstGeom prst="roundRect">
            <a:avLst>
              <a:gd name="adj" fmla="val 11538"/>
            </a:avLst>
          </a:prstGeom>
          <a:solidFill>
            <a:schemeClr val="bg2"/>
          </a:solidFill>
          <a:ln/>
        </p:spPr>
      </p:sp>
      <p:sp>
        <p:nvSpPr>
          <p:cNvPr id="16" name="shape-166"/>
          <p:cNvSpPr/>
          <p:nvPr/>
        </p:nvSpPr>
        <p:spPr>
          <a:xfrm>
            <a:off x="594360" y="2532888"/>
            <a:ext cx="329184" cy="329184"/>
          </a:xfrm>
          <a:prstGeom prst="ellipse">
            <a:avLst/>
          </a:prstGeom>
          <a:solidFill>
            <a:schemeClr val="accent1"/>
          </a:solidFill>
          <a:ln/>
        </p:spPr>
      </p:sp>
      <p:sp>
        <p:nvSpPr>
          <p:cNvPr id="17" name="text-167"/>
          <p:cNvSpPr txBox="1"/>
          <p:nvPr/>
        </p:nvSpPr>
        <p:spPr>
          <a:xfrm>
            <a:off x="594360" y="2532888"/>
            <a:ext cx="329184" cy="329184"/>
          </a:xfrm>
          <a:prstGeom prst="rect">
            <a:avLst/>
          </a:prstGeom>
          <a:noFill/>
          <a:ln/>
        </p:spPr>
        <p:txBody>
          <a:bodyPr wrap="square" lIns="0" tIns="0" rIns="0" bIns="0" rtlCol="0" anchor="ctr"/>
          <a:lstStyle/>
          <a:p>
            <a:pPr marL="0" indent="0" algn="ctr">
              <a:buNone/>
            </a:pPr>
            <a:r>
              <a:rPr lang="en-US" sz="1400" b="1" dirty="0">
                <a:solidFill>
                  <a:schemeClr val="bg1"/>
                </a:solidFill>
              </a:rPr>
              <a:t>3</a:t>
            </a:r>
            <a:endParaRPr lang="en-US" sz="1400" dirty="0"/>
          </a:p>
        </p:txBody>
      </p:sp>
      <p:sp>
        <p:nvSpPr>
          <p:cNvPr id="18" name="text-168"/>
          <p:cNvSpPr txBox="1"/>
          <p:nvPr/>
        </p:nvSpPr>
        <p:spPr>
          <a:xfrm>
            <a:off x="1097280" y="2459736"/>
            <a:ext cx="2194560" cy="475488"/>
          </a:xfrm>
          <a:prstGeom prst="rect">
            <a:avLst/>
          </a:prstGeom>
          <a:noFill/>
          <a:ln/>
        </p:spPr>
        <p:txBody>
          <a:bodyPr wrap="square" lIns="0" tIns="0" rIns="0" bIns="0" rtlCol="0" anchor="ctr"/>
          <a:lstStyle/>
          <a:p>
            <a:pPr marL="0" indent="0">
              <a:buNone/>
            </a:pPr>
            <a:r>
              <a:rPr lang="en-US" sz="1400" b="1" dirty="0">
                <a:solidFill>
                  <a:schemeClr val="tx2"/>
                </a:solidFill>
              </a:rPr>
              <a:t>Start worker</a:t>
            </a:r>
            <a:endParaRPr lang="en-US" sz="1400" dirty="0"/>
          </a:p>
        </p:txBody>
      </p:sp>
      <p:sp>
        <p:nvSpPr>
          <p:cNvPr id="19" name="text-169"/>
          <p:cNvSpPr txBox="1"/>
          <p:nvPr/>
        </p:nvSpPr>
        <p:spPr>
          <a:xfrm>
            <a:off x="3337560" y="2459736"/>
            <a:ext cx="2468880" cy="475488"/>
          </a:xfrm>
          <a:prstGeom prst="rect">
            <a:avLst/>
          </a:prstGeom>
          <a:noFill/>
          <a:ln/>
        </p:spPr>
        <p:txBody>
          <a:bodyPr wrap="square" lIns="0" tIns="0" rIns="0" bIns="0" rtlCol="0" anchor="ctr"/>
          <a:lstStyle/>
          <a:p>
            <a:pPr marL="0" indent="0">
              <a:buNone/>
            </a:pPr>
            <a:r>
              <a:rPr lang="en-US" sz="1200" b="1" dirty="0">
                <a:solidFill>
                  <a:schemeClr val="accent1"/>
                </a:solidFill>
                <a:latin typeface="Courier New" pitchFamily="34" charset="0"/>
                <a:ea typeface="Courier New" pitchFamily="34" charset="-122"/>
                <a:cs typeface="Courier New" pitchFamily="34" charset="-120"/>
              </a:rPr>
              <a:t>fork()  /  clone()</a:t>
            </a:r>
            <a:endParaRPr lang="en-US" sz="1200" dirty="0"/>
          </a:p>
        </p:txBody>
      </p:sp>
      <p:sp>
        <p:nvSpPr>
          <p:cNvPr id="20" name="text-170"/>
          <p:cNvSpPr txBox="1"/>
          <p:nvPr/>
        </p:nvSpPr>
        <p:spPr>
          <a:xfrm>
            <a:off x="5852160" y="2459736"/>
            <a:ext cx="2743200" cy="475488"/>
          </a:xfrm>
          <a:prstGeom prst="rect">
            <a:avLst/>
          </a:prstGeom>
          <a:noFill/>
          <a:ln/>
        </p:spPr>
        <p:txBody>
          <a:bodyPr wrap="square" lIns="0" tIns="0" rIns="0" bIns="0" rtlCol="0" anchor="ctr"/>
          <a:lstStyle/>
          <a:p>
            <a:pPr marL="0" indent="0">
              <a:buNone/>
            </a:pPr>
            <a:r>
              <a:rPr lang="en-US" sz="1400" dirty="0">
                <a:solidFill>
                  <a:schemeClr val="tx1"/>
                </a:solidFill>
              </a:rPr>
              <a:t>One worker per request</a:t>
            </a:r>
            <a:endParaRPr lang="en-US" sz="1400" dirty="0"/>
          </a:p>
        </p:txBody>
      </p:sp>
      <p:sp>
        <p:nvSpPr>
          <p:cNvPr id="21" name="shape-171"/>
          <p:cNvSpPr/>
          <p:nvPr/>
        </p:nvSpPr>
        <p:spPr>
          <a:xfrm>
            <a:off x="594360" y="3054096"/>
            <a:ext cx="329184" cy="329184"/>
          </a:xfrm>
          <a:prstGeom prst="ellipse">
            <a:avLst/>
          </a:prstGeom>
          <a:solidFill>
            <a:schemeClr val="accent1"/>
          </a:solidFill>
          <a:ln/>
        </p:spPr>
      </p:sp>
      <p:sp>
        <p:nvSpPr>
          <p:cNvPr id="22" name="text-172"/>
          <p:cNvSpPr txBox="1"/>
          <p:nvPr/>
        </p:nvSpPr>
        <p:spPr>
          <a:xfrm>
            <a:off x="594360" y="3054096"/>
            <a:ext cx="329184" cy="329184"/>
          </a:xfrm>
          <a:prstGeom prst="rect">
            <a:avLst/>
          </a:prstGeom>
          <a:noFill/>
          <a:ln/>
        </p:spPr>
        <p:txBody>
          <a:bodyPr wrap="square" lIns="0" tIns="0" rIns="0" bIns="0" rtlCol="0" anchor="ctr"/>
          <a:lstStyle/>
          <a:p>
            <a:pPr marL="0" indent="0" algn="ctr">
              <a:buNone/>
            </a:pPr>
            <a:r>
              <a:rPr lang="en-US" sz="1400" b="1" dirty="0">
                <a:solidFill>
                  <a:schemeClr val="bg1"/>
                </a:solidFill>
              </a:rPr>
              <a:t>4</a:t>
            </a:r>
            <a:endParaRPr lang="en-US" sz="1400" dirty="0"/>
          </a:p>
        </p:txBody>
      </p:sp>
      <p:sp>
        <p:nvSpPr>
          <p:cNvPr id="23" name="text-173"/>
          <p:cNvSpPr txBox="1"/>
          <p:nvPr/>
        </p:nvSpPr>
        <p:spPr>
          <a:xfrm>
            <a:off x="1097280" y="2980944"/>
            <a:ext cx="2194560" cy="475488"/>
          </a:xfrm>
          <a:prstGeom prst="rect">
            <a:avLst/>
          </a:prstGeom>
          <a:noFill/>
          <a:ln/>
        </p:spPr>
        <p:txBody>
          <a:bodyPr wrap="square" lIns="0" tIns="0" rIns="0" bIns="0" rtlCol="0" anchor="ctr"/>
          <a:lstStyle/>
          <a:p>
            <a:pPr marL="0" indent="0">
              <a:buNone/>
            </a:pPr>
            <a:r>
              <a:rPr lang="en-US" sz="1400" b="1" dirty="0">
                <a:solidFill>
                  <a:schemeClr val="tx2"/>
                </a:solidFill>
              </a:rPr>
              <a:t>Lock accounts</a:t>
            </a:r>
            <a:endParaRPr lang="en-US" sz="1400" dirty="0"/>
          </a:p>
        </p:txBody>
      </p:sp>
      <p:sp>
        <p:nvSpPr>
          <p:cNvPr id="24" name="text-174"/>
          <p:cNvSpPr txBox="1"/>
          <p:nvPr/>
        </p:nvSpPr>
        <p:spPr>
          <a:xfrm>
            <a:off x="3337560" y="2980944"/>
            <a:ext cx="2468880" cy="475488"/>
          </a:xfrm>
          <a:prstGeom prst="rect">
            <a:avLst/>
          </a:prstGeom>
          <a:noFill/>
          <a:ln/>
        </p:spPr>
        <p:txBody>
          <a:bodyPr wrap="square" lIns="0" tIns="0" rIns="0" bIns="0" rtlCol="0" anchor="ctr"/>
          <a:lstStyle/>
          <a:p>
            <a:pPr marL="0" indent="0">
              <a:buNone/>
            </a:pPr>
            <a:r>
              <a:rPr lang="en-US" sz="1200" b="1" dirty="0">
                <a:solidFill>
                  <a:schemeClr val="accent1"/>
                </a:solidFill>
                <a:latin typeface="Courier New" pitchFamily="34" charset="0"/>
                <a:ea typeface="Courier New" pitchFamily="34" charset="-122"/>
                <a:cs typeface="Courier New" pitchFamily="34" charset="-120"/>
              </a:rPr>
              <a:t>flock()</a:t>
            </a:r>
            <a:endParaRPr lang="en-US" sz="1200" dirty="0"/>
          </a:p>
        </p:txBody>
      </p:sp>
      <p:sp>
        <p:nvSpPr>
          <p:cNvPr id="25" name="text-175"/>
          <p:cNvSpPr txBox="1"/>
          <p:nvPr/>
        </p:nvSpPr>
        <p:spPr>
          <a:xfrm>
            <a:off x="5852160" y="2980944"/>
            <a:ext cx="2743200" cy="475488"/>
          </a:xfrm>
          <a:prstGeom prst="rect">
            <a:avLst/>
          </a:prstGeom>
          <a:noFill/>
          <a:ln/>
        </p:spPr>
        <p:txBody>
          <a:bodyPr wrap="square" lIns="0" tIns="0" rIns="0" bIns="0" rtlCol="0" anchor="ctr"/>
          <a:lstStyle/>
          <a:p>
            <a:pPr marL="0" indent="0">
              <a:buNone/>
            </a:pPr>
            <a:r>
              <a:rPr lang="en-US" sz="1400" dirty="0">
                <a:solidFill>
                  <a:schemeClr val="tx1"/>
                </a:solidFill>
              </a:rPr>
              <a:t>Block other access to A and B</a:t>
            </a:r>
            <a:endParaRPr lang="en-US" sz="1400" dirty="0"/>
          </a:p>
        </p:txBody>
      </p:sp>
      <p:sp>
        <p:nvSpPr>
          <p:cNvPr id="26" name="shape-176"/>
          <p:cNvSpPr/>
          <p:nvPr/>
        </p:nvSpPr>
        <p:spPr>
          <a:xfrm>
            <a:off x="457200" y="3502152"/>
            <a:ext cx="8229600" cy="475488"/>
          </a:xfrm>
          <a:prstGeom prst="roundRect">
            <a:avLst>
              <a:gd name="adj" fmla="val 11538"/>
            </a:avLst>
          </a:prstGeom>
          <a:solidFill>
            <a:schemeClr val="bg2"/>
          </a:solidFill>
          <a:ln/>
        </p:spPr>
      </p:sp>
      <p:sp>
        <p:nvSpPr>
          <p:cNvPr id="27" name="shape-177"/>
          <p:cNvSpPr/>
          <p:nvPr/>
        </p:nvSpPr>
        <p:spPr>
          <a:xfrm>
            <a:off x="594360" y="3575304"/>
            <a:ext cx="329184" cy="329184"/>
          </a:xfrm>
          <a:prstGeom prst="ellipse">
            <a:avLst/>
          </a:prstGeom>
          <a:solidFill>
            <a:schemeClr val="accent1"/>
          </a:solidFill>
          <a:ln/>
        </p:spPr>
      </p:sp>
      <p:sp>
        <p:nvSpPr>
          <p:cNvPr id="28" name="text-178"/>
          <p:cNvSpPr txBox="1"/>
          <p:nvPr/>
        </p:nvSpPr>
        <p:spPr>
          <a:xfrm>
            <a:off x="594360" y="3575304"/>
            <a:ext cx="329184" cy="329184"/>
          </a:xfrm>
          <a:prstGeom prst="rect">
            <a:avLst/>
          </a:prstGeom>
          <a:noFill/>
          <a:ln/>
        </p:spPr>
        <p:txBody>
          <a:bodyPr wrap="square" lIns="0" tIns="0" rIns="0" bIns="0" rtlCol="0" anchor="ctr"/>
          <a:lstStyle/>
          <a:p>
            <a:pPr marL="0" indent="0" algn="ctr">
              <a:buNone/>
            </a:pPr>
            <a:r>
              <a:rPr lang="en-US" sz="1400" b="1" dirty="0">
                <a:solidFill>
                  <a:schemeClr val="bg1"/>
                </a:solidFill>
              </a:rPr>
              <a:t>5</a:t>
            </a:r>
            <a:endParaRPr lang="en-US" sz="1400" dirty="0"/>
          </a:p>
        </p:txBody>
      </p:sp>
      <p:sp>
        <p:nvSpPr>
          <p:cNvPr id="29" name="text-179"/>
          <p:cNvSpPr txBox="1"/>
          <p:nvPr/>
        </p:nvSpPr>
        <p:spPr>
          <a:xfrm>
            <a:off x="1097280" y="3502152"/>
            <a:ext cx="2194560" cy="475488"/>
          </a:xfrm>
          <a:prstGeom prst="rect">
            <a:avLst/>
          </a:prstGeom>
          <a:noFill/>
          <a:ln/>
        </p:spPr>
        <p:txBody>
          <a:bodyPr wrap="square" lIns="0" tIns="0" rIns="0" bIns="0" rtlCol="0" anchor="ctr"/>
          <a:lstStyle/>
          <a:p>
            <a:pPr marL="0" indent="0">
              <a:buNone/>
            </a:pPr>
            <a:r>
              <a:rPr lang="en-US" sz="1400" b="1" dirty="0">
                <a:solidFill>
                  <a:schemeClr val="tx2"/>
                </a:solidFill>
              </a:rPr>
              <a:t>Update records</a:t>
            </a:r>
            <a:endParaRPr lang="en-US" sz="1400" dirty="0"/>
          </a:p>
        </p:txBody>
      </p:sp>
      <p:sp>
        <p:nvSpPr>
          <p:cNvPr id="30" name="text-180"/>
          <p:cNvSpPr txBox="1"/>
          <p:nvPr/>
        </p:nvSpPr>
        <p:spPr>
          <a:xfrm>
            <a:off x="3337560" y="3502152"/>
            <a:ext cx="2468880" cy="475488"/>
          </a:xfrm>
          <a:prstGeom prst="rect">
            <a:avLst/>
          </a:prstGeom>
          <a:noFill/>
          <a:ln/>
        </p:spPr>
        <p:txBody>
          <a:bodyPr wrap="square" lIns="0" tIns="0" rIns="0" bIns="0" rtlCol="0" anchor="ctr"/>
          <a:lstStyle/>
          <a:p>
            <a:pPr marL="0" indent="0">
              <a:buNone/>
            </a:pPr>
            <a:r>
              <a:rPr lang="en-US" sz="1200" b="1" dirty="0">
                <a:solidFill>
                  <a:schemeClr val="accent1"/>
                </a:solidFill>
                <a:latin typeface="Courier New" pitchFamily="34" charset="0"/>
                <a:ea typeface="Courier New" pitchFamily="34" charset="-122"/>
                <a:cs typeface="Courier New" pitchFamily="34" charset="-120"/>
              </a:rPr>
              <a:t>read()  write()</a:t>
            </a:r>
            <a:endParaRPr lang="en-US" sz="1200" dirty="0"/>
          </a:p>
        </p:txBody>
      </p:sp>
      <p:sp>
        <p:nvSpPr>
          <p:cNvPr id="31" name="text-181"/>
          <p:cNvSpPr txBox="1"/>
          <p:nvPr/>
        </p:nvSpPr>
        <p:spPr>
          <a:xfrm>
            <a:off x="5852160" y="3502152"/>
            <a:ext cx="2743200" cy="475488"/>
          </a:xfrm>
          <a:prstGeom prst="rect">
            <a:avLst/>
          </a:prstGeom>
          <a:noFill/>
          <a:ln/>
        </p:spPr>
        <p:txBody>
          <a:bodyPr wrap="square" lIns="0" tIns="0" rIns="0" bIns="0" rtlCol="0" anchor="ctr"/>
          <a:lstStyle/>
          <a:p>
            <a:pPr marL="0" indent="0">
              <a:buNone/>
            </a:pPr>
            <a:r>
              <a:rPr lang="en-US" sz="1400" dirty="0">
                <a:solidFill>
                  <a:schemeClr val="tx1"/>
                </a:solidFill>
              </a:rPr>
              <a:t>Debit A, credit B</a:t>
            </a:r>
            <a:endParaRPr lang="en-US" sz="1400" dirty="0"/>
          </a:p>
        </p:txBody>
      </p:sp>
      <p:sp>
        <p:nvSpPr>
          <p:cNvPr id="32" name="shape-182"/>
          <p:cNvSpPr/>
          <p:nvPr/>
        </p:nvSpPr>
        <p:spPr>
          <a:xfrm>
            <a:off x="594360" y="4096512"/>
            <a:ext cx="329184" cy="329184"/>
          </a:xfrm>
          <a:prstGeom prst="ellipse">
            <a:avLst/>
          </a:prstGeom>
          <a:solidFill>
            <a:schemeClr val="accent1"/>
          </a:solidFill>
          <a:ln/>
        </p:spPr>
      </p:sp>
      <p:sp>
        <p:nvSpPr>
          <p:cNvPr id="33" name="text-183"/>
          <p:cNvSpPr txBox="1"/>
          <p:nvPr/>
        </p:nvSpPr>
        <p:spPr>
          <a:xfrm>
            <a:off x="594360" y="4096512"/>
            <a:ext cx="329184" cy="329184"/>
          </a:xfrm>
          <a:prstGeom prst="rect">
            <a:avLst/>
          </a:prstGeom>
          <a:noFill/>
          <a:ln/>
        </p:spPr>
        <p:txBody>
          <a:bodyPr wrap="square" lIns="0" tIns="0" rIns="0" bIns="0" rtlCol="0" anchor="ctr"/>
          <a:lstStyle/>
          <a:p>
            <a:pPr marL="0" indent="0" algn="ctr">
              <a:buNone/>
            </a:pPr>
            <a:r>
              <a:rPr lang="en-US" sz="1400" b="1" dirty="0">
                <a:solidFill>
                  <a:schemeClr val="bg1"/>
                </a:solidFill>
              </a:rPr>
              <a:t>6</a:t>
            </a:r>
            <a:endParaRPr lang="en-US" sz="1400" dirty="0"/>
          </a:p>
        </p:txBody>
      </p:sp>
      <p:sp>
        <p:nvSpPr>
          <p:cNvPr id="34" name="text-184"/>
          <p:cNvSpPr txBox="1"/>
          <p:nvPr/>
        </p:nvSpPr>
        <p:spPr>
          <a:xfrm>
            <a:off x="1097280" y="4023360"/>
            <a:ext cx="2194560" cy="475488"/>
          </a:xfrm>
          <a:prstGeom prst="rect">
            <a:avLst/>
          </a:prstGeom>
          <a:noFill/>
          <a:ln/>
        </p:spPr>
        <p:txBody>
          <a:bodyPr wrap="square" lIns="0" tIns="0" rIns="0" bIns="0" rtlCol="0" anchor="ctr"/>
          <a:lstStyle/>
          <a:p>
            <a:pPr marL="0" indent="0">
              <a:buNone/>
            </a:pPr>
            <a:r>
              <a:rPr lang="en-US" sz="1400" b="1" dirty="0">
                <a:solidFill>
                  <a:schemeClr val="tx2"/>
                </a:solidFill>
              </a:rPr>
              <a:t>Commit and reply</a:t>
            </a:r>
            <a:endParaRPr lang="en-US" sz="1400" dirty="0"/>
          </a:p>
        </p:txBody>
      </p:sp>
      <p:sp>
        <p:nvSpPr>
          <p:cNvPr id="35" name="text-185"/>
          <p:cNvSpPr txBox="1"/>
          <p:nvPr/>
        </p:nvSpPr>
        <p:spPr>
          <a:xfrm>
            <a:off x="3337560" y="4023360"/>
            <a:ext cx="2468880" cy="475488"/>
          </a:xfrm>
          <a:prstGeom prst="rect">
            <a:avLst/>
          </a:prstGeom>
          <a:noFill/>
          <a:ln/>
        </p:spPr>
        <p:txBody>
          <a:bodyPr wrap="square" lIns="0" tIns="0" rIns="0" bIns="0" rtlCol="0" anchor="ctr"/>
          <a:lstStyle/>
          <a:p>
            <a:pPr marL="0" indent="0">
              <a:buNone/>
            </a:pPr>
            <a:r>
              <a:rPr lang="en-US" sz="1200" b="1" dirty="0">
                <a:solidFill>
                  <a:schemeClr val="accent1"/>
                </a:solidFill>
                <a:latin typeface="Courier New" pitchFamily="34" charset="0"/>
                <a:ea typeface="Courier New" pitchFamily="34" charset="-122"/>
                <a:cs typeface="Courier New" pitchFamily="34" charset="-120"/>
              </a:rPr>
              <a:t>fsync()  send()  close()</a:t>
            </a:r>
            <a:endParaRPr lang="en-US" sz="1200" dirty="0"/>
          </a:p>
        </p:txBody>
      </p:sp>
      <p:sp>
        <p:nvSpPr>
          <p:cNvPr id="36" name="text-186"/>
          <p:cNvSpPr txBox="1"/>
          <p:nvPr/>
        </p:nvSpPr>
        <p:spPr>
          <a:xfrm>
            <a:off x="5852160" y="4023360"/>
            <a:ext cx="2743200" cy="475488"/>
          </a:xfrm>
          <a:prstGeom prst="rect">
            <a:avLst/>
          </a:prstGeom>
          <a:noFill/>
          <a:ln/>
        </p:spPr>
        <p:txBody>
          <a:bodyPr wrap="square" lIns="0" tIns="0" rIns="0" bIns="0" rtlCol="0" anchor="ctr"/>
          <a:lstStyle/>
          <a:p>
            <a:pPr marL="0" indent="0">
              <a:buNone/>
            </a:pPr>
            <a:r>
              <a:rPr lang="en-US" sz="1400" dirty="0">
                <a:solidFill>
                  <a:schemeClr val="tx1"/>
                </a:solidFill>
              </a:rPr>
              <a:t>Make durable, confirm, unlock</a:t>
            </a:r>
            <a:endParaRPr lang="en-US" sz="1400" dirty="0"/>
          </a:p>
        </p:txBody>
      </p:sp>
      <p:sp>
        <p:nvSpPr>
          <p:cNvPr id="37" name="Slide Number Placeholder 0"/>
          <p:cNvSpPr>
            <a:spLocks noGrp="1"/>
          </p:cNvSpPr>
          <p:nvPr>
            <p:ph type="sldNum" sz="quarter" idx="4294967295"/>
          </p:nvPr>
        </p:nvSpPr>
        <p:spPr>
          <a:xfrm>
            <a:off x="8229600" y="4754880"/>
            <a:ext cx="457200" cy="274320"/>
          </a:xfrm>
          <a:prstGeom prst="rect">
            <a:avLst/>
          </a:prstGeom>
          <a:extLst>
            <a:ext uri="{C572A759-6A51-4108-AA02-DFA0A04FC94B}">
              <ma14:wrappingTextBoxFlag xmlns="" xmlns:ma14="http://schemas.microsoft.com/office/mac/drawingml/2011/main" val="0"/>
            </a:ext>
          </a:extLst>
        </p:spPr>
        <p:txBody>
          <a:bodyPr/>
          <a:lstStyle>
            <a:lvl1pPr>
              <a:defRPr sz="1000">
                <a:solidFill>
                  <a:schemeClr val="accent5"/>
                </a:solidFill>
              </a:defRPr>
            </a:lvl1pPr>
          </a:lstStyle>
          <a:p>
            <a:pPr algn="r"/>
            <a:fld id="{F7021451-1387-4CA6-816F-3879F97B5CBC}" type="slidenum">
              <a:rPr lang="en-US" b="0"/>
              <a:t>13</a:t>
            </a:fld>
            <a:endParaRPr lang="en-US"/>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457200" y="274320"/>
            <a:ext cx="8229600" cy="731520"/>
          </a:xfrm>
          <a:prstGeom prst="rect">
            <a:avLst/>
          </a:prstGeom>
          <a:noFill/>
          <a:ln/>
        </p:spPr>
        <p:txBody>
          <a:bodyPr wrap="square" lIns="0" tIns="0" rIns="0" bIns="0" rtlCol="0" anchor="ctr"/>
          <a:lstStyle/>
          <a:p>
            <a:pPr marL="0" indent="0" algn="l">
              <a:buNone/>
            </a:pPr>
            <a:r>
              <a:rPr lang="en-US" sz="3400" b="1" dirty="0">
                <a:solidFill>
                  <a:schemeClr val="tx2"/>
                </a:solidFill>
              </a:rPr>
              <a:t>Risks and OS Safeguards</a:t>
            </a:r>
            <a:endParaRPr lang="en-US" sz="3400" dirty="0"/>
          </a:p>
        </p:txBody>
      </p:sp>
      <p:sp>
        <p:nvSpPr>
          <p:cNvPr id="3" name="shape-187"/>
          <p:cNvSpPr/>
          <p:nvPr/>
        </p:nvSpPr>
        <p:spPr>
          <a:xfrm>
            <a:off x="457200" y="1234440"/>
            <a:ext cx="3566160" cy="713232"/>
          </a:xfrm>
          <a:prstGeom prst="roundRect">
            <a:avLst>
              <a:gd name="adj" fmla="val 10256"/>
            </a:avLst>
          </a:prstGeom>
          <a:solidFill>
            <a:schemeClr val="bg2"/>
          </a:solidFill>
          <a:ln/>
        </p:spPr>
      </p:sp>
      <p:sp>
        <p:nvSpPr>
          <p:cNvPr id="4" name="text-188"/>
          <p:cNvSpPr txBox="1"/>
          <p:nvPr/>
        </p:nvSpPr>
        <p:spPr>
          <a:xfrm>
            <a:off x="640080" y="1234440"/>
            <a:ext cx="3291840" cy="713232"/>
          </a:xfrm>
          <a:prstGeom prst="rect">
            <a:avLst/>
          </a:prstGeom>
          <a:noFill/>
          <a:ln/>
        </p:spPr>
        <p:txBody>
          <a:bodyPr wrap="square" lIns="0" tIns="0" rIns="0" bIns="0" rtlCol="0" anchor="ctr"/>
          <a:lstStyle/>
          <a:p>
            <a:pPr marL="0" indent="0">
              <a:buNone/>
            </a:pPr>
            <a:r>
              <a:rPr lang="en-US" sz="1600" b="1" dirty="0">
                <a:solidFill>
                  <a:schemeClr val="accent4"/>
                </a:solidFill>
              </a:rPr>
              <a:t>Race condition</a:t>
            </a:r>
            <a:endParaRPr lang="en-US" sz="1600" dirty="0"/>
          </a:p>
          <a:p>
            <a:pPr marL="0" indent="0">
              <a:buNone/>
            </a:pPr>
            <a:r>
              <a:rPr lang="en-US" sz="1400" dirty="0">
                <a:solidFill>
                  <a:schemeClr val="tx1"/>
                </a:solidFill>
              </a:rPr>
              <a:t>Two withdrawals hit one balance</a:t>
            </a:r>
            <a:endParaRPr lang="en-US" sz="1600" dirty="0"/>
          </a:p>
        </p:txBody>
      </p:sp>
      <p:sp>
        <p:nvSpPr>
          <p:cNvPr id="5" name="shape-189"/>
          <p:cNvSpPr/>
          <p:nvPr/>
        </p:nvSpPr>
        <p:spPr>
          <a:xfrm>
            <a:off x="4160520" y="1408176"/>
            <a:ext cx="457200" cy="365760"/>
          </a:xfrm>
          <a:prstGeom prst="rightArrow">
            <a:avLst/>
          </a:prstGeom>
          <a:solidFill>
            <a:schemeClr val="accent2"/>
          </a:solidFill>
          <a:ln/>
        </p:spPr>
      </p:sp>
      <p:sp>
        <p:nvSpPr>
          <p:cNvPr id="6" name="shape-190"/>
          <p:cNvSpPr/>
          <p:nvPr/>
        </p:nvSpPr>
        <p:spPr>
          <a:xfrm>
            <a:off x="4754880" y="1234440"/>
            <a:ext cx="3931920" cy="713232"/>
          </a:xfrm>
          <a:prstGeom prst="roundRect">
            <a:avLst>
              <a:gd name="adj" fmla="val 10256"/>
            </a:avLst>
          </a:prstGeom>
          <a:solidFill>
            <a:schemeClr val="tx2"/>
          </a:solidFill>
          <a:ln/>
        </p:spPr>
      </p:sp>
      <p:sp>
        <p:nvSpPr>
          <p:cNvPr id="7" name="text-191"/>
          <p:cNvSpPr txBox="1"/>
          <p:nvPr/>
        </p:nvSpPr>
        <p:spPr>
          <a:xfrm>
            <a:off x="4937760" y="1234440"/>
            <a:ext cx="3611880" cy="713232"/>
          </a:xfrm>
          <a:prstGeom prst="rect">
            <a:avLst/>
          </a:prstGeom>
          <a:noFill/>
          <a:ln/>
        </p:spPr>
        <p:txBody>
          <a:bodyPr wrap="square" lIns="0" tIns="0" rIns="0" bIns="0" rtlCol="0" anchor="ctr"/>
          <a:lstStyle/>
          <a:p>
            <a:pPr marL="0" indent="0">
              <a:buNone/>
            </a:pPr>
            <a:r>
              <a:rPr lang="en-US" sz="1500" b="1" dirty="0">
                <a:solidFill>
                  <a:schemeClr val="bg1"/>
                </a:solidFill>
              </a:rPr>
              <a:t>Mutexes, semaphores and file locks</a:t>
            </a:r>
            <a:endParaRPr lang="en-US" sz="1500" dirty="0"/>
          </a:p>
        </p:txBody>
      </p:sp>
      <p:sp>
        <p:nvSpPr>
          <p:cNvPr id="8" name="shape-192"/>
          <p:cNvSpPr/>
          <p:nvPr/>
        </p:nvSpPr>
        <p:spPr>
          <a:xfrm>
            <a:off x="457200" y="2057400"/>
            <a:ext cx="3566160" cy="713232"/>
          </a:xfrm>
          <a:prstGeom prst="roundRect">
            <a:avLst>
              <a:gd name="adj" fmla="val 10256"/>
            </a:avLst>
          </a:prstGeom>
          <a:solidFill>
            <a:schemeClr val="bg2"/>
          </a:solidFill>
          <a:ln/>
        </p:spPr>
      </p:sp>
      <p:sp>
        <p:nvSpPr>
          <p:cNvPr id="9" name="text-193"/>
          <p:cNvSpPr txBox="1"/>
          <p:nvPr/>
        </p:nvSpPr>
        <p:spPr>
          <a:xfrm>
            <a:off x="640080" y="2057400"/>
            <a:ext cx="3291840" cy="713232"/>
          </a:xfrm>
          <a:prstGeom prst="rect">
            <a:avLst/>
          </a:prstGeom>
          <a:noFill/>
          <a:ln/>
        </p:spPr>
        <p:txBody>
          <a:bodyPr wrap="square" lIns="0" tIns="0" rIns="0" bIns="0" rtlCol="0" anchor="ctr"/>
          <a:lstStyle/>
          <a:p>
            <a:pPr marL="0" indent="0">
              <a:buNone/>
            </a:pPr>
            <a:r>
              <a:rPr lang="en-US" sz="1600" b="1" dirty="0">
                <a:solidFill>
                  <a:schemeClr val="accent4"/>
                </a:solidFill>
              </a:rPr>
              <a:t>Deadlock</a:t>
            </a:r>
            <a:endParaRPr lang="en-US" sz="1600" dirty="0"/>
          </a:p>
          <a:p>
            <a:pPr marL="0" indent="0">
              <a:buNone/>
            </a:pPr>
            <a:r>
              <a:rPr lang="en-US" sz="1400" dirty="0">
                <a:solidFill>
                  <a:schemeClr val="tx1"/>
                </a:solidFill>
              </a:rPr>
              <a:t>Two transfers wait on each other</a:t>
            </a:r>
            <a:endParaRPr lang="en-US" sz="1600" dirty="0"/>
          </a:p>
        </p:txBody>
      </p:sp>
      <p:sp>
        <p:nvSpPr>
          <p:cNvPr id="10" name="shape-194"/>
          <p:cNvSpPr/>
          <p:nvPr/>
        </p:nvSpPr>
        <p:spPr>
          <a:xfrm>
            <a:off x="4160520" y="2231136"/>
            <a:ext cx="457200" cy="365760"/>
          </a:xfrm>
          <a:prstGeom prst="rightArrow">
            <a:avLst/>
          </a:prstGeom>
          <a:solidFill>
            <a:schemeClr val="accent2"/>
          </a:solidFill>
          <a:ln/>
        </p:spPr>
      </p:sp>
      <p:sp>
        <p:nvSpPr>
          <p:cNvPr id="11" name="shape-195"/>
          <p:cNvSpPr/>
          <p:nvPr/>
        </p:nvSpPr>
        <p:spPr>
          <a:xfrm>
            <a:off x="4754880" y="2057400"/>
            <a:ext cx="3931920" cy="713232"/>
          </a:xfrm>
          <a:prstGeom prst="roundRect">
            <a:avLst>
              <a:gd name="adj" fmla="val 10256"/>
            </a:avLst>
          </a:prstGeom>
          <a:solidFill>
            <a:schemeClr val="tx2"/>
          </a:solidFill>
          <a:ln/>
        </p:spPr>
      </p:sp>
      <p:sp>
        <p:nvSpPr>
          <p:cNvPr id="12" name="text-196"/>
          <p:cNvSpPr txBox="1"/>
          <p:nvPr/>
        </p:nvSpPr>
        <p:spPr>
          <a:xfrm>
            <a:off x="4937760" y="2057400"/>
            <a:ext cx="3611880" cy="713232"/>
          </a:xfrm>
          <a:prstGeom prst="rect">
            <a:avLst/>
          </a:prstGeom>
          <a:noFill/>
          <a:ln/>
        </p:spPr>
        <p:txBody>
          <a:bodyPr wrap="square" lIns="0" tIns="0" rIns="0" bIns="0" rtlCol="0" anchor="ctr"/>
          <a:lstStyle/>
          <a:p>
            <a:pPr marL="0" indent="0">
              <a:buNone/>
            </a:pPr>
            <a:r>
              <a:rPr lang="en-US" sz="1500" b="1" dirty="0">
                <a:solidFill>
                  <a:schemeClr val="bg1"/>
                </a:solidFill>
              </a:rPr>
              <a:t>Lock ordering and deadlock detection</a:t>
            </a:r>
            <a:endParaRPr lang="en-US" sz="1500" dirty="0"/>
          </a:p>
        </p:txBody>
      </p:sp>
      <p:sp>
        <p:nvSpPr>
          <p:cNvPr id="13" name="shape-197"/>
          <p:cNvSpPr/>
          <p:nvPr/>
        </p:nvSpPr>
        <p:spPr>
          <a:xfrm>
            <a:off x="457200" y="2880360"/>
            <a:ext cx="3566160" cy="713232"/>
          </a:xfrm>
          <a:prstGeom prst="roundRect">
            <a:avLst>
              <a:gd name="adj" fmla="val 10256"/>
            </a:avLst>
          </a:prstGeom>
          <a:solidFill>
            <a:schemeClr val="bg2"/>
          </a:solidFill>
          <a:ln/>
        </p:spPr>
      </p:sp>
      <p:sp>
        <p:nvSpPr>
          <p:cNvPr id="14" name="text-198"/>
          <p:cNvSpPr txBox="1"/>
          <p:nvPr/>
        </p:nvSpPr>
        <p:spPr>
          <a:xfrm>
            <a:off x="640080" y="2880360"/>
            <a:ext cx="3291840" cy="713232"/>
          </a:xfrm>
          <a:prstGeom prst="rect">
            <a:avLst/>
          </a:prstGeom>
          <a:noFill/>
          <a:ln/>
        </p:spPr>
        <p:txBody>
          <a:bodyPr wrap="square" lIns="0" tIns="0" rIns="0" bIns="0" rtlCol="0" anchor="ctr"/>
          <a:lstStyle/>
          <a:p>
            <a:pPr marL="0" indent="0">
              <a:buNone/>
            </a:pPr>
            <a:r>
              <a:rPr lang="en-US" sz="1600" b="1" dirty="0">
                <a:solidFill>
                  <a:schemeClr val="accent4"/>
                </a:solidFill>
              </a:rPr>
              <a:t>Unauthorized access</a:t>
            </a:r>
            <a:endParaRPr lang="en-US" sz="1600" dirty="0"/>
          </a:p>
          <a:p>
            <a:pPr marL="0" indent="0">
              <a:buNone/>
            </a:pPr>
            <a:r>
              <a:rPr lang="en-US" sz="1400" dirty="0">
                <a:solidFill>
                  <a:schemeClr val="tx1"/>
                </a:solidFill>
              </a:rPr>
              <a:t>Stolen or misused credentials</a:t>
            </a:r>
            <a:endParaRPr lang="en-US" sz="1600" dirty="0"/>
          </a:p>
        </p:txBody>
      </p:sp>
      <p:sp>
        <p:nvSpPr>
          <p:cNvPr id="15" name="shape-199"/>
          <p:cNvSpPr/>
          <p:nvPr/>
        </p:nvSpPr>
        <p:spPr>
          <a:xfrm>
            <a:off x="4160520" y="3054096"/>
            <a:ext cx="457200" cy="365760"/>
          </a:xfrm>
          <a:prstGeom prst="rightArrow">
            <a:avLst/>
          </a:prstGeom>
          <a:solidFill>
            <a:schemeClr val="accent2"/>
          </a:solidFill>
          <a:ln/>
        </p:spPr>
      </p:sp>
      <p:sp>
        <p:nvSpPr>
          <p:cNvPr id="16" name="shape-200"/>
          <p:cNvSpPr/>
          <p:nvPr/>
        </p:nvSpPr>
        <p:spPr>
          <a:xfrm>
            <a:off x="4754880" y="2880360"/>
            <a:ext cx="3931920" cy="713232"/>
          </a:xfrm>
          <a:prstGeom prst="roundRect">
            <a:avLst>
              <a:gd name="adj" fmla="val 10256"/>
            </a:avLst>
          </a:prstGeom>
          <a:solidFill>
            <a:schemeClr val="tx2"/>
          </a:solidFill>
          <a:ln/>
        </p:spPr>
      </p:sp>
      <p:sp>
        <p:nvSpPr>
          <p:cNvPr id="17" name="text-201"/>
          <p:cNvSpPr txBox="1"/>
          <p:nvPr/>
        </p:nvSpPr>
        <p:spPr>
          <a:xfrm>
            <a:off x="4937760" y="2880360"/>
            <a:ext cx="3611880" cy="713232"/>
          </a:xfrm>
          <a:prstGeom prst="rect">
            <a:avLst/>
          </a:prstGeom>
          <a:noFill/>
          <a:ln/>
        </p:spPr>
        <p:txBody>
          <a:bodyPr wrap="square" lIns="0" tIns="0" rIns="0" bIns="0" rtlCol="0" anchor="ctr"/>
          <a:lstStyle/>
          <a:p>
            <a:pPr marL="0" indent="0">
              <a:buNone/>
            </a:pPr>
            <a:r>
              <a:rPr lang="en-US" sz="1500" b="1" dirty="0">
                <a:solidFill>
                  <a:schemeClr val="bg1"/>
                </a:solidFill>
              </a:rPr>
              <a:t>Authentication, ACLs, user/kernel mode</a:t>
            </a:r>
            <a:endParaRPr lang="en-US" sz="1500" dirty="0"/>
          </a:p>
        </p:txBody>
      </p:sp>
      <p:sp>
        <p:nvSpPr>
          <p:cNvPr id="18" name="shape-202"/>
          <p:cNvSpPr/>
          <p:nvPr/>
        </p:nvSpPr>
        <p:spPr>
          <a:xfrm>
            <a:off x="457200" y="3703320"/>
            <a:ext cx="3566160" cy="713232"/>
          </a:xfrm>
          <a:prstGeom prst="roundRect">
            <a:avLst>
              <a:gd name="adj" fmla="val 10256"/>
            </a:avLst>
          </a:prstGeom>
          <a:solidFill>
            <a:schemeClr val="bg2"/>
          </a:solidFill>
          <a:ln/>
        </p:spPr>
      </p:sp>
      <p:sp>
        <p:nvSpPr>
          <p:cNvPr id="19" name="text-203"/>
          <p:cNvSpPr txBox="1"/>
          <p:nvPr/>
        </p:nvSpPr>
        <p:spPr>
          <a:xfrm>
            <a:off x="640080" y="3703320"/>
            <a:ext cx="3291840" cy="713232"/>
          </a:xfrm>
          <a:prstGeom prst="rect">
            <a:avLst/>
          </a:prstGeom>
          <a:noFill/>
          <a:ln/>
        </p:spPr>
        <p:txBody>
          <a:bodyPr wrap="square" lIns="0" tIns="0" rIns="0" bIns="0" rtlCol="0" anchor="ctr"/>
          <a:lstStyle/>
          <a:p>
            <a:pPr marL="0" indent="0">
              <a:buNone/>
            </a:pPr>
            <a:r>
              <a:rPr lang="en-US" sz="1600" b="1" dirty="0">
                <a:solidFill>
                  <a:schemeClr val="accent4"/>
                </a:solidFill>
              </a:rPr>
              <a:t>Crash mid-transaction</a:t>
            </a:r>
            <a:endParaRPr lang="en-US" sz="1600" dirty="0"/>
          </a:p>
          <a:p>
            <a:pPr marL="0" indent="0">
              <a:buNone/>
            </a:pPr>
            <a:r>
              <a:rPr lang="en-US" sz="1400" dirty="0">
                <a:solidFill>
                  <a:schemeClr val="tx1"/>
                </a:solidFill>
              </a:rPr>
              <a:t>Power loss after debit, before credit</a:t>
            </a:r>
            <a:endParaRPr lang="en-US" sz="1600" dirty="0"/>
          </a:p>
        </p:txBody>
      </p:sp>
      <p:sp>
        <p:nvSpPr>
          <p:cNvPr id="20" name="shape-204"/>
          <p:cNvSpPr/>
          <p:nvPr/>
        </p:nvSpPr>
        <p:spPr>
          <a:xfrm>
            <a:off x="4160520" y="3877056"/>
            <a:ext cx="457200" cy="365760"/>
          </a:xfrm>
          <a:prstGeom prst="rightArrow">
            <a:avLst/>
          </a:prstGeom>
          <a:solidFill>
            <a:schemeClr val="accent2"/>
          </a:solidFill>
          <a:ln/>
        </p:spPr>
      </p:sp>
      <p:sp>
        <p:nvSpPr>
          <p:cNvPr id="21" name="shape-205"/>
          <p:cNvSpPr/>
          <p:nvPr/>
        </p:nvSpPr>
        <p:spPr>
          <a:xfrm>
            <a:off x="4754880" y="3703320"/>
            <a:ext cx="3931920" cy="713232"/>
          </a:xfrm>
          <a:prstGeom prst="roundRect">
            <a:avLst>
              <a:gd name="adj" fmla="val 10256"/>
            </a:avLst>
          </a:prstGeom>
          <a:solidFill>
            <a:schemeClr val="tx2"/>
          </a:solidFill>
          <a:ln/>
        </p:spPr>
      </p:sp>
      <p:sp>
        <p:nvSpPr>
          <p:cNvPr id="22" name="text-206"/>
          <p:cNvSpPr txBox="1"/>
          <p:nvPr/>
        </p:nvSpPr>
        <p:spPr>
          <a:xfrm>
            <a:off x="4937760" y="3703320"/>
            <a:ext cx="3611880" cy="713232"/>
          </a:xfrm>
          <a:prstGeom prst="rect">
            <a:avLst/>
          </a:prstGeom>
          <a:noFill/>
          <a:ln/>
        </p:spPr>
        <p:txBody>
          <a:bodyPr wrap="square" lIns="0" tIns="0" rIns="0" bIns="0" rtlCol="0" anchor="ctr"/>
          <a:lstStyle/>
          <a:p>
            <a:pPr marL="0" indent="0">
              <a:buNone/>
            </a:pPr>
            <a:r>
              <a:rPr lang="en-US" sz="1500" b="1" dirty="0">
                <a:solidFill>
                  <a:schemeClr val="bg1"/>
                </a:solidFill>
              </a:rPr>
              <a:t>Journaling, write-ahead log, fsync()</a:t>
            </a:r>
            <a:endParaRPr lang="en-US" sz="1500" dirty="0"/>
          </a:p>
        </p:txBody>
      </p:sp>
      <p:sp>
        <p:nvSpPr>
          <p:cNvPr id="25" name="Slide Number Placeholder 0"/>
          <p:cNvSpPr>
            <a:spLocks noGrp="1"/>
          </p:cNvSpPr>
          <p:nvPr>
            <p:ph type="sldNum" sz="quarter" idx="4294967295"/>
          </p:nvPr>
        </p:nvSpPr>
        <p:spPr>
          <a:xfrm>
            <a:off x="8229600" y="4754880"/>
            <a:ext cx="457200" cy="274320"/>
          </a:xfrm>
          <a:prstGeom prst="rect">
            <a:avLst/>
          </a:prstGeom>
          <a:extLst>
            <a:ext uri="{C572A759-6A51-4108-AA02-DFA0A04FC94B}">
              <ma14:wrappingTextBoxFlag xmlns="" xmlns:ma14="http://schemas.microsoft.com/office/mac/drawingml/2011/main" val="0"/>
            </a:ext>
          </a:extLst>
        </p:spPr>
        <p:txBody>
          <a:bodyPr/>
          <a:lstStyle>
            <a:lvl1pPr>
              <a:defRPr sz="1000">
                <a:solidFill>
                  <a:schemeClr val="accent5"/>
                </a:solidFill>
              </a:defRPr>
            </a:lvl1pPr>
          </a:lstStyle>
          <a:p>
            <a:pPr algn="r"/>
            <a:fld id="{F7021451-1387-4CA6-816F-3879F97B5CBC}" type="slidenum">
              <a:rPr lang="en-US" b="0"/>
              <a:t>14</a:t>
            </a:fld>
            <a:endParaRPr lang="en-US"/>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457200" y="274320"/>
            <a:ext cx="8229600" cy="731520"/>
          </a:xfrm>
          <a:prstGeom prst="rect">
            <a:avLst/>
          </a:prstGeom>
          <a:noFill/>
          <a:ln/>
        </p:spPr>
        <p:txBody>
          <a:bodyPr wrap="square" lIns="0" tIns="0" rIns="0" bIns="0" rtlCol="0" anchor="ctr"/>
          <a:lstStyle/>
          <a:p>
            <a:pPr marL="0" indent="0" algn="l">
              <a:buNone/>
            </a:pPr>
            <a:r>
              <a:rPr lang="en-US" sz="3400" b="1" dirty="0">
                <a:solidFill>
                  <a:schemeClr val="bg1"/>
                </a:solidFill>
              </a:rPr>
              <a:t>Conclusion</a:t>
            </a:r>
            <a:endParaRPr lang="en-US" sz="3400" dirty="0"/>
          </a:p>
        </p:txBody>
      </p:sp>
      <p:sp>
        <p:nvSpPr>
          <p:cNvPr id="3" name="shape-207"/>
          <p:cNvSpPr/>
          <p:nvPr/>
        </p:nvSpPr>
        <p:spPr>
          <a:xfrm>
            <a:off x="457200" y="1234440"/>
            <a:ext cx="548640" cy="548640"/>
          </a:xfrm>
          <a:prstGeom prst="ellipse">
            <a:avLst/>
          </a:prstGeom>
          <a:solidFill>
            <a:schemeClr val="accent2"/>
          </a:solidFill>
          <a:ln/>
        </p:spPr>
      </p:sp>
      <p:sp>
        <p:nvSpPr>
          <p:cNvPr id="4" name="text-208"/>
          <p:cNvSpPr txBox="1"/>
          <p:nvPr/>
        </p:nvSpPr>
        <p:spPr>
          <a:xfrm>
            <a:off x="457200" y="1234440"/>
            <a:ext cx="548640" cy="548640"/>
          </a:xfrm>
          <a:prstGeom prst="rect">
            <a:avLst/>
          </a:prstGeom>
          <a:noFill/>
          <a:ln/>
        </p:spPr>
        <p:txBody>
          <a:bodyPr wrap="square" lIns="0" tIns="0" rIns="0" bIns="0" rtlCol="0" anchor="ctr"/>
          <a:lstStyle/>
          <a:p>
            <a:pPr marL="0" indent="0" algn="ctr">
              <a:buNone/>
            </a:pPr>
            <a:r>
              <a:rPr lang="en-US" sz="2000" b="1" dirty="0">
                <a:solidFill>
                  <a:schemeClr val="tx1"/>
                </a:solidFill>
              </a:rPr>
              <a:t>1</a:t>
            </a:r>
            <a:endParaRPr lang="en-US" sz="2000" dirty="0"/>
          </a:p>
        </p:txBody>
      </p:sp>
      <p:sp>
        <p:nvSpPr>
          <p:cNvPr id="5" name="text-209"/>
          <p:cNvSpPr txBox="1"/>
          <p:nvPr/>
        </p:nvSpPr>
        <p:spPr>
          <a:xfrm>
            <a:off x="1188720" y="1143000"/>
            <a:ext cx="5029200" cy="731520"/>
          </a:xfrm>
          <a:prstGeom prst="rect">
            <a:avLst/>
          </a:prstGeom>
          <a:noFill/>
          <a:ln/>
        </p:spPr>
        <p:txBody>
          <a:bodyPr wrap="square" lIns="0" tIns="0" rIns="0" bIns="0" rtlCol="0" anchor="ctr"/>
          <a:lstStyle/>
          <a:p>
            <a:pPr marL="0" indent="0">
              <a:buNone/>
            </a:pPr>
            <a:r>
              <a:rPr lang="en-US" sz="1600" b="1" dirty="0">
                <a:solidFill>
                  <a:schemeClr val="accent2"/>
                </a:solidFill>
              </a:rPr>
              <a:t>Type: </a:t>
            </a:r>
            <a:r>
              <a:rPr lang="en-US" sz="1600" dirty="0">
                <a:solidFill>
                  <a:schemeClr val="bg1"/>
                </a:solidFill>
              </a:rPr>
              <a:t>multi-user, multiprogramming OS on a distributed cluster for 24×7 availability</a:t>
            </a:r>
            <a:endParaRPr lang="en-US" sz="1600" dirty="0"/>
          </a:p>
        </p:txBody>
      </p:sp>
      <p:sp>
        <p:nvSpPr>
          <p:cNvPr id="6" name="shape-210"/>
          <p:cNvSpPr/>
          <p:nvPr/>
        </p:nvSpPr>
        <p:spPr>
          <a:xfrm>
            <a:off x="457200" y="2148840"/>
            <a:ext cx="548640" cy="548640"/>
          </a:xfrm>
          <a:prstGeom prst="ellipse">
            <a:avLst/>
          </a:prstGeom>
          <a:solidFill>
            <a:schemeClr val="accent2"/>
          </a:solidFill>
          <a:ln/>
        </p:spPr>
      </p:sp>
      <p:sp>
        <p:nvSpPr>
          <p:cNvPr id="7" name="text-211"/>
          <p:cNvSpPr txBox="1"/>
          <p:nvPr/>
        </p:nvSpPr>
        <p:spPr>
          <a:xfrm>
            <a:off x="457200" y="2148840"/>
            <a:ext cx="548640" cy="548640"/>
          </a:xfrm>
          <a:prstGeom prst="rect">
            <a:avLst/>
          </a:prstGeom>
          <a:noFill/>
          <a:ln/>
        </p:spPr>
        <p:txBody>
          <a:bodyPr wrap="square" lIns="0" tIns="0" rIns="0" bIns="0" rtlCol="0" anchor="ctr"/>
          <a:lstStyle/>
          <a:p>
            <a:pPr marL="0" indent="0" algn="ctr">
              <a:buNone/>
            </a:pPr>
            <a:r>
              <a:rPr lang="en-US" sz="2000" b="1" dirty="0">
                <a:solidFill>
                  <a:schemeClr val="tx1"/>
                </a:solidFill>
              </a:rPr>
              <a:t>2</a:t>
            </a:r>
            <a:endParaRPr lang="en-US" sz="2000" dirty="0"/>
          </a:p>
        </p:txBody>
      </p:sp>
      <p:sp>
        <p:nvSpPr>
          <p:cNvPr id="8" name="text-212"/>
          <p:cNvSpPr txBox="1"/>
          <p:nvPr/>
        </p:nvSpPr>
        <p:spPr>
          <a:xfrm>
            <a:off x="1188720" y="2057400"/>
            <a:ext cx="5029200" cy="731520"/>
          </a:xfrm>
          <a:prstGeom prst="rect">
            <a:avLst/>
          </a:prstGeom>
          <a:noFill/>
          <a:ln/>
        </p:spPr>
        <p:txBody>
          <a:bodyPr wrap="square" lIns="0" tIns="0" rIns="0" bIns="0" rtlCol="0" anchor="ctr"/>
          <a:lstStyle/>
          <a:p>
            <a:pPr marL="0" indent="0">
              <a:buNone/>
            </a:pPr>
            <a:r>
              <a:rPr lang="en-US" sz="1600" b="1" dirty="0">
                <a:solidFill>
                  <a:schemeClr val="accent2"/>
                </a:solidFill>
              </a:rPr>
              <a:t>Structure: </a:t>
            </a:r>
            <a:r>
              <a:rPr lang="en-US" sz="1600" dirty="0">
                <a:solidFill>
                  <a:schemeClr val="bg1"/>
                </a:solidFill>
              </a:rPr>
              <a:t>hybrid kernel with layered modules for security and a fast core for speed</a:t>
            </a:r>
            <a:endParaRPr lang="en-US" sz="1600" dirty="0"/>
          </a:p>
        </p:txBody>
      </p:sp>
      <p:sp>
        <p:nvSpPr>
          <p:cNvPr id="9" name="shape-213"/>
          <p:cNvSpPr/>
          <p:nvPr/>
        </p:nvSpPr>
        <p:spPr>
          <a:xfrm>
            <a:off x="457200" y="3063240"/>
            <a:ext cx="548640" cy="548640"/>
          </a:xfrm>
          <a:prstGeom prst="ellipse">
            <a:avLst/>
          </a:prstGeom>
          <a:solidFill>
            <a:schemeClr val="accent2"/>
          </a:solidFill>
          <a:ln/>
        </p:spPr>
      </p:sp>
      <p:sp>
        <p:nvSpPr>
          <p:cNvPr id="10" name="text-214"/>
          <p:cNvSpPr txBox="1"/>
          <p:nvPr/>
        </p:nvSpPr>
        <p:spPr>
          <a:xfrm>
            <a:off x="457200" y="3063240"/>
            <a:ext cx="548640" cy="548640"/>
          </a:xfrm>
          <a:prstGeom prst="rect">
            <a:avLst/>
          </a:prstGeom>
          <a:noFill/>
          <a:ln/>
        </p:spPr>
        <p:txBody>
          <a:bodyPr wrap="square" lIns="0" tIns="0" rIns="0" bIns="0" rtlCol="0" anchor="ctr"/>
          <a:lstStyle/>
          <a:p>
            <a:pPr marL="0" indent="0" algn="ctr">
              <a:buNone/>
            </a:pPr>
            <a:r>
              <a:rPr lang="en-US" sz="2000" b="1" dirty="0">
                <a:solidFill>
                  <a:schemeClr val="tx1"/>
                </a:solidFill>
              </a:rPr>
              <a:t>3</a:t>
            </a:r>
            <a:endParaRPr lang="en-US" sz="2000" dirty="0"/>
          </a:p>
        </p:txBody>
      </p:sp>
      <p:sp>
        <p:nvSpPr>
          <p:cNvPr id="11" name="text-215"/>
          <p:cNvSpPr txBox="1"/>
          <p:nvPr/>
        </p:nvSpPr>
        <p:spPr>
          <a:xfrm>
            <a:off x="1188720" y="2971800"/>
            <a:ext cx="5029200" cy="731520"/>
          </a:xfrm>
          <a:prstGeom prst="rect">
            <a:avLst/>
          </a:prstGeom>
          <a:noFill/>
          <a:ln/>
        </p:spPr>
        <p:txBody>
          <a:bodyPr wrap="square" lIns="0" tIns="0" rIns="0" bIns="0" rtlCol="0" anchor="ctr"/>
          <a:lstStyle/>
          <a:p>
            <a:pPr marL="0" indent="0">
              <a:buNone/>
            </a:pPr>
            <a:r>
              <a:rPr lang="en-US" sz="1600" b="1" dirty="0">
                <a:solidFill>
                  <a:schemeClr val="accent2"/>
                </a:solidFill>
              </a:rPr>
              <a:t>System calls: </a:t>
            </a:r>
            <a:r>
              <a:rPr lang="en-US" sz="1600" dirty="0">
                <a:solidFill>
                  <a:schemeClr val="bg1"/>
                </a:solidFill>
              </a:rPr>
              <a:t>the controlled gateway that keeps every transaction safe and durable</a:t>
            </a:r>
            <a:endParaRPr lang="en-US" sz="1600" dirty="0"/>
          </a:p>
        </p:txBody>
      </p:sp>
      <p:sp>
        <p:nvSpPr>
          <p:cNvPr id="12" name="text-216"/>
          <p:cNvSpPr txBox="1"/>
          <p:nvPr/>
        </p:nvSpPr>
        <p:spPr>
          <a:xfrm>
            <a:off x="457200" y="3931920"/>
            <a:ext cx="5760720" cy="685800"/>
          </a:xfrm>
          <a:prstGeom prst="rect">
            <a:avLst/>
          </a:prstGeom>
          <a:noFill/>
          <a:ln/>
        </p:spPr>
        <p:txBody>
          <a:bodyPr wrap="square" lIns="0" tIns="0" rIns="0" bIns="0" rtlCol="0" anchor="ctr"/>
          <a:lstStyle/>
          <a:p>
            <a:pPr marL="0" indent="0">
              <a:buNone/>
            </a:pPr>
            <a:r>
              <a:rPr lang="en-US" sz="1500" i="1" dirty="0">
                <a:solidFill>
                  <a:schemeClr val="accent3"/>
                </a:solidFill>
              </a:rPr>
              <a:t>A well-chosen OS type, structure and system-call design lets a bank process thousands of transactions safely at the same time.</a:t>
            </a:r>
            <a:endParaRPr lang="en-US" sz="1500" dirty="0"/>
          </a:p>
        </p:txBody>
      </p:sp>
      <p:sp>
        <p:nvSpPr>
          <p:cNvPr id="13" name="shape-217"/>
          <p:cNvSpPr/>
          <p:nvPr/>
        </p:nvSpPr>
        <p:spPr>
          <a:xfrm>
            <a:off x="6492240" y="1371600"/>
            <a:ext cx="2103120" cy="2103120"/>
          </a:xfrm>
          <a:prstGeom prst="ellipse">
            <a:avLst/>
          </a:prstGeom>
          <a:solidFill>
            <a:schemeClr val="accent2"/>
          </a:solidFill>
          <a:ln/>
        </p:spPr>
      </p:sp>
      <p:sp>
        <p:nvSpPr>
          <p:cNvPr id="14" name="text-218"/>
          <p:cNvSpPr txBox="1"/>
          <p:nvPr/>
        </p:nvSpPr>
        <p:spPr>
          <a:xfrm>
            <a:off x="6492240" y="1371600"/>
            <a:ext cx="2103120" cy="2103120"/>
          </a:xfrm>
          <a:prstGeom prst="rect">
            <a:avLst/>
          </a:prstGeom>
          <a:noFill/>
          <a:ln/>
        </p:spPr>
        <p:txBody>
          <a:bodyPr wrap="square" lIns="0" tIns="0" rIns="0" bIns="0" rtlCol="0" anchor="ctr"/>
          <a:lstStyle/>
          <a:p>
            <a:pPr marL="0" indent="0" algn="ctr">
              <a:buNone/>
            </a:pPr>
            <a:r>
              <a:rPr lang="en-US" sz="4000" b="1" dirty="0">
                <a:solidFill>
                  <a:schemeClr val="tx1"/>
                </a:solidFill>
              </a:rPr>
              <a:t>Q&amp;A</a:t>
            </a:r>
            <a:endParaRPr lang="en-US" sz="4000" dirty="0"/>
          </a:p>
        </p:txBody>
      </p:sp>
      <p:sp>
        <p:nvSpPr>
          <p:cNvPr id="15" name="text-219"/>
          <p:cNvSpPr txBox="1"/>
          <p:nvPr/>
        </p:nvSpPr>
        <p:spPr>
          <a:xfrm>
            <a:off x="6492240" y="3657600"/>
            <a:ext cx="2103120" cy="457200"/>
          </a:xfrm>
          <a:prstGeom prst="rect">
            <a:avLst/>
          </a:prstGeom>
          <a:noFill/>
          <a:ln/>
        </p:spPr>
        <p:txBody>
          <a:bodyPr wrap="square" lIns="0" tIns="0" rIns="0" bIns="0" rtlCol="0" anchor="ctr"/>
          <a:lstStyle/>
          <a:p>
            <a:pPr marL="0" indent="0" algn="ctr">
              <a:buNone/>
            </a:pPr>
            <a:r>
              <a:rPr lang="en-US" sz="2000" dirty="0">
                <a:solidFill>
                  <a:schemeClr val="bg1"/>
                </a:solidFill>
              </a:rPr>
              <a:t>Thank you</a:t>
            </a:r>
            <a:endParaRPr lang="en-US" sz="2000" dirty="0"/>
          </a:p>
        </p:txBody>
      </p:sp>
      <p:sp>
        <p:nvSpPr>
          <p:cNvPr id="25" name="Slide Number Placeholder 0"/>
          <p:cNvSpPr>
            <a:spLocks noGrp="1"/>
          </p:cNvSpPr>
          <p:nvPr>
            <p:ph type="sldNum" sz="quarter" idx="4294967295"/>
          </p:nvPr>
        </p:nvSpPr>
        <p:spPr>
          <a:xfrm>
            <a:off x="8229600" y="4754880"/>
            <a:ext cx="457200" cy="274320"/>
          </a:xfrm>
          <a:prstGeom prst="rect">
            <a:avLst/>
          </a:prstGeom>
          <a:extLst>
            <a:ext uri="{C572A759-6A51-4108-AA02-DFA0A04FC94B}">
              <ma14:wrappingTextBoxFlag xmlns="" xmlns:ma14="http://schemas.microsoft.com/office/mac/drawingml/2011/main" val="0"/>
            </a:ext>
          </a:extLst>
        </p:spPr>
        <p:txBody>
          <a:bodyPr/>
          <a:lstStyle>
            <a:lvl1pPr>
              <a:defRPr sz="1000">
                <a:solidFill>
                  <a:schemeClr val="accent3"/>
                </a:solidFill>
              </a:defRPr>
            </a:lvl1pPr>
          </a:lstStyle>
          <a:p>
            <a:pPr algn="r"/>
            <a:fld id="{F7021451-1387-4CA6-816F-3879F97B5CBC}" type="slidenum">
              <a:rPr lang="en-US" b="0"/>
              <a:t>15</a:t>
            </a:fld>
            <a:endParaRPr lang="en-US"/>
          </a:p>
        </p:txBody>
      </p:sp>
    </p:spTree>
  </p:cSld>
  <p:clrMapOvr>
    <a:masterClrMapping/>
  </p:clrMapOvr>
</p:sld>
</file>

<file path=ppt/theme/theme1.xml><?xml version="1.0" encoding="utf-8"?>
<a:theme xmlns:a="http://schemas.openxmlformats.org/drawingml/2006/main" name="Secure Ledger">
  <a:themeElements>
    <a:clrScheme name="Secure Ledger">
      <a:dk1>
        <a:srgbClr val="10282C"/>
      </a:dk1>
      <a:lt1>
        <a:srgbClr val="FFFFFF"/>
      </a:lt1>
      <a:dk2>
        <a:srgbClr val="0F3D3E"/>
      </a:dk2>
      <a:lt2>
        <a:srgbClr val="EAF3F1"/>
      </a:lt2>
      <a:accent1>
        <a:srgbClr val="1B7F79"/>
      </a:accent1>
      <a:accent2>
        <a:srgbClr val="F2B134"/>
      </a:accent2>
      <a:accent3>
        <a:srgbClr val="7FB8B0"/>
      </a:accent3>
      <a:accent4>
        <a:srgbClr val="D9534F"/>
      </a:accent4>
      <a:accent5>
        <a:srgbClr val="5C7C80"/>
      </a:accent5>
      <a:accent6>
        <a:srgbClr val="A7BEAE"/>
      </a:accent6>
      <a:hlink>
        <a:srgbClr val="1B7F79"/>
      </a:hlink>
      <a:folHlink>
        <a:srgbClr val="5C7C80"/>
      </a:folHlink>
    </a:clrScheme>
    <a:fontScheme name="Secure Ledger">
      <a:majorFont>
        <a:latin typeface="Cambria"/>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56</TotalTime>
  <Words>2207</Words>
  <Application>Microsoft Office PowerPoint</Application>
  <PresentationFormat>On-screen Show (16:9)</PresentationFormat>
  <Paragraphs>245</Paragraphs>
  <Slides>15</Slides>
  <Notes>15</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15</vt:i4>
      </vt:variant>
    </vt:vector>
  </HeadingPairs>
  <TitlesOfParts>
    <vt:vector size="20" baseType="lpstr">
      <vt:lpstr>Arial</vt:lpstr>
      <vt:lpstr>Calibri</vt:lpstr>
      <vt:lpstr>Courier New</vt:lpstr>
      <vt:lpstr>Wingdings</vt:lpstr>
      <vt:lpstr>Secure Ledger</vt:lpstr>
      <vt:lpstr>Operating Systems in a Banking System</vt:lpstr>
      <vt:lpstr>Introduction</vt:lpstr>
      <vt:lpstr>Abstract</vt:lpstr>
      <vt:lpstr>The Banking Challenge</vt:lpstr>
      <vt:lpstr>What the OS Must Deliver</vt:lpstr>
      <vt:lpstr>OS Fundamentals</vt:lpstr>
      <vt:lpstr>Types of OS: Which Fits?</vt:lpstr>
      <vt:lpstr>OS Structures</vt:lpstr>
      <vt:lpstr>Choosing an OS Structure</vt:lpstr>
      <vt:lpstr>Recommended Architecture</vt:lpstr>
      <vt:lpstr>Theory: How a System Call Works</vt:lpstr>
      <vt:lpstr>System Calls at Work</vt:lpstr>
      <vt:lpstr>Anatomy of a Transfer</vt:lpstr>
      <vt:lpstr>Risks and OS Safeguards</vt:lpstr>
      <vt:lpstr>Conclusion</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Operating Systems in a Banking System</dc:title>
  <dc:subject>CSA04 Operating Systems - Assessment Tool 3 - Technical Presentation</dc:subject>
  <dc:creator>PptxGenJS</dc:creator>
  <cp:lastModifiedBy>Yuvan Shankar</cp:lastModifiedBy>
  <cp:revision>2</cp:revision>
  <dcterms:created xsi:type="dcterms:W3CDTF">2026-10-20T03:06:24Z</dcterms:created>
  <dcterms:modified xsi:type="dcterms:W3CDTF">2026-10-24T04:50:31Z</dcterms:modified>
</cp:coreProperties>
</file>